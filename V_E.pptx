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7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67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92517-9B11-19D9-DBD7-BE5F1FC2E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CC3DD5-32AD-7C32-DC71-A955A65A5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D0F205-A862-2FD3-0414-452818EBF2C2}"/>
              </a:ext>
            </a:extLst>
          </p:cNvPr>
          <p:cNvSpPr>
            <a:spLocks noGrp="1"/>
          </p:cNvSpPr>
          <p:nvPr>
            <p:ph type="body" idx="1"/>
          </p:nvPr>
        </p:nvSpPr>
        <p:spPr/>
        <p:txBody>
          <a:bodyPr/>
          <a:lstStyle/>
          <a:p>
            <a:r>
              <a:rPr lang="en-US" dirty="0"/>
              <a:t>Slide de couverture. Accueillez les participants, présentez-vous et donnez une vue d'ensemble de la formation : 2 modules, objectifs, durée prévue. Brisez la glace en demandant aux participants s'ils utilisent déjà des outils IA dans leur quotidien.</a:t>
            </a:r>
          </a:p>
        </p:txBody>
      </p:sp>
      <p:sp>
        <p:nvSpPr>
          <p:cNvPr id="4" name="Slide Number Placeholder 3">
            <a:extLst>
              <a:ext uri="{FF2B5EF4-FFF2-40B4-BE49-F238E27FC236}">
                <a16:creationId xmlns:a16="http://schemas.microsoft.com/office/drawing/2014/main" id="{EABA0A46-E8FE-D4FC-9DBD-49403FA3680D}"/>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96928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couverture. Accueillez les participants, présentez-vous et donnez une vue d'ensemble de la formation : 2 modules, objectifs, durée prévue. Brisez la glace en demandant aux participants s'ils utilisent déjà des outils IA dans leur quotidien.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Introduisez le Module 1. Expliquez que ce module couvre les fondamentaux de l'IA pour les professionnels non-techniques. Durée recommandée : 1h30 incluant les échanges et l'exercice pratique. Demandez aux participants leurs attentes pour ce module.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Lisez les objectifs avec les participants. Expliquez que d'ici la fin de ce module ils pourront expliquer l'IA simplement à leurs collègues et identifier des tâches automatisables dans leur quotidien. Revenir sur ces objectifs à la fin du module pour valider l'acquisition des connaissances.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Commencez par demander aux participants ce qu'ils pensent que l'IA signifie. Évitez le jargon technique. Insistez sur l'analogie du stagiaire intelligent pour dédramatiser. Précisez que l'IA n'est pas science-fiction : ils l'utilisent probablement déjà (GPS, recommandations Netflix, correcteur orthographique).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la différence pratique : l'automatisation suit des règles fixes, l'IA apprend et s'adapte. Donnez des exemples du quotidien de bureau. Les participants confondent souvent ces trois notions. Prenez 5 minutes pour des questions avant de passer à la suite.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 chaque type avec un exemple concret. Focus sur l'IA générative et les assistants intelligents qui sont les plus accessibles. Demandez aux participants s'ils ont déjà utilisé l'un de ces outils. Rassurez-les : ces outils ne nécessitent pas de connaissances techniques pour être utilisés.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chaque exemple, demandez si quelqu'un dans la salle effectue cette tâche manuellement aujourd'hui. Cela crée de l'engagement. Insistez sur les gains de temps concrets : une heure économisée par jour = 20 jours par an de travail récupéré. Préparez une démonstration live sur 1-2 exemples si possible.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chiffres sont issus de rapports McKinsey et Gartner. Précisez que ces gains varient selon le secteur. Insistez sur le fait que l'IA ne remplace pas les collaborateurs, elle les libère de tâches sans valeur. Posez la question : 'Qu'est-ce que vous feriez avec 1 heure de plus par jour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une slide importante pour instaurer une posture critique. Insistez sur la règle d'or : toujours relire et valider ce que l'IA produit. Abordez la question des données sensibles (RGPD). Demandez si votre entreprise a déjà une politique IA interne. Créez un espace de discussion sur les craintes des participants.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Distribuez une feuille ou demandez aux participants de noter sur leur téléphone/ordinateur. Laissez 5 minutes de réflexion individuelle, puis demandez à chacun de partager 1 tâche. Notez les réponses au tableau. Cela servira de base pour le Module 2. Questions guidantes : 'Quelle tâche vous prend le plus de temps ?' / 'Quelle tâche répétez-vous chaque semaine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Faites une synthèse avec les participants. Demandez : 'Qu'est-ce qui vous a le plus surpris ?' Montrez le lien avec le Module 2 qui va être plus pratique et opérationnel. Prévoyez une pause de 10 minutes avant de continuer. Rappelez les tâches identifiées lors de l'exercice : elles seront utilisées dans le Module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dans le Module 2, plus pratique et opérationnel. Annoncez que les participants vont travailler directement avec des outils IA. Rappelez les tâches identifiées dans l'exercice du Module 1 — ce module va leur permettre de commencer à les automatiser. Assurez-vous que tous ont accès à un appareil et à internet pour les exercices pratiques.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données sont basées sur des études McKinsey et Harvard Business Review. Demandez aux participants combien d'heures ils consacrent à ces tâches chaque semaine. Créez un sentiment d'urgence et d'opportunité : 'Imaginez récupérer 10h par semaine.' Cette slide sert de motivation pour tout le reste du module.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Expliquez ce processus en 5 étapes de manière concrète. Insistez sur l'étape 4 (relire et valider) : l'IA n'est pas infaillible. Montrez que l'humain reste au centre du processus. Rassurez ceux qui craignent de perdre leur emploi : vous devenez un superviseur de l'IA, pas un exécutant.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Ouvrez les outils en live si possible. Montrez les interfaces. Demandez aux participants lesquels ils connaissent déjà. Insistez sur ChatGPT et Copilot qui sont les plus polyvalents. Précisez les questions de coût : ChatGPT gratuit est suffisant pour démarrer. Abordez la politique de l'entreprise sur l'utilisation de ces outils.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Faites une démonstration live de la rédaction d'un email avec ChatGPT. Montrez comment le prompt influence le résultat. Demandez aux participants de suggérer un email à rédiger. Insistez sur l'importance du prompt : plus il est précis, meilleur est le résultat. Laissez 3 minutes pour qu'ils essaient eux-mêmes.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un exemple réel : prenez des données fictives (chiffres de vente d'un mois), collez-les dans ChatGPT avec ce prompt et montrez le résultat en direct. Insistez sur le gain de temps : un rapport de 2 pages généré en 30 secondes contre 2h manuellement. Précisez que les données confidentielles ne doivent pas être saisies dans des outils publics.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Montrez une démonstration de la Méthode 2 (notes brutes → CR) avec un exemple fictif de réunion. Si votre public utilise Microsoft 365, insistez sur Copilot dans Teams. Discutez de l'importance de valider les actions décidées dans le CR. Mentionnez que certains outils permettent même de définir des rappels automatiques pour le suivi des actions.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 le framework CRAFT comme une méthode simple et mémorisable. Montrez un exemple concret en construisant progressivement un prompt : commencez avec une version simple, puis enrichissez-le avec chaque élément CRAFT et montrez comment le résultat s'améliore. Distribuez une fiche mémo CRAFT aux participants si possible.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Présentez ces bonnes pratiques comme une charte d'utilisation. Proposez aux participants de créer leur propre charte d'utilisation de l'IA dans leur service. Insistez particulièrement sur la confidentialité des données (RGPD) et la nécessité de relecture. Si l'entreprise a une politique IA existante, rappelez-la ici.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atelier est le moment clé de la formation. Assurez-vous que tous les participants ont accès à un outil IA (ChatGPT minimum). Circulez dans la salle pour aider ceux qui bloquent. Pour la tâche 01, suggérez des cas concrets : email de relance client, convocation réunion, réponse à une demande. Pour la tâche 02, fournissez un jeu de données fictif si nécessaire. Terminez par un tour de table des apprentissages clés de toute la formation.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Faites un dernier tour de table : 'Quel est votre principal apprentissage aujourd'hui ?' et 'Quelle est la première tâche que vous allez automatiser demain ?' Distribuez les ressources sous forme de QR code ou lien si possible. Proposez un suivi à 30 jours pour voir comment les participants ont mis en pratique leurs apprentissages.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1.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B5A"/>
        </a:solidFill>
        <a:effectLst/>
      </p:bgPr>
    </p:bg>
    <p:spTree>
      <p:nvGrpSpPr>
        <p:cNvPr id="1" name="">
          <a:extLst>
            <a:ext uri="{FF2B5EF4-FFF2-40B4-BE49-F238E27FC236}">
              <a16:creationId xmlns:a16="http://schemas.microsoft.com/office/drawing/2014/main" id="{A3B0FEE4-11CD-D97C-A6F3-1AF4836815B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E620F30-49E5-6C38-B6FA-A2DBA48249F0}"/>
              </a:ext>
            </a:extLst>
          </p:cNvPr>
          <p:cNvSpPr/>
          <p:nvPr/>
        </p:nvSpPr>
        <p:spPr>
          <a:xfrm>
            <a:off x="0" y="0"/>
            <a:ext cx="164592" cy="5143500"/>
          </a:xfrm>
          <a:prstGeom prst="rect">
            <a:avLst/>
          </a:prstGeom>
          <a:solidFill>
            <a:srgbClr val="F47B20"/>
          </a:solidFill>
          <a:ln w="12700">
            <a:solidFill>
              <a:srgbClr val="F47B20"/>
            </a:solidFill>
            <a:prstDash val="solid"/>
          </a:ln>
        </p:spPr>
        <p:txBody>
          <a:bodyPr/>
          <a:lstStyle/>
          <a:p>
            <a:endParaRPr lang="fr-FR"/>
          </a:p>
        </p:txBody>
      </p:sp>
      <p:sp>
        <p:nvSpPr>
          <p:cNvPr id="3" name="Shape 1">
            <a:extLst>
              <a:ext uri="{FF2B5EF4-FFF2-40B4-BE49-F238E27FC236}">
                <a16:creationId xmlns:a16="http://schemas.microsoft.com/office/drawing/2014/main" id="{FAE8CCB6-4352-C8B6-FAA0-FAC4ADA6D58A}"/>
              </a:ext>
            </a:extLst>
          </p:cNvPr>
          <p:cNvSpPr/>
          <p:nvPr/>
        </p:nvSpPr>
        <p:spPr>
          <a:xfrm>
            <a:off x="5943600" y="0"/>
            <a:ext cx="3200400" cy="5143500"/>
          </a:xfrm>
          <a:prstGeom prst="rect">
            <a:avLst/>
          </a:prstGeom>
          <a:solidFill>
            <a:srgbClr val="1A4A8A"/>
          </a:solidFill>
          <a:ln w="12700">
            <a:solidFill>
              <a:srgbClr val="1A4A8A"/>
            </a:solidFill>
            <a:prstDash val="solid"/>
          </a:ln>
        </p:spPr>
        <p:txBody>
          <a:bodyPr/>
          <a:lstStyle/>
          <a:p>
            <a:endParaRPr lang="fr-FR"/>
          </a:p>
        </p:txBody>
      </p:sp>
      <p:sp>
        <p:nvSpPr>
          <p:cNvPr id="4" name="Shape 2">
            <a:extLst>
              <a:ext uri="{FF2B5EF4-FFF2-40B4-BE49-F238E27FC236}">
                <a16:creationId xmlns:a16="http://schemas.microsoft.com/office/drawing/2014/main" id="{F56CEEC3-78BB-DFA4-24A7-1B8832876AAA}"/>
              </a:ext>
            </a:extLst>
          </p:cNvPr>
          <p:cNvSpPr/>
          <p:nvPr/>
        </p:nvSpPr>
        <p:spPr>
          <a:xfrm>
            <a:off x="6217920" y="-731520"/>
            <a:ext cx="2560320" cy="2560320"/>
          </a:xfrm>
          <a:prstGeom prst="ellipse">
            <a:avLst/>
          </a:prstGeom>
          <a:solidFill>
            <a:srgbClr val="3B82D0">
              <a:alpha val="30000"/>
            </a:srgbClr>
          </a:solidFill>
          <a:ln w="12700">
            <a:solidFill>
              <a:srgbClr val="3B82D0">
                <a:alpha val="30000"/>
              </a:srgbClr>
            </a:solidFill>
            <a:prstDash val="solid"/>
          </a:ln>
        </p:spPr>
        <p:txBody>
          <a:bodyPr/>
          <a:lstStyle/>
          <a:p>
            <a:endParaRPr lang="fr-FR"/>
          </a:p>
        </p:txBody>
      </p:sp>
      <p:sp>
        <p:nvSpPr>
          <p:cNvPr id="5" name="Shape 3">
            <a:extLst>
              <a:ext uri="{FF2B5EF4-FFF2-40B4-BE49-F238E27FC236}">
                <a16:creationId xmlns:a16="http://schemas.microsoft.com/office/drawing/2014/main" id="{86F57AD1-AD81-F662-21A3-EA7CF55AF55F}"/>
              </a:ext>
            </a:extLst>
          </p:cNvPr>
          <p:cNvSpPr/>
          <p:nvPr/>
        </p:nvSpPr>
        <p:spPr>
          <a:xfrm>
            <a:off x="6858000" y="3200400"/>
            <a:ext cx="2011680" cy="2011680"/>
          </a:xfrm>
          <a:prstGeom prst="ellipse">
            <a:avLst/>
          </a:prstGeom>
          <a:solidFill>
            <a:srgbClr val="F47B20">
              <a:alpha val="20000"/>
            </a:srgbClr>
          </a:solidFill>
          <a:ln w="12700">
            <a:solidFill>
              <a:srgbClr val="F47B20">
                <a:alpha val="20000"/>
              </a:srgbClr>
            </a:solidFill>
            <a:prstDash val="solid"/>
          </a:ln>
        </p:spPr>
        <p:txBody>
          <a:bodyPr/>
          <a:lstStyle/>
          <a:p>
            <a:endParaRPr lang="fr-FR"/>
          </a:p>
        </p:txBody>
      </p:sp>
      <p:pic>
        <p:nvPicPr>
          <p:cNvPr id="6" name="Image 0" descr="preencoded.png">
            <a:extLst>
              <a:ext uri="{FF2B5EF4-FFF2-40B4-BE49-F238E27FC236}">
                <a16:creationId xmlns:a16="http://schemas.microsoft.com/office/drawing/2014/main" id="{0FA06F4A-3BBE-142D-D6A4-4833B2EF8A86}"/>
              </a:ext>
            </a:extLst>
          </p:cNvPr>
          <p:cNvPicPr>
            <a:picLocks noChangeAspect="1"/>
          </p:cNvPicPr>
          <p:nvPr/>
        </p:nvPicPr>
        <p:blipFill>
          <a:blip r:embed="rId3"/>
          <a:stretch>
            <a:fillRect/>
          </a:stretch>
        </p:blipFill>
        <p:spPr>
          <a:xfrm>
            <a:off x="6400800" y="1097280"/>
            <a:ext cx="2011680" cy="2011680"/>
          </a:xfrm>
          <a:prstGeom prst="rect">
            <a:avLst/>
          </a:prstGeom>
        </p:spPr>
      </p:pic>
      <p:sp>
        <p:nvSpPr>
          <p:cNvPr id="7" name="Text 4">
            <a:extLst>
              <a:ext uri="{FF2B5EF4-FFF2-40B4-BE49-F238E27FC236}">
                <a16:creationId xmlns:a16="http://schemas.microsoft.com/office/drawing/2014/main" id="{C2CB2BD4-687B-D292-957B-09C86D2C4CA8}"/>
              </a:ext>
            </a:extLst>
          </p:cNvPr>
          <p:cNvSpPr/>
          <p:nvPr/>
        </p:nvSpPr>
        <p:spPr>
          <a:xfrm>
            <a:off x="365760" y="640080"/>
            <a:ext cx="5303520" cy="365760"/>
          </a:xfrm>
          <a:prstGeom prst="rect">
            <a:avLst/>
          </a:prstGeom>
          <a:noFill/>
          <a:ln/>
        </p:spPr>
        <p:txBody>
          <a:bodyPr wrap="square" rtlCol="0" anchor="ctr"/>
          <a:lstStyle/>
          <a:p>
            <a:pPr marL="0" indent="0" algn="l">
              <a:buNone/>
            </a:pPr>
            <a:r>
              <a:rPr lang="en-US" sz="1000" b="1" kern="0" spc="300" dirty="0">
                <a:solidFill>
                  <a:srgbClr val="F47B20"/>
                </a:solidFill>
                <a:latin typeface="Calibri" pitchFamily="34" charset="0"/>
                <a:ea typeface="Calibri" pitchFamily="34" charset="-122"/>
                <a:cs typeface="Calibri" pitchFamily="34" charset="-120"/>
              </a:rPr>
              <a:t>FORMATION PROFESSIONNELLE</a:t>
            </a:r>
            <a:endParaRPr lang="en-US" sz="1000" dirty="0"/>
          </a:p>
        </p:txBody>
      </p:sp>
      <p:sp>
        <p:nvSpPr>
          <p:cNvPr id="8" name="Text 5">
            <a:extLst>
              <a:ext uri="{FF2B5EF4-FFF2-40B4-BE49-F238E27FC236}">
                <a16:creationId xmlns:a16="http://schemas.microsoft.com/office/drawing/2014/main" id="{93E9F0E7-CF4E-514C-8205-BF289188DEFD}"/>
              </a:ext>
            </a:extLst>
          </p:cNvPr>
          <p:cNvSpPr/>
          <p:nvPr/>
        </p:nvSpPr>
        <p:spPr>
          <a:xfrm>
            <a:off x="365760" y="1097280"/>
            <a:ext cx="5394960" cy="1828800"/>
          </a:xfrm>
          <a:prstGeom prst="rect">
            <a:avLst/>
          </a:prstGeom>
          <a:noFill/>
          <a:ln/>
        </p:spPr>
        <p:txBody>
          <a:bodyPr wrap="square" rtlCol="0" anchor="t"/>
          <a:lstStyle/>
          <a:p>
            <a:pPr marL="0" indent="0" algn="l">
              <a:buNone/>
            </a:pPr>
            <a:r>
              <a:rPr lang="en-US" sz="3000" b="1" dirty="0">
                <a:solidFill>
                  <a:srgbClr val="FFFFFF"/>
                </a:solidFill>
                <a:latin typeface="Calibri" pitchFamily="34" charset="0"/>
                <a:ea typeface="Calibri" pitchFamily="34" charset="-122"/>
                <a:cs typeface="Calibri" pitchFamily="34" charset="-120"/>
              </a:rPr>
              <a:t>Automatisation des tâches</a:t>
            </a:r>
            <a:endParaRPr lang="en-US" sz="3000" dirty="0"/>
          </a:p>
          <a:p>
            <a:pPr marL="0" indent="0" algn="l">
              <a:buNone/>
            </a:pPr>
            <a:r>
              <a:rPr lang="en-US" sz="3000" b="1" dirty="0">
                <a:solidFill>
                  <a:srgbClr val="FFFFFF"/>
                </a:solidFill>
                <a:latin typeface="Calibri" pitchFamily="34" charset="0"/>
                <a:ea typeface="Calibri" pitchFamily="34" charset="-122"/>
                <a:cs typeface="Calibri" pitchFamily="34" charset="-120"/>
              </a:rPr>
              <a:t>administratives avec l'IA</a:t>
            </a:r>
            <a:endParaRPr lang="en-US" sz="3000" dirty="0"/>
          </a:p>
        </p:txBody>
      </p:sp>
      <p:sp>
        <p:nvSpPr>
          <p:cNvPr id="9" name="Text 6">
            <a:extLst>
              <a:ext uri="{FF2B5EF4-FFF2-40B4-BE49-F238E27FC236}">
                <a16:creationId xmlns:a16="http://schemas.microsoft.com/office/drawing/2014/main" id="{1DA3383B-4321-85BC-85A1-55EB2E8E073E}"/>
              </a:ext>
            </a:extLst>
          </p:cNvPr>
          <p:cNvSpPr/>
          <p:nvPr/>
        </p:nvSpPr>
        <p:spPr>
          <a:xfrm>
            <a:off x="365760" y="3017520"/>
            <a:ext cx="5212080" cy="777240"/>
          </a:xfrm>
          <a:prstGeom prst="rect">
            <a:avLst/>
          </a:prstGeom>
          <a:noFill/>
          <a:ln/>
        </p:spPr>
        <p:txBody>
          <a:bodyPr wrap="square" rtlCol="0" anchor="ctr"/>
          <a:lstStyle/>
          <a:p>
            <a:pPr marL="0" indent="0" algn="l">
              <a:buNone/>
            </a:pPr>
            <a:r>
              <a:rPr lang="en-US" sz="1400" i="1" dirty="0">
                <a:solidFill>
                  <a:srgbClr val="B0C4DE"/>
                </a:solidFill>
                <a:latin typeface="Calibri" pitchFamily="34" charset="0"/>
                <a:ea typeface="Calibri" pitchFamily="34" charset="-122"/>
                <a:cs typeface="Calibri" pitchFamily="34" charset="-120"/>
              </a:rPr>
              <a:t>Comprendre, utiliser et maîtriser l'IA</a:t>
            </a:r>
            <a:endParaRPr lang="en-US" sz="1400" dirty="0"/>
          </a:p>
          <a:p>
            <a:pPr marL="0" indent="0" algn="l">
              <a:buNone/>
            </a:pPr>
            <a:r>
              <a:rPr lang="en-US" sz="1400" i="1" dirty="0">
                <a:solidFill>
                  <a:srgbClr val="B0C4DE"/>
                </a:solidFill>
                <a:latin typeface="Calibri" pitchFamily="34" charset="0"/>
                <a:ea typeface="Calibri" pitchFamily="34" charset="-122"/>
                <a:cs typeface="Calibri" pitchFamily="34" charset="-120"/>
              </a:rPr>
              <a:t>pour gagner en productivité</a:t>
            </a:r>
            <a:endParaRPr lang="en-US" sz="1400" dirty="0"/>
          </a:p>
        </p:txBody>
      </p:sp>
      <p:sp>
        <p:nvSpPr>
          <p:cNvPr id="10" name="Shape 7">
            <a:extLst>
              <a:ext uri="{FF2B5EF4-FFF2-40B4-BE49-F238E27FC236}">
                <a16:creationId xmlns:a16="http://schemas.microsoft.com/office/drawing/2014/main" id="{9B5C04EF-EECC-F96A-0F88-67777167BA3C}"/>
              </a:ext>
            </a:extLst>
          </p:cNvPr>
          <p:cNvSpPr/>
          <p:nvPr/>
        </p:nvSpPr>
        <p:spPr>
          <a:xfrm>
            <a:off x="365760" y="4023360"/>
            <a:ext cx="1261872" cy="320040"/>
          </a:xfrm>
          <a:prstGeom prst="roundRect">
            <a:avLst>
              <a:gd name="adj" fmla="val 17143"/>
            </a:avLst>
          </a:prstGeom>
          <a:solidFill>
            <a:srgbClr val="F47B20">
              <a:alpha val="80000"/>
            </a:srgbClr>
          </a:solidFill>
          <a:ln w="12700">
            <a:solidFill>
              <a:srgbClr val="F47B20"/>
            </a:solidFill>
            <a:prstDash val="solid"/>
          </a:ln>
        </p:spPr>
        <p:txBody>
          <a:bodyPr/>
          <a:lstStyle/>
          <a:p>
            <a:endParaRPr lang="fr-FR"/>
          </a:p>
        </p:txBody>
      </p:sp>
      <p:sp>
        <p:nvSpPr>
          <p:cNvPr id="11" name="Text 8">
            <a:extLst>
              <a:ext uri="{FF2B5EF4-FFF2-40B4-BE49-F238E27FC236}">
                <a16:creationId xmlns:a16="http://schemas.microsoft.com/office/drawing/2014/main" id="{9F681901-4164-D7F0-9762-74D18B1A340C}"/>
              </a:ext>
            </a:extLst>
          </p:cNvPr>
          <p:cNvSpPr/>
          <p:nvPr/>
        </p:nvSpPr>
        <p:spPr>
          <a:xfrm>
            <a:off x="365760" y="4023360"/>
            <a:ext cx="1261872"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Assistants Admin.</a:t>
            </a:r>
            <a:endParaRPr lang="en-US" sz="950" dirty="0"/>
          </a:p>
        </p:txBody>
      </p:sp>
      <p:sp>
        <p:nvSpPr>
          <p:cNvPr id="12" name="Shape 9">
            <a:extLst>
              <a:ext uri="{FF2B5EF4-FFF2-40B4-BE49-F238E27FC236}">
                <a16:creationId xmlns:a16="http://schemas.microsoft.com/office/drawing/2014/main" id="{8A9309EA-0A67-AB27-ABDA-488B1674D186}"/>
              </a:ext>
            </a:extLst>
          </p:cNvPr>
          <p:cNvSpPr/>
          <p:nvPr/>
        </p:nvSpPr>
        <p:spPr>
          <a:xfrm>
            <a:off x="1719072" y="4023360"/>
            <a:ext cx="1261872" cy="320040"/>
          </a:xfrm>
          <a:prstGeom prst="roundRect">
            <a:avLst>
              <a:gd name="adj" fmla="val 17143"/>
            </a:avLst>
          </a:prstGeom>
          <a:solidFill>
            <a:srgbClr val="F47B20">
              <a:alpha val="80000"/>
            </a:srgbClr>
          </a:solidFill>
          <a:ln w="12700">
            <a:solidFill>
              <a:srgbClr val="F47B20"/>
            </a:solidFill>
            <a:prstDash val="solid"/>
          </a:ln>
        </p:spPr>
        <p:txBody>
          <a:bodyPr/>
          <a:lstStyle/>
          <a:p>
            <a:endParaRPr lang="fr-FR"/>
          </a:p>
        </p:txBody>
      </p:sp>
      <p:sp>
        <p:nvSpPr>
          <p:cNvPr id="13" name="Text 10">
            <a:extLst>
              <a:ext uri="{FF2B5EF4-FFF2-40B4-BE49-F238E27FC236}">
                <a16:creationId xmlns:a16="http://schemas.microsoft.com/office/drawing/2014/main" id="{01CEA19C-5239-4CC5-0589-8609B2A641DE}"/>
              </a:ext>
            </a:extLst>
          </p:cNvPr>
          <p:cNvSpPr/>
          <p:nvPr/>
        </p:nvSpPr>
        <p:spPr>
          <a:xfrm>
            <a:off x="1719072" y="4023360"/>
            <a:ext cx="1261872"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Entrepreneurs</a:t>
            </a:r>
            <a:endParaRPr lang="en-US" sz="950" dirty="0"/>
          </a:p>
        </p:txBody>
      </p:sp>
      <p:sp>
        <p:nvSpPr>
          <p:cNvPr id="14" name="Shape 11">
            <a:extLst>
              <a:ext uri="{FF2B5EF4-FFF2-40B4-BE49-F238E27FC236}">
                <a16:creationId xmlns:a16="http://schemas.microsoft.com/office/drawing/2014/main" id="{37298F62-32B6-8126-EE0C-D24642E34D1A}"/>
              </a:ext>
            </a:extLst>
          </p:cNvPr>
          <p:cNvSpPr/>
          <p:nvPr/>
        </p:nvSpPr>
        <p:spPr>
          <a:xfrm>
            <a:off x="3072384" y="4023360"/>
            <a:ext cx="1261872" cy="320040"/>
          </a:xfrm>
          <a:prstGeom prst="roundRect">
            <a:avLst>
              <a:gd name="adj" fmla="val 17143"/>
            </a:avLst>
          </a:prstGeom>
          <a:solidFill>
            <a:srgbClr val="F47B20">
              <a:alpha val="80000"/>
            </a:srgbClr>
          </a:solidFill>
          <a:ln w="12700">
            <a:solidFill>
              <a:srgbClr val="F47B20"/>
            </a:solidFill>
            <a:prstDash val="solid"/>
          </a:ln>
        </p:spPr>
        <p:txBody>
          <a:bodyPr/>
          <a:lstStyle/>
          <a:p>
            <a:endParaRPr lang="fr-FR"/>
          </a:p>
        </p:txBody>
      </p:sp>
      <p:sp>
        <p:nvSpPr>
          <p:cNvPr id="15" name="Text 12">
            <a:extLst>
              <a:ext uri="{FF2B5EF4-FFF2-40B4-BE49-F238E27FC236}">
                <a16:creationId xmlns:a16="http://schemas.microsoft.com/office/drawing/2014/main" id="{D3183A9B-E215-B3E7-D1C8-CD2CD02A5D53}"/>
              </a:ext>
            </a:extLst>
          </p:cNvPr>
          <p:cNvSpPr/>
          <p:nvPr/>
        </p:nvSpPr>
        <p:spPr>
          <a:xfrm>
            <a:off x="3072384" y="4023360"/>
            <a:ext cx="1261872"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Managers</a:t>
            </a:r>
            <a:endParaRPr lang="en-US" sz="950" dirty="0"/>
          </a:p>
        </p:txBody>
      </p:sp>
      <p:sp>
        <p:nvSpPr>
          <p:cNvPr id="16" name="Shape 13">
            <a:extLst>
              <a:ext uri="{FF2B5EF4-FFF2-40B4-BE49-F238E27FC236}">
                <a16:creationId xmlns:a16="http://schemas.microsoft.com/office/drawing/2014/main" id="{5A3EC3D0-DF2E-100F-1FD4-F2698761BC32}"/>
              </a:ext>
            </a:extLst>
          </p:cNvPr>
          <p:cNvSpPr/>
          <p:nvPr/>
        </p:nvSpPr>
        <p:spPr>
          <a:xfrm>
            <a:off x="4425696" y="4023360"/>
            <a:ext cx="1261872" cy="320040"/>
          </a:xfrm>
          <a:prstGeom prst="roundRect">
            <a:avLst>
              <a:gd name="adj" fmla="val 17143"/>
            </a:avLst>
          </a:prstGeom>
          <a:solidFill>
            <a:srgbClr val="F47B20">
              <a:alpha val="80000"/>
            </a:srgbClr>
          </a:solidFill>
          <a:ln w="12700">
            <a:solidFill>
              <a:srgbClr val="F47B20"/>
            </a:solidFill>
            <a:prstDash val="solid"/>
          </a:ln>
        </p:spPr>
        <p:txBody>
          <a:bodyPr/>
          <a:lstStyle/>
          <a:p>
            <a:endParaRPr lang="fr-FR"/>
          </a:p>
        </p:txBody>
      </p:sp>
      <p:sp>
        <p:nvSpPr>
          <p:cNvPr id="17" name="Text 14">
            <a:extLst>
              <a:ext uri="{FF2B5EF4-FFF2-40B4-BE49-F238E27FC236}">
                <a16:creationId xmlns:a16="http://schemas.microsoft.com/office/drawing/2014/main" id="{3627F432-B8FD-05B6-C41A-54417326039E}"/>
              </a:ext>
            </a:extLst>
          </p:cNvPr>
          <p:cNvSpPr/>
          <p:nvPr/>
        </p:nvSpPr>
        <p:spPr>
          <a:xfrm>
            <a:off x="4425696" y="4023360"/>
            <a:ext cx="1261872" cy="32004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PME</a:t>
            </a:r>
            <a:endParaRPr lang="en-US" sz="950" dirty="0"/>
          </a:p>
        </p:txBody>
      </p:sp>
      <p:sp>
        <p:nvSpPr>
          <p:cNvPr id="18" name="Shape 15">
            <a:extLst>
              <a:ext uri="{FF2B5EF4-FFF2-40B4-BE49-F238E27FC236}">
                <a16:creationId xmlns:a16="http://schemas.microsoft.com/office/drawing/2014/main" id="{532A7765-BCA6-D670-9350-C35BE8C529D4}"/>
              </a:ext>
            </a:extLst>
          </p:cNvPr>
          <p:cNvSpPr/>
          <p:nvPr/>
        </p:nvSpPr>
        <p:spPr>
          <a:xfrm>
            <a:off x="0" y="4846320"/>
            <a:ext cx="9144000" cy="297180"/>
          </a:xfrm>
          <a:prstGeom prst="rect">
            <a:avLst/>
          </a:prstGeom>
          <a:solidFill>
            <a:srgbClr val="061530"/>
          </a:solidFill>
          <a:ln w="12700">
            <a:solidFill>
              <a:srgbClr val="061530"/>
            </a:solidFill>
            <a:prstDash val="solid"/>
          </a:ln>
        </p:spPr>
        <p:txBody>
          <a:bodyPr/>
          <a:lstStyle/>
          <a:p>
            <a:endParaRPr lang="fr-FR"/>
          </a:p>
        </p:txBody>
      </p:sp>
      <p:sp>
        <p:nvSpPr>
          <p:cNvPr id="19" name="Text 16">
            <a:extLst>
              <a:ext uri="{FF2B5EF4-FFF2-40B4-BE49-F238E27FC236}">
                <a16:creationId xmlns:a16="http://schemas.microsoft.com/office/drawing/2014/main" id="{D3CAF4C7-BCB0-BF81-4BD9-F451273B4E6C}"/>
              </a:ext>
            </a:extLst>
          </p:cNvPr>
          <p:cNvSpPr/>
          <p:nvPr/>
        </p:nvSpPr>
        <p:spPr>
          <a:xfrm>
            <a:off x="365760" y="4846320"/>
            <a:ext cx="8229600" cy="297180"/>
          </a:xfrm>
          <a:prstGeom prst="rect">
            <a:avLst/>
          </a:prstGeom>
          <a:noFill/>
          <a:ln/>
        </p:spPr>
        <p:txBody>
          <a:bodyPr wrap="square" rtlCol="0" anchor="ctr"/>
          <a:lstStyle/>
          <a:p>
            <a:pPr marL="0" indent="0" algn="l">
              <a:buNone/>
            </a:pPr>
            <a:r>
              <a:rPr lang="en-US" sz="1000" dirty="0">
                <a:solidFill>
                  <a:srgbClr val="7FA8D8"/>
                </a:solidFill>
                <a:latin typeface="Calibri" pitchFamily="34" charset="0"/>
                <a:ea typeface="Calibri" pitchFamily="34" charset="-122"/>
                <a:cs typeface="Calibri" pitchFamily="34" charset="-120"/>
              </a:rPr>
              <a:t>Silvère GOUGOU</a:t>
            </a:r>
            <a:endParaRPr lang="en-US" sz="1000" dirty="0"/>
          </a:p>
        </p:txBody>
      </p:sp>
    </p:spTree>
    <p:extLst>
      <p:ext uri="{BB962C8B-B14F-4D97-AF65-F5344CB8AC3E}">
        <p14:creationId xmlns:p14="http://schemas.microsoft.com/office/powerpoint/2010/main" val="25854062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D2B5A"/>
        </a:solidFill>
        <a:effectLst/>
      </p:bgPr>
    </p:bg>
    <p:spTree>
      <p:nvGrpSpPr>
        <p:cNvPr id="1" name=""/>
        <p:cNvGrpSpPr/>
        <p:nvPr/>
      </p:nvGrpSpPr>
      <p:grpSpPr>
        <a:xfrm>
          <a:off x="0" y="0"/>
          <a:ext cx="0" cy="0"/>
          <a:chOff x="0" y="0"/>
          <a:chExt cx="0" cy="0"/>
        </a:xfrm>
      </p:grpSpPr>
      <p:sp>
        <p:nvSpPr>
          <p:cNvPr id="20" name="Shape 0">
            <a:extLst>
              <a:ext uri="{FF2B5EF4-FFF2-40B4-BE49-F238E27FC236}">
                <a16:creationId xmlns:a16="http://schemas.microsoft.com/office/drawing/2014/main" id="{FD5B18DB-EFEA-E2F3-4B85-1C4EFD5BD6DC}"/>
              </a:ext>
            </a:extLst>
          </p:cNvPr>
          <p:cNvSpPr/>
          <p:nvPr/>
        </p:nvSpPr>
        <p:spPr>
          <a:xfrm>
            <a:off x="0" y="0"/>
            <a:ext cx="9144000" cy="685800"/>
          </a:xfrm>
          <a:prstGeom prst="rect">
            <a:avLst/>
          </a:prstGeom>
          <a:solidFill>
            <a:srgbClr val="0A1940"/>
          </a:solidFill>
          <a:ln w="12700">
            <a:solidFill>
              <a:srgbClr val="0A1940"/>
            </a:solidFill>
            <a:prstDash val="solid"/>
          </a:ln>
        </p:spPr>
        <p:txBody>
          <a:bodyPr/>
          <a:lstStyle/>
          <a:p>
            <a:endParaRPr lang="fr-FR"/>
          </a:p>
        </p:txBody>
      </p:sp>
      <p:sp>
        <p:nvSpPr>
          <p:cNvPr id="21" name="Shape 1">
            <a:extLst>
              <a:ext uri="{FF2B5EF4-FFF2-40B4-BE49-F238E27FC236}">
                <a16:creationId xmlns:a16="http://schemas.microsoft.com/office/drawing/2014/main" id="{51189641-DA2C-1B2B-4144-69D3CBF5EE48}"/>
              </a:ext>
            </a:extLst>
          </p:cNvPr>
          <p:cNvSpPr/>
          <p:nvPr/>
        </p:nvSpPr>
        <p:spPr>
          <a:xfrm>
            <a:off x="0" y="0"/>
            <a:ext cx="9144000" cy="54864"/>
          </a:xfrm>
          <a:prstGeom prst="rect">
            <a:avLst/>
          </a:prstGeom>
          <a:solidFill>
            <a:srgbClr val="3B82F6"/>
          </a:solidFill>
          <a:ln w="12700">
            <a:solidFill>
              <a:srgbClr val="3B82F6"/>
            </a:solidFill>
            <a:prstDash val="solid"/>
          </a:ln>
        </p:spPr>
        <p:txBody>
          <a:bodyPr/>
          <a:lstStyle/>
          <a:p>
            <a:endParaRPr lang="fr-FR"/>
          </a:p>
        </p:txBody>
      </p:sp>
      <p:sp>
        <p:nvSpPr>
          <p:cNvPr id="22" name="Text 2">
            <a:extLst>
              <a:ext uri="{FF2B5EF4-FFF2-40B4-BE49-F238E27FC236}">
                <a16:creationId xmlns:a16="http://schemas.microsoft.com/office/drawing/2014/main" id="{DD8CC6F8-094F-135E-4FEF-F16D9DB5ADDB}"/>
              </a:ext>
            </a:extLst>
          </p:cNvPr>
          <p:cNvSpPr/>
          <p:nvPr/>
        </p:nvSpPr>
        <p:spPr>
          <a:xfrm>
            <a:off x="365760" y="82296"/>
            <a:ext cx="5943600" cy="320040"/>
          </a:xfrm>
          <a:prstGeom prst="rect">
            <a:avLst/>
          </a:prstGeom>
          <a:noFill/>
          <a:ln/>
        </p:spPr>
        <p:txBody>
          <a:bodyPr wrap="square" lIns="0" tIns="0" rIns="0" bIns="0" rtlCol="0" anchor="ctr"/>
          <a:lstStyle/>
          <a:p>
            <a:pPr marL="0" indent="0" algn="l">
              <a:buNone/>
            </a:pPr>
            <a:r>
              <a:rPr lang="en-US" sz="1800" b="1" kern="0" spc="300" dirty="0">
                <a:solidFill>
                  <a:srgbClr val="FFFFFF"/>
                </a:solidFill>
                <a:latin typeface="Calibri" pitchFamily="34" charset="0"/>
                <a:ea typeface="Calibri" pitchFamily="34" charset="-122"/>
                <a:cs typeface="Calibri" pitchFamily="34" charset="-120"/>
              </a:rPr>
              <a:t>PLAN DE LA FORMATION</a:t>
            </a:r>
            <a:endParaRPr lang="en-US" sz="1800" dirty="0"/>
          </a:p>
        </p:txBody>
      </p:sp>
      <p:sp>
        <p:nvSpPr>
          <p:cNvPr id="23" name="Text 3">
            <a:extLst>
              <a:ext uri="{FF2B5EF4-FFF2-40B4-BE49-F238E27FC236}">
                <a16:creationId xmlns:a16="http://schemas.microsoft.com/office/drawing/2014/main" id="{B146F373-EF3E-42B0-66BC-487D5223AE77}"/>
              </a:ext>
            </a:extLst>
          </p:cNvPr>
          <p:cNvSpPr/>
          <p:nvPr/>
        </p:nvSpPr>
        <p:spPr>
          <a:xfrm>
            <a:off x="365760" y="384048"/>
            <a:ext cx="7315200" cy="228600"/>
          </a:xfrm>
          <a:prstGeom prst="rect">
            <a:avLst/>
          </a:prstGeom>
          <a:noFill/>
          <a:ln/>
        </p:spPr>
        <p:txBody>
          <a:bodyPr wrap="square" lIns="0" tIns="0" rIns="0" bIns="0" rtlCol="0" anchor="ctr"/>
          <a:lstStyle/>
          <a:p>
            <a:pPr marL="0" indent="0" algn="l">
              <a:buNone/>
            </a:pPr>
            <a:r>
              <a:rPr lang="en-US" sz="1200" b="1" kern="0" spc="150" dirty="0">
                <a:solidFill>
                  <a:srgbClr val="BAD6F9"/>
                </a:solidFill>
                <a:latin typeface="Calibri" pitchFamily="34" charset="0"/>
                <a:ea typeface="Calibri" pitchFamily="34" charset="-122"/>
                <a:cs typeface="Calibri" pitchFamily="34" charset="-120"/>
              </a:rPr>
              <a:t>AUTOMATISATION DES TÂCHES ADMINISTRATIVES</a:t>
            </a:r>
            <a:endParaRPr lang="en-US" sz="1200" b="1" dirty="0"/>
          </a:p>
        </p:txBody>
      </p:sp>
      <p:sp>
        <p:nvSpPr>
          <p:cNvPr id="24" name="Shape 4">
            <a:extLst>
              <a:ext uri="{FF2B5EF4-FFF2-40B4-BE49-F238E27FC236}">
                <a16:creationId xmlns:a16="http://schemas.microsoft.com/office/drawing/2014/main" id="{49B20C8E-D28B-8264-D4E8-7821413DD878}"/>
              </a:ext>
            </a:extLst>
          </p:cNvPr>
          <p:cNvSpPr/>
          <p:nvPr/>
        </p:nvSpPr>
        <p:spPr>
          <a:xfrm>
            <a:off x="7635240" y="128016"/>
            <a:ext cx="1234440" cy="384048"/>
          </a:xfrm>
          <a:prstGeom prst="roundRect">
            <a:avLst>
              <a:gd name="adj" fmla="val 14286"/>
            </a:avLst>
          </a:prstGeom>
          <a:solidFill>
            <a:srgbClr val="3B82F6"/>
          </a:solidFill>
          <a:ln w="12700">
            <a:solidFill>
              <a:srgbClr val="3B82F6"/>
            </a:solidFill>
            <a:prstDash val="solid"/>
          </a:ln>
        </p:spPr>
        <p:txBody>
          <a:bodyPr/>
          <a:lstStyle/>
          <a:p>
            <a:endParaRPr lang="fr-FR"/>
          </a:p>
        </p:txBody>
      </p:sp>
      <p:sp>
        <p:nvSpPr>
          <p:cNvPr id="25" name="Text 5">
            <a:extLst>
              <a:ext uri="{FF2B5EF4-FFF2-40B4-BE49-F238E27FC236}">
                <a16:creationId xmlns:a16="http://schemas.microsoft.com/office/drawing/2014/main" id="{A45A7AAA-1CEC-5DA2-493C-92C9FC5FB76B}"/>
              </a:ext>
            </a:extLst>
          </p:cNvPr>
          <p:cNvSpPr/>
          <p:nvPr/>
        </p:nvSpPr>
        <p:spPr>
          <a:xfrm>
            <a:off x="7635240" y="128016"/>
            <a:ext cx="123444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 JOURS</a:t>
            </a:r>
            <a:endParaRPr lang="en-US" sz="950" dirty="0"/>
          </a:p>
        </p:txBody>
      </p:sp>
      <p:sp>
        <p:nvSpPr>
          <p:cNvPr id="26" name="Shape 6">
            <a:extLst>
              <a:ext uri="{FF2B5EF4-FFF2-40B4-BE49-F238E27FC236}">
                <a16:creationId xmlns:a16="http://schemas.microsoft.com/office/drawing/2014/main" id="{B7F5545A-EB9A-D963-94E8-42B7BB37D0B7}"/>
              </a:ext>
            </a:extLst>
          </p:cNvPr>
          <p:cNvSpPr/>
          <p:nvPr/>
        </p:nvSpPr>
        <p:spPr>
          <a:xfrm>
            <a:off x="118872" y="749808"/>
            <a:ext cx="2697480" cy="3950208"/>
          </a:xfrm>
          <a:prstGeom prst="rect">
            <a:avLst/>
          </a:prstGeom>
          <a:solidFill>
            <a:srgbClr val="102358"/>
          </a:solidFill>
          <a:ln w="6350">
            <a:solidFill>
              <a:srgbClr val="1E3A7A"/>
            </a:solidFill>
            <a:prstDash val="solid"/>
          </a:ln>
          <a:effectLst>
            <a:outerShdw blurRad="101600" dist="38100" dir="8100000" algn="bl" rotWithShape="0">
              <a:srgbClr val="000000">
                <a:alpha val="35000"/>
              </a:srgbClr>
            </a:outerShdw>
          </a:effectLst>
        </p:spPr>
        <p:txBody>
          <a:bodyPr/>
          <a:lstStyle/>
          <a:p>
            <a:endParaRPr lang="fr-FR"/>
          </a:p>
        </p:txBody>
      </p:sp>
      <p:sp>
        <p:nvSpPr>
          <p:cNvPr id="27" name="Shape 7">
            <a:extLst>
              <a:ext uri="{FF2B5EF4-FFF2-40B4-BE49-F238E27FC236}">
                <a16:creationId xmlns:a16="http://schemas.microsoft.com/office/drawing/2014/main" id="{F5BD1587-06B6-ED37-507D-5A264710BBDF}"/>
              </a:ext>
            </a:extLst>
          </p:cNvPr>
          <p:cNvSpPr/>
          <p:nvPr/>
        </p:nvSpPr>
        <p:spPr>
          <a:xfrm>
            <a:off x="118872" y="749808"/>
            <a:ext cx="2697480" cy="64008"/>
          </a:xfrm>
          <a:prstGeom prst="rect">
            <a:avLst/>
          </a:prstGeom>
          <a:solidFill>
            <a:srgbClr val="3B82F6"/>
          </a:solidFill>
          <a:ln w="12700">
            <a:solidFill>
              <a:srgbClr val="3B82F6"/>
            </a:solidFill>
            <a:prstDash val="solid"/>
          </a:ln>
        </p:spPr>
        <p:txBody>
          <a:bodyPr/>
          <a:lstStyle/>
          <a:p>
            <a:endParaRPr lang="fr-FR"/>
          </a:p>
        </p:txBody>
      </p:sp>
      <p:sp>
        <p:nvSpPr>
          <p:cNvPr id="28" name="Shape 8">
            <a:extLst>
              <a:ext uri="{FF2B5EF4-FFF2-40B4-BE49-F238E27FC236}">
                <a16:creationId xmlns:a16="http://schemas.microsoft.com/office/drawing/2014/main" id="{05745B21-0F6B-F67F-3628-70C672F2D4C5}"/>
              </a:ext>
            </a:extLst>
          </p:cNvPr>
          <p:cNvSpPr/>
          <p:nvPr/>
        </p:nvSpPr>
        <p:spPr>
          <a:xfrm>
            <a:off x="283464" y="859536"/>
            <a:ext cx="475488" cy="475488"/>
          </a:xfrm>
          <a:prstGeom prst="ellipse">
            <a:avLst/>
          </a:prstGeom>
          <a:solidFill>
            <a:srgbClr val="3B82F6"/>
          </a:solidFill>
          <a:ln w="12700">
            <a:solidFill>
              <a:srgbClr val="3B82F6"/>
            </a:solidFill>
            <a:prstDash val="solid"/>
          </a:ln>
        </p:spPr>
        <p:txBody>
          <a:bodyPr/>
          <a:lstStyle/>
          <a:p>
            <a:endParaRPr lang="fr-FR"/>
          </a:p>
        </p:txBody>
      </p:sp>
      <p:sp>
        <p:nvSpPr>
          <p:cNvPr id="29" name="Text 9">
            <a:extLst>
              <a:ext uri="{FF2B5EF4-FFF2-40B4-BE49-F238E27FC236}">
                <a16:creationId xmlns:a16="http://schemas.microsoft.com/office/drawing/2014/main" id="{B0AE54F5-90AC-79E5-07DC-A3D2E9E926FC}"/>
              </a:ext>
            </a:extLst>
          </p:cNvPr>
          <p:cNvSpPr/>
          <p:nvPr/>
        </p:nvSpPr>
        <p:spPr>
          <a:xfrm>
            <a:off x="283464" y="85953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30" name="Text 10">
            <a:extLst>
              <a:ext uri="{FF2B5EF4-FFF2-40B4-BE49-F238E27FC236}">
                <a16:creationId xmlns:a16="http://schemas.microsoft.com/office/drawing/2014/main" id="{7BD86621-5E41-8FF2-F616-2CED88112BA9}"/>
              </a:ext>
            </a:extLst>
          </p:cNvPr>
          <p:cNvSpPr/>
          <p:nvPr/>
        </p:nvSpPr>
        <p:spPr>
          <a:xfrm>
            <a:off x="832104" y="886968"/>
            <a:ext cx="1920240" cy="201168"/>
          </a:xfrm>
          <a:prstGeom prst="rect">
            <a:avLst/>
          </a:prstGeom>
          <a:solidFill>
            <a:schemeClr val="accent1"/>
          </a:solidFill>
          <a:ln/>
        </p:spPr>
        <p:txBody>
          <a:bodyPr wrap="square" lIns="0" tIns="0" rIns="0" bIns="0" rtlCol="0" anchor="ctr"/>
          <a:lstStyle/>
          <a:p>
            <a:pPr marL="0" indent="0" algn="l">
              <a:buNone/>
            </a:pPr>
            <a:r>
              <a:rPr lang="en-US" sz="1200" b="1" kern="0" spc="150" dirty="0">
                <a:solidFill>
                  <a:srgbClr val="FFFFFF"/>
                </a:solidFill>
                <a:latin typeface="Calibri" pitchFamily="34" charset="0"/>
                <a:ea typeface="Calibri" pitchFamily="34" charset="-122"/>
                <a:cs typeface="Calibri" pitchFamily="34" charset="-120"/>
              </a:rPr>
              <a:t>JOUR 1</a:t>
            </a:r>
            <a:endParaRPr lang="en-US" sz="1200" dirty="0"/>
          </a:p>
        </p:txBody>
      </p:sp>
      <p:sp>
        <p:nvSpPr>
          <p:cNvPr id="31" name="Text 11">
            <a:extLst>
              <a:ext uri="{FF2B5EF4-FFF2-40B4-BE49-F238E27FC236}">
                <a16:creationId xmlns:a16="http://schemas.microsoft.com/office/drawing/2014/main" id="{91C58586-8E37-BCAA-60C4-5D0FD8C1584B}"/>
              </a:ext>
            </a:extLst>
          </p:cNvPr>
          <p:cNvSpPr/>
          <p:nvPr/>
        </p:nvSpPr>
        <p:spPr>
          <a:xfrm>
            <a:off x="237744" y="1408176"/>
            <a:ext cx="2459736" cy="502920"/>
          </a:xfrm>
          <a:prstGeom prst="rect">
            <a:avLst/>
          </a:prstGeom>
          <a:noFill/>
          <a:ln/>
        </p:spPr>
        <p:txBody>
          <a:bodyPr wrap="square" lIns="0" tIns="0" rIns="0" bIns="0" rtlCol="0" anchor="t"/>
          <a:lstStyle/>
          <a:p>
            <a:pPr marL="0" indent="0" algn="l">
              <a:buNone/>
            </a:pPr>
            <a:r>
              <a:rPr lang="en-US" sz="850" i="1" dirty="0">
                <a:solidFill>
                  <a:srgbClr val="BAD6F9"/>
                </a:solidFill>
                <a:latin typeface="Calibri" pitchFamily="34" charset="0"/>
                <a:ea typeface="Calibri" pitchFamily="34" charset="-122"/>
                <a:cs typeface="Calibri" pitchFamily="34" charset="-120"/>
              </a:rPr>
              <a:t>Comprendre l'IA et identifier les tâches automatisables</a:t>
            </a:r>
            <a:endParaRPr lang="en-US" sz="850" dirty="0"/>
          </a:p>
        </p:txBody>
      </p:sp>
      <p:sp>
        <p:nvSpPr>
          <p:cNvPr id="32" name="Shape 12">
            <a:extLst>
              <a:ext uri="{FF2B5EF4-FFF2-40B4-BE49-F238E27FC236}">
                <a16:creationId xmlns:a16="http://schemas.microsoft.com/office/drawing/2014/main" id="{9C68B8BE-F34D-FBED-8A47-BD96D3A096E4}"/>
              </a:ext>
            </a:extLst>
          </p:cNvPr>
          <p:cNvSpPr/>
          <p:nvPr/>
        </p:nvSpPr>
        <p:spPr>
          <a:xfrm>
            <a:off x="237744" y="1956816"/>
            <a:ext cx="2459736" cy="0"/>
          </a:xfrm>
          <a:prstGeom prst="line">
            <a:avLst/>
          </a:prstGeom>
          <a:noFill/>
          <a:ln w="10160">
            <a:solidFill>
              <a:srgbClr val="3B82F6"/>
            </a:solidFill>
            <a:prstDash val="solid"/>
          </a:ln>
        </p:spPr>
        <p:txBody>
          <a:bodyPr/>
          <a:lstStyle/>
          <a:p>
            <a:endParaRPr lang="fr-FR"/>
          </a:p>
        </p:txBody>
      </p:sp>
      <p:sp>
        <p:nvSpPr>
          <p:cNvPr id="33" name="Shape 13">
            <a:extLst>
              <a:ext uri="{FF2B5EF4-FFF2-40B4-BE49-F238E27FC236}">
                <a16:creationId xmlns:a16="http://schemas.microsoft.com/office/drawing/2014/main" id="{6281155C-EFBC-8353-C270-4D3E4A89A4DE}"/>
              </a:ext>
            </a:extLst>
          </p:cNvPr>
          <p:cNvSpPr/>
          <p:nvPr/>
        </p:nvSpPr>
        <p:spPr>
          <a:xfrm>
            <a:off x="237744" y="2084832"/>
            <a:ext cx="2459736" cy="777240"/>
          </a:xfrm>
          <a:prstGeom prst="rect">
            <a:avLst/>
          </a:prstGeom>
          <a:solidFill>
            <a:srgbClr val="142B6F"/>
          </a:solidFill>
          <a:ln w="3810">
            <a:solidFill>
              <a:srgbClr val="1E3A8A"/>
            </a:solidFill>
            <a:prstDash val="solid"/>
          </a:ln>
        </p:spPr>
        <p:txBody>
          <a:bodyPr/>
          <a:lstStyle/>
          <a:p>
            <a:endParaRPr lang="fr-FR"/>
          </a:p>
        </p:txBody>
      </p:sp>
      <p:sp>
        <p:nvSpPr>
          <p:cNvPr id="34" name="Shape 14">
            <a:extLst>
              <a:ext uri="{FF2B5EF4-FFF2-40B4-BE49-F238E27FC236}">
                <a16:creationId xmlns:a16="http://schemas.microsoft.com/office/drawing/2014/main" id="{68084F97-DC55-D93A-81DB-1A4B115082F0}"/>
              </a:ext>
            </a:extLst>
          </p:cNvPr>
          <p:cNvSpPr/>
          <p:nvPr/>
        </p:nvSpPr>
        <p:spPr>
          <a:xfrm>
            <a:off x="237744" y="2084832"/>
            <a:ext cx="54864" cy="777240"/>
          </a:xfrm>
          <a:prstGeom prst="rect">
            <a:avLst/>
          </a:prstGeom>
          <a:solidFill>
            <a:srgbClr val="3B82F6"/>
          </a:solidFill>
          <a:ln w="12700">
            <a:solidFill>
              <a:srgbClr val="3B82F6"/>
            </a:solidFill>
            <a:prstDash val="solid"/>
          </a:ln>
        </p:spPr>
        <p:txBody>
          <a:bodyPr/>
          <a:lstStyle/>
          <a:p>
            <a:endParaRPr lang="fr-FR"/>
          </a:p>
        </p:txBody>
      </p:sp>
      <p:sp>
        <p:nvSpPr>
          <p:cNvPr id="35" name="Shape 15">
            <a:extLst>
              <a:ext uri="{FF2B5EF4-FFF2-40B4-BE49-F238E27FC236}">
                <a16:creationId xmlns:a16="http://schemas.microsoft.com/office/drawing/2014/main" id="{925BC7A2-B05C-7509-0951-841ECFF478BA}"/>
              </a:ext>
            </a:extLst>
          </p:cNvPr>
          <p:cNvSpPr/>
          <p:nvPr/>
        </p:nvSpPr>
        <p:spPr>
          <a:xfrm>
            <a:off x="356616" y="2203704"/>
            <a:ext cx="347472" cy="347472"/>
          </a:xfrm>
          <a:prstGeom prst="ellipse">
            <a:avLst/>
          </a:prstGeom>
          <a:solidFill>
            <a:srgbClr val="1B4FBF"/>
          </a:solidFill>
          <a:ln w="6350">
            <a:solidFill>
              <a:srgbClr val="3B82F6"/>
            </a:solidFill>
            <a:prstDash val="solid"/>
          </a:ln>
        </p:spPr>
        <p:txBody>
          <a:bodyPr/>
          <a:lstStyle/>
          <a:p>
            <a:endParaRPr lang="fr-FR"/>
          </a:p>
        </p:txBody>
      </p:sp>
      <p:pic>
        <p:nvPicPr>
          <p:cNvPr id="36" name="Image 0" descr="preencoded.png">
            <a:extLst>
              <a:ext uri="{FF2B5EF4-FFF2-40B4-BE49-F238E27FC236}">
                <a16:creationId xmlns:a16="http://schemas.microsoft.com/office/drawing/2014/main" id="{E63A1A33-DD5E-D617-8737-7EF0AC7D293A}"/>
              </a:ext>
            </a:extLst>
          </p:cNvPr>
          <p:cNvPicPr>
            <a:picLocks noChangeAspect="1"/>
          </p:cNvPicPr>
          <p:nvPr/>
        </p:nvPicPr>
        <p:blipFill>
          <a:blip r:embed="rId3"/>
          <a:stretch>
            <a:fillRect/>
          </a:stretch>
        </p:blipFill>
        <p:spPr>
          <a:xfrm>
            <a:off x="402336" y="2249424"/>
            <a:ext cx="256032" cy="256032"/>
          </a:xfrm>
          <a:prstGeom prst="rect">
            <a:avLst/>
          </a:prstGeom>
        </p:spPr>
      </p:pic>
      <p:sp>
        <p:nvSpPr>
          <p:cNvPr id="37" name="Text 16">
            <a:extLst>
              <a:ext uri="{FF2B5EF4-FFF2-40B4-BE49-F238E27FC236}">
                <a16:creationId xmlns:a16="http://schemas.microsoft.com/office/drawing/2014/main" id="{C08F955D-0BC7-6D13-B6CE-90FBA7B2F9DA}"/>
              </a:ext>
            </a:extLst>
          </p:cNvPr>
          <p:cNvSpPr/>
          <p:nvPr/>
        </p:nvSpPr>
        <p:spPr>
          <a:xfrm>
            <a:off x="777240" y="2157984"/>
            <a:ext cx="1911096" cy="201168"/>
          </a:xfrm>
          <a:prstGeom prst="rect">
            <a:avLst/>
          </a:prstGeom>
          <a:noFill/>
          <a:ln/>
        </p:spPr>
        <p:txBody>
          <a:bodyPr wrap="square" lIns="0" tIns="0" rIns="0" bIns="0" rtlCol="0" anchor="ctr"/>
          <a:lstStyle/>
          <a:p>
            <a:pPr marL="0" indent="0" algn="l">
              <a:buNone/>
            </a:pPr>
            <a:r>
              <a:rPr lang="en-US" sz="750" b="1" dirty="0">
                <a:solidFill>
                  <a:srgbClr val="3B82F6"/>
                </a:solidFill>
                <a:latin typeface="Calibri" pitchFamily="34" charset="0"/>
                <a:ea typeface="Calibri" pitchFamily="34" charset="-122"/>
                <a:cs typeface="Calibri" pitchFamily="34" charset="-120"/>
              </a:rPr>
              <a:t>Module 1</a:t>
            </a:r>
            <a:endParaRPr lang="en-US" sz="750" dirty="0"/>
          </a:p>
        </p:txBody>
      </p:sp>
      <p:sp>
        <p:nvSpPr>
          <p:cNvPr id="38" name="Text 17">
            <a:extLst>
              <a:ext uri="{FF2B5EF4-FFF2-40B4-BE49-F238E27FC236}">
                <a16:creationId xmlns:a16="http://schemas.microsoft.com/office/drawing/2014/main" id="{CB6EBC77-6EEF-1CC8-421D-5EAB47E7F8B4}"/>
              </a:ext>
            </a:extLst>
          </p:cNvPr>
          <p:cNvSpPr/>
          <p:nvPr/>
        </p:nvSpPr>
        <p:spPr>
          <a:xfrm>
            <a:off x="758952" y="2318004"/>
            <a:ext cx="2203704" cy="484632"/>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Introduction à l'IA appliquée à l'entreprise</a:t>
            </a:r>
            <a:endParaRPr lang="en-US" sz="1600" b="1" dirty="0"/>
          </a:p>
        </p:txBody>
      </p:sp>
      <p:sp>
        <p:nvSpPr>
          <p:cNvPr id="39" name="Shape 18">
            <a:extLst>
              <a:ext uri="{FF2B5EF4-FFF2-40B4-BE49-F238E27FC236}">
                <a16:creationId xmlns:a16="http://schemas.microsoft.com/office/drawing/2014/main" id="{F502FEB6-B051-BEC1-4720-3080F4061EA6}"/>
              </a:ext>
            </a:extLst>
          </p:cNvPr>
          <p:cNvSpPr/>
          <p:nvPr/>
        </p:nvSpPr>
        <p:spPr>
          <a:xfrm>
            <a:off x="237744" y="2907792"/>
            <a:ext cx="2459736" cy="777240"/>
          </a:xfrm>
          <a:prstGeom prst="rect">
            <a:avLst/>
          </a:prstGeom>
          <a:solidFill>
            <a:srgbClr val="142B6F"/>
          </a:solidFill>
          <a:ln w="3810">
            <a:solidFill>
              <a:srgbClr val="1E3A8A"/>
            </a:solidFill>
            <a:prstDash val="solid"/>
          </a:ln>
        </p:spPr>
        <p:txBody>
          <a:bodyPr/>
          <a:lstStyle/>
          <a:p>
            <a:endParaRPr lang="fr-FR"/>
          </a:p>
        </p:txBody>
      </p:sp>
      <p:sp>
        <p:nvSpPr>
          <p:cNvPr id="40" name="Shape 19">
            <a:extLst>
              <a:ext uri="{FF2B5EF4-FFF2-40B4-BE49-F238E27FC236}">
                <a16:creationId xmlns:a16="http://schemas.microsoft.com/office/drawing/2014/main" id="{7517920D-961F-FB8F-FDB9-DD33A1E03AC6}"/>
              </a:ext>
            </a:extLst>
          </p:cNvPr>
          <p:cNvSpPr/>
          <p:nvPr/>
        </p:nvSpPr>
        <p:spPr>
          <a:xfrm>
            <a:off x="237744" y="2907792"/>
            <a:ext cx="54864" cy="777240"/>
          </a:xfrm>
          <a:prstGeom prst="rect">
            <a:avLst/>
          </a:prstGeom>
          <a:solidFill>
            <a:srgbClr val="3B82F6"/>
          </a:solidFill>
          <a:ln w="12700">
            <a:solidFill>
              <a:srgbClr val="3B82F6"/>
            </a:solidFill>
            <a:prstDash val="solid"/>
          </a:ln>
        </p:spPr>
        <p:txBody>
          <a:bodyPr/>
          <a:lstStyle/>
          <a:p>
            <a:endParaRPr lang="fr-FR"/>
          </a:p>
        </p:txBody>
      </p:sp>
      <p:sp>
        <p:nvSpPr>
          <p:cNvPr id="41" name="Shape 20">
            <a:extLst>
              <a:ext uri="{FF2B5EF4-FFF2-40B4-BE49-F238E27FC236}">
                <a16:creationId xmlns:a16="http://schemas.microsoft.com/office/drawing/2014/main" id="{1A13D70A-5F49-EBC1-4F5D-994CDBD391D1}"/>
              </a:ext>
            </a:extLst>
          </p:cNvPr>
          <p:cNvSpPr/>
          <p:nvPr/>
        </p:nvSpPr>
        <p:spPr>
          <a:xfrm>
            <a:off x="356616" y="3026664"/>
            <a:ext cx="347472" cy="347472"/>
          </a:xfrm>
          <a:prstGeom prst="ellipse">
            <a:avLst/>
          </a:prstGeom>
          <a:solidFill>
            <a:srgbClr val="1B4FBF"/>
          </a:solidFill>
          <a:ln w="6350">
            <a:solidFill>
              <a:srgbClr val="3B82F6"/>
            </a:solidFill>
            <a:prstDash val="solid"/>
          </a:ln>
        </p:spPr>
        <p:txBody>
          <a:bodyPr/>
          <a:lstStyle/>
          <a:p>
            <a:endParaRPr lang="fr-FR"/>
          </a:p>
        </p:txBody>
      </p:sp>
      <p:pic>
        <p:nvPicPr>
          <p:cNvPr id="42" name="Image 1" descr="preencoded.png">
            <a:extLst>
              <a:ext uri="{FF2B5EF4-FFF2-40B4-BE49-F238E27FC236}">
                <a16:creationId xmlns:a16="http://schemas.microsoft.com/office/drawing/2014/main" id="{43218506-4574-ECAC-4A1C-45AB6D491223}"/>
              </a:ext>
            </a:extLst>
          </p:cNvPr>
          <p:cNvPicPr>
            <a:picLocks noChangeAspect="1"/>
          </p:cNvPicPr>
          <p:nvPr/>
        </p:nvPicPr>
        <p:blipFill>
          <a:blip r:embed="rId4"/>
          <a:stretch>
            <a:fillRect/>
          </a:stretch>
        </p:blipFill>
        <p:spPr>
          <a:xfrm>
            <a:off x="402336" y="3072384"/>
            <a:ext cx="256032" cy="256032"/>
          </a:xfrm>
          <a:prstGeom prst="rect">
            <a:avLst/>
          </a:prstGeom>
        </p:spPr>
      </p:pic>
      <p:sp>
        <p:nvSpPr>
          <p:cNvPr id="43" name="Text 21">
            <a:extLst>
              <a:ext uri="{FF2B5EF4-FFF2-40B4-BE49-F238E27FC236}">
                <a16:creationId xmlns:a16="http://schemas.microsoft.com/office/drawing/2014/main" id="{D429D610-31C9-96F8-623B-6B4F79A7D882}"/>
              </a:ext>
            </a:extLst>
          </p:cNvPr>
          <p:cNvSpPr/>
          <p:nvPr/>
        </p:nvSpPr>
        <p:spPr>
          <a:xfrm>
            <a:off x="777240" y="2980944"/>
            <a:ext cx="1911096" cy="201168"/>
          </a:xfrm>
          <a:prstGeom prst="rect">
            <a:avLst/>
          </a:prstGeom>
          <a:noFill/>
          <a:ln/>
        </p:spPr>
        <p:txBody>
          <a:bodyPr wrap="square" lIns="0" tIns="0" rIns="0" bIns="0" rtlCol="0" anchor="ctr"/>
          <a:lstStyle/>
          <a:p>
            <a:pPr marL="0" indent="0" algn="l">
              <a:buNone/>
            </a:pPr>
            <a:r>
              <a:rPr lang="en-US" sz="750" b="1" dirty="0">
                <a:solidFill>
                  <a:srgbClr val="3B82F6"/>
                </a:solidFill>
                <a:latin typeface="Calibri" pitchFamily="34" charset="0"/>
                <a:ea typeface="Calibri" pitchFamily="34" charset="-122"/>
                <a:cs typeface="Calibri" pitchFamily="34" charset="-120"/>
              </a:rPr>
              <a:t>Module 2</a:t>
            </a:r>
            <a:endParaRPr lang="en-US" sz="750" dirty="0"/>
          </a:p>
        </p:txBody>
      </p:sp>
      <p:sp>
        <p:nvSpPr>
          <p:cNvPr id="44" name="Text 22">
            <a:extLst>
              <a:ext uri="{FF2B5EF4-FFF2-40B4-BE49-F238E27FC236}">
                <a16:creationId xmlns:a16="http://schemas.microsoft.com/office/drawing/2014/main" id="{E9E4C990-E721-3A98-7E4A-6FD3D08D84C9}"/>
              </a:ext>
            </a:extLst>
          </p:cNvPr>
          <p:cNvSpPr/>
          <p:nvPr/>
        </p:nvSpPr>
        <p:spPr>
          <a:xfrm>
            <a:off x="777240" y="3163824"/>
            <a:ext cx="2185416" cy="484632"/>
          </a:xfrm>
          <a:prstGeom prst="rect">
            <a:avLst/>
          </a:prstGeom>
          <a:noFill/>
          <a:ln/>
        </p:spPr>
        <p:txBody>
          <a:bodyPr wrap="square" lIns="0" tIns="0" rIns="0" bIns="0" rtlCol="0" anchor="t"/>
          <a:lstStyle/>
          <a:p>
            <a:r>
              <a:rPr lang="en-US" sz="1400" b="1" dirty="0">
                <a:solidFill>
                  <a:srgbClr val="FFFFFF"/>
                </a:solidFill>
                <a:latin typeface="Calibri" pitchFamily="34" charset="0"/>
                <a:ea typeface="Calibri" pitchFamily="34" charset="-122"/>
                <a:cs typeface="Calibri" pitchFamily="34" charset="-120"/>
              </a:rPr>
              <a:t>Automatiser la production de </a:t>
            </a:r>
            <a:r>
              <a:rPr lang="en-US" sz="1400" b="1" dirty="0" err="1">
                <a:solidFill>
                  <a:srgbClr val="FFFFFF"/>
                </a:solidFill>
                <a:latin typeface="Calibri" pitchFamily="34" charset="0"/>
                <a:ea typeface="Calibri" pitchFamily="34" charset="-122"/>
                <a:cs typeface="Calibri" pitchFamily="34" charset="-120"/>
              </a:rPr>
              <a:t>contenu</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administratif</a:t>
            </a:r>
            <a:endParaRPr lang="en-US" sz="1400" b="1" dirty="0">
              <a:solidFill>
                <a:srgbClr val="FFFFFF"/>
              </a:solidFill>
              <a:latin typeface="Calibri" pitchFamily="34" charset="0"/>
              <a:ea typeface="Calibri" pitchFamily="34" charset="-122"/>
              <a:cs typeface="Calibri" pitchFamily="34" charset="-120"/>
            </a:endParaRPr>
          </a:p>
        </p:txBody>
      </p:sp>
      <p:sp>
        <p:nvSpPr>
          <p:cNvPr id="45" name="Shape 23">
            <a:extLst>
              <a:ext uri="{FF2B5EF4-FFF2-40B4-BE49-F238E27FC236}">
                <a16:creationId xmlns:a16="http://schemas.microsoft.com/office/drawing/2014/main" id="{40F4BEC6-3FFE-E6E0-2BB1-246F391D2513}"/>
              </a:ext>
            </a:extLst>
          </p:cNvPr>
          <p:cNvSpPr/>
          <p:nvPr/>
        </p:nvSpPr>
        <p:spPr>
          <a:xfrm>
            <a:off x="237744" y="3730752"/>
            <a:ext cx="2459736" cy="777240"/>
          </a:xfrm>
          <a:prstGeom prst="rect">
            <a:avLst/>
          </a:prstGeom>
          <a:solidFill>
            <a:srgbClr val="142B6F"/>
          </a:solidFill>
          <a:ln w="3810">
            <a:solidFill>
              <a:srgbClr val="1E3A8A"/>
            </a:solidFill>
            <a:prstDash val="solid"/>
          </a:ln>
        </p:spPr>
        <p:txBody>
          <a:bodyPr/>
          <a:lstStyle/>
          <a:p>
            <a:endParaRPr lang="fr-FR"/>
          </a:p>
        </p:txBody>
      </p:sp>
      <p:sp>
        <p:nvSpPr>
          <p:cNvPr id="46" name="Shape 24">
            <a:extLst>
              <a:ext uri="{FF2B5EF4-FFF2-40B4-BE49-F238E27FC236}">
                <a16:creationId xmlns:a16="http://schemas.microsoft.com/office/drawing/2014/main" id="{F1A825C1-DCB4-1433-680A-D0372ADCF24C}"/>
              </a:ext>
            </a:extLst>
          </p:cNvPr>
          <p:cNvSpPr/>
          <p:nvPr/>
        </p:nvSpPr>
        <p:spPr>
          <a:xfrm>
            <a:off x="237744" y="3730752"/>
            <a:ext cx="54864" cy="777240"/>
          </a:xfrm>
          <a:prstGeom prst="rect">
            <a:avLst/>
          </a:prstGeom>
          <a:solidFill>
            <a:srgbClr val="3B82F6"/>
          </a:solidFill>
          <a:ln w="12700">
            <a:solidFill>
              <a:srgbClr val="3B82F6"/>
            </a:solidFill>
            <a:prstDash val="solid"/>
          </a:ln>
        </p:spPr>
        <p:txBody>
          <a:bodyPr/>
          <a:lstStyle/>
          <a:p>
            <a:endParaRPr lang="fr-FR"/>
          </a:p>
        </p:txBody>
      </p:sp>
      <p:sp>
        <p:nvSpPr>
          <p:cNvPr id="47" name="Shape 25">
            <a:extLst>
              <a:ext uri="{FF2B5EF4-FFF2-40B4-BE49-F238E27FC236}">
                <a16:creationId xmlns:a16="http://schemas.microsoft.com/office/drawing/2014/main" id="{60CEE030-B14C-A473-681E-2AA069216B2D}"/>
              </a:ext>
            </a:extLst>
          </p:cNvPr>
          <p:cNvSpPr/>
          <p:nvPr/>
        </p:nvSpPr>
        <p:spPr>
          <a:xfrm>
            <a:off x="356616" y="3849624"/>
            <a:ext cx="347472" cy="347472"/>
          </a:xfrm>
          <a:prstGeom prst="ellipse">
            <a:avLst/>
          </a:prstGeom>
          <a:solidFill>
            <a:srgbClr val="1B4FBF"/>
          </a:solidFill>
          <a:ln w="6350">
            <a:solidFill>
              <a:srgbClr val="3B82F6"/>
            </a:solidFill>
            <a:prstDash val="solid"/>
          </a:ln>
        </p:spPr>
        <p:txBody>
          <a:bodyPr/>
          <a:lstStyle/>
          <a:p>
            <a:endParaRPr lang="fr-FR"/>
          </a:p>
        </p:txBody>
      </p:sp>
      <p:pic>
        <p:nvPicPr>
          <p:cNvPr id="48" name="Image 2" descr="preencoded.png">
            <a:extLst>
              <a:ext uri="{FF2B5EF4-FFF2-40B4-BE49-F238E27FC236}">
                <a16:creationId xmlns:a16="http://schemas.microsoft.com/office/drawing/2014/main" id="{34C7310E-1EA7-5421-7EDC-78FE2958306F}"/>
              </a:ext>
            </a:extLst>
          </p:cNvPr>
          <p:cNvPicPr>
            <a:picLocks noChangeAspect="1"/>
          </p:cNvPicPr>
          <p:nvPr/>
        </p:nvPicPr>
        <p:blipFill>
          <a:blip r:embed="rId5"/>
          <a:stretch>
            <a:fillRect/>
          </a:stretch>
        </p:blipFill>
        <p:spPr>
          <a:xfrm>
            <a:off x="402336" y="3895344"/>
            <a:ext cx="256032" cy="256032"/>
          </a:xfrm>
          <a:prstGeom prst="rect">
            <a:avLst/>
          </a:prstGeom>
        </p:spPr>
      </p:pic>
      <p:sp>
        <p:nvSpPr>
          <p:cNvPr id="49" name="Text 26">
            <a:extLst>
              <a:ext uri="{FF2B5EF4-FFF2-40B4-BE49-F238E27FC236}">
                <a16:creationId xmlns:a16="http://schemas.microsoft.com/office/drawing/2014/main" id="{20902106-79BB-463B-EB68-17FFFB31C430}"/>
              </a:ext>
            </a:extLst>
          </p:cNvPr>
          <p:cNvSpPr/>
          <p:nvPr/>
        </p:nvSpPr>
        <p:spPr>
          <a:xfrm>
            <a:off x="777240" y="3803904"/>
            <a:ext cx="1911096" cy="201168"/>
          </a:xfrm>
          <a:prstGeom prst="rect">
            <a:avLst/>
          </a:prstGeom>
          <a:noFill/>
          <a:ln/>
        </p:spPr>
        <p:txBody>
          <a:bodyPr wrap="square" lIns="0" tIns="0" rIns="0" bIns="0" rtlCol="0" anchor="ctr"/>
          <a:lstStyle/>
          <a:p>
            <a:pPr marL="0" indent="0" algn="l">
              <a:buNone/>
            </a:pPr>
            <a:r>
              <a:rPr lang="en-US" sz="750" b="1" dirty="0">
                <a:solidFill>
                  <a:srgbClr val="3B82F6"/>
                </a:solidFill>
                <a:latin typeface="Calibri" pitchFamily="34" charset="0"/>
                <a:ea typeface="Calibri" pitchFamily="34" charset="-122"/>
                <a:cs typeface="Calibri" pitchFamily="34" charset="-120"/>
              </a:rPr>
              <a:t>Module 3</a:t>
            </a:r>
            <a:endParaRPr lang="en-US" sz="750" dirty="0"/>
          </a:p>
        </p:txBody>
      </p:sp>
      <p:sp>
        <p:nvSpPr>
          <p:cNvPr id="50" name="Text 27">
            <a:extLst>
              <a:ext uri="{FF2B5EF4-FFF2-40B4-BE49-F238E27FC236}">
                <a16:creationId xmlns:a16="http://schemas.microsoft.com/office/drawing/2014/main" id="{E3FCB969-A147-23AD-B7B8-D390DEBF9153}"/>
              </a:ext>
            </a:extLst>
          </p:cNvPr>
          <p:cNvSpPr/>
          <p:nvPr/>
        </p:nvSpPr>
        <p:spPr>
          <a:xfrm>
            <a:off x="800100" y="3899916"/>
            <a:ext cx="1911096" cy="4846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Identifier les tâches </a:t>
            </a:r>
            <a:r>
              <a:rPr lang="en-US" sz="1600" b="1" dirty="0" err="1">
                <a:solidFill>
                  <a:srgbClr val="FFFFFF"/>
                </a:solidFill>
                <a:latin typeface="Calibri" pitchFamily="34" charset="0"/>
                <a:ea typeface="Calibri" pitchFamily="34" charset="-122"/>
                <a:cs typeface="Calibri" pitchFamily="34" charset="-120"/>
              </a:rPr>
              <a:t>administratives</a:t>
            </a:r>
            <a:r>
              <a:rPr lang="en-US" sz="1600" b="1" dirty="0">
                <a:solidFill>
                  <a:srgbClr val="FFFFFF"/>
                </a:solidFill>
                <a:latin typeface="Calibri" pitchFamily="34" charset="0"/>
                <a:ea typeface="Calibri" pitchFamily="34" charset="-122"/>
                <a:cs typeface="Calibri" pitchFamily="34" charset="-120"/>
              </a:rPr>
              <a:t> </a:t>
            </a:r>
            <a:r>
              <a:rPr lang="en-US" sz="1600" b="1" dirty="0" err="1">
                <a:solidFill>
                  <a:srgbClr val="FFFFFF"/>
                </a:solidFill>
                <a:latin typeface="Calibri" pitchFamily="34" charset="0"/>
                <a:ea typeface="Calibri" pitchFamily="34" charset="-122"/>
                <a:cs typeface="Calibri" pitchFamily="34" charset="-120"/>
              </a:rPr>
              <a:t>automatisables</a:t>
            </a:r>
            <a:endParaRPr lang="en-US" sz="1600" b="1" dirty="0">
              <a:solidFill>
                <a:srgbClr val="FFFFFF"/>
              </a:solidFill>
              <a:latin typeface="Calibri" pitchFamily="34" charset="0"/>
              <a:ea typeface="Calibri" pitchFamily="34" charset="-122"/>
              <a:cs typeface="Calibri" pitchFamily="34" charset="-120"/>
            </a:endParaRPr>
          </a:p>
        </p:txBody>
      </p:sp>
      <p:sp>
        <p:nvSpPr>
          <p:cNvPr id="51" name="Shape 28">
            <a:extLst>
              <a:ext uri="{FF2B5EF4-FFF2-40B4-BE49-F238E27FC236}">
                <a16:creationId xmlns:a16="http://schemas.microsoft.com/office/drawing/2014/main" id="{B90EF8CD-41F8-661E-7938-271DA3907714}"/>
              </a:ext>
            </a:extLst>
          </p:cNvPr>
          <p:cNvSpPr/>
          <p:nvPr/>
        </p:nvSpPr>
        <p:spPr>
          <a:xfrm>
            <a:off x="2926080" y="749808"/>
            <a:ext cx="2697480" cy="3950208"/>
          </a:xfrm>
          <a:prstGeom prst="rect">
            <a:avLst/>
          </a:prstGeom>
          <a:solidFill>
            <a:srgbClr val="102358"/>
          </a:solidFill>
          <a:ln w="6350">
            <a:solidFill>
              <a:srgbClr val="1E3A7A"/>
            </a:solidFill>
            <a:prstDash val="solid"/>
          </a:ln>
          <a:effectLst>
            <a:outerShdw blurRad="101600" dist="38100" dir="8100000" algn="bl" rotWithShape="0">
              <a:srgbClr val="000000">
                <a:alpha val="35000"/>
              </a:srgbClr>
            </a:outerShdw>
          </a:effectLst>
        </p:spPr>
        <p:txBody>
          <a:bodyPr/>
          <a:lstStyle/>
          <a:p>
            <a:endParaRPr lang="fr-FR"/>
          </a:p>
        </p:txBody>
      </p:sp>
      <p:sp>
        <p:nvSpPr>
          <p:cNvPr id="52" name="Shape 29">
            <a:extLst>
              <a:ext uri="{FF2B5EF4-FFF2-40B4-BE49-F238E27FC236}">
                <a16:creationId xmlns:a16="http://schemas.microsoft.com/office/drawing/2014/main" id="{85D463B4-9D51-33E1-170A-0763E3767EAE}"/>
              </a:ext>
            </a:extLst>
          </p:cNvPr>
          <p:cNvSpPr/>
          <p:nvPr/>
        </p:nvSpPr>
        <p:spPr>
          <a:xfrm>
            <a:off x="2926080" y="749808"/>
            <a:ext cx="2697480" cy="64008"/>
          </a:xfrm>
          <a:prstGeom prst="rect">
            <a:avLst/>
          </a:prstGeom>
          <a:solidFill>
            <a:srgbClr val="0EA5E9"/>
          </a:solidFill>
          <a:ln w="12700">
            <a:solidFill>
              <a:srgbClr val="0EA5E9"/>
            </a:solidFill>
            <a:prstDash val="solid"/>
          </a:ln>
        </p:spPr>
        <p:txBody>
          <a:bodyPr/>
          <a:lstStyle/>
          <a:p>
            <a:endParaRPr lang="fr-FR"/>
          </a:p>
        </p:txBody>
      </p:sp>
      <p:sp>
        <p:nvSpPr>
          <p:cNvPr id="53" name="Shape 30">
            <a:extLst>
              <a:ext uri="{FF2B5EF4-FFF2-40B4-BE49-F238E27FC236}">
                <a16:creationId xmlns:a16="http://schemas.microsoft.com/office/drawing/2014/main" id="{027B00F3-0670-E16C-1F3D-90EFF301E4D6}"/>
              </a:ext>
            </a:extLst>
          </p:cNvPr>
          <p:cNvSpPr/>
          <p:nvPr/>
        </p:nvSpPr>
        <p:spPr>
          <a:xfrm>
            <a:off x="3090672" y="859536"/>
            <a:ext cx="475488" cy="475488"/>
          </a:xfrm>
          <a:prstGeom prst="ellipse">
            <a:avLst/>
          </a:prstGeom>
          <a:solidFill>
            <a:srgbClr val="0EA5E9"/>
          </a:solidFill>
          <a:ln w="12700">
            <a:solidFill>
              <a:srgbClr val="0EA5E9"/>
            </a:solidFill>
            <a:prstDash val="solid"/>
          </a:ln>
        </p:spPr>
        <p:txBody>
          <a:bodyPr/>
          <a:lstStyle/>
          <a:p>
            <a:endParaRPr lang="fr-FR"/>
          </a:p>
        </p:txBody>
      </p:sp>
      <p:sp>
        <p:nvSpPr>
          <p:cNvPr id="54" name="Text 31">
            <a:extLst>
              <a:ext uri="{FF2B5EF4-FFF2-40B4-BE49-F238E27FC236}">
                <a16:creationId xmlns:a16="http://schemas.microsoft.com/office/drawing/2014/main" id="{2713AFAD-E4EA-9584-9D6C-D59507DFB0DD}"/>
              </a:ext>
            </a:extLst>
          </p:cNvPr>
          <p:cNvSpPr/>
          <p:nvPr/>
        </p:nvSpPr>
        <p:spPr>
          <a:xfrm>
            <a:off x="3090672" y="85953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55" name="Text 32">
            <a:extLst>
              <a:ext uri="{FF2B5EF4-FFF2-40B4-BE49-F238E27FC236}">
                <a16:creationId xmlns:a16="http://schemas.microsoft.com/office/drawing/2014/main" id="{16CCADC2-89BA-108B-8DA9-1E70F13C2662}"/>
              </a:ext>
            </a:extLst>
          </p:cNvPr>
          <p:cNvSpPr/>
          <p:nvPr/>
        </p:nvSpPr>
        <p:spPr>
          <a:xfrm>
            <a:off x="3639312" y="886968"/>
            <a:ext cx="1920240" cy="201168"/>
          </a:xfrm>
          <a:prstGeom prst="rect">
            <a:avLst/>
          </a:prstGeom>
          <a:solidFill>
            <a:schemeClr val="accent1"/>
          </a:solidFill>
          <a:ln/>
        </p:spPr>
        <p:txBody>
          <a:bodyPr wrap="square" lIns="0" tIns="0" rIns="0" bIns="0" rtlCol="0" anchor="ctr"/>
          <a:lstStyle/>
          <a:p>
            <a:pPr marL="0" indent="0" algn="l">
              <a:buNone/>
            </a:pPr>
            <a:r>
              <a:rPr lang="en-US" sz="1200" b="1" kern="0" spc="150" dirty="0">
                <a:solidFill>
                  <a:srgbClr val="FFFFFF"/>
                </a:solidFill>
                <a:latin typeface="Calibri" pitchFamily="34" charset="0"/>
                <a:ea typeface="Calibri" pitchFamily="34" charset="-122"/>
                <a:cs typeface="Calibri" pitchFamily="34" charset="-120"/>
              </a:rPr>
              <a:t>JOUR 2</a:t>
            </a:r>
            <a:endParaRPr lang="en-US" sz="1200" dirty="0"/>
          </a:p>
        </p:txBody>
      </p:sp>
      <p:sp>
        <p:nvSpPr>
          <p:cNvPr id="56" name="Text 33">
            <a:extLst>
              <a:ext uri="{FF2B5EF4-FFF2-40B4-BE49-F238E27FC236}">
                <a16:creationId xmlns:a16="http://schemas.microsoft.com/office/drawing/2014/main" id="{65F4C929-1135-39EB-710A-DB29B74716FF}"/>
              </a:ext>
            </a:extLst>
          </p:cNvPr>
          <p:cNvSpPr/>
          <p:nvPr/>
        </p:nvSpPr>
        <p:spPr>
          <a:xfrm>
            <a:off x="3044952" y="1408176"/>
            <a:ext cx="2459736" cy="502920"/>
          </a:xfrm>
          <a:prstGeom prst="rect">
            <a:avLst/>
          </a:prstGeom>
          <a:noFill/>
          <a:ln/>
        </p:spPr>
        <p:txBody>
          <a:bodyPr wrap="square" lIns="0" tIns="0" rIns="0" bIns="0" rtlCol="0" anchor="t"/>
          <a:lstStyle/>
          <a:p>
            <a:pPr marL="0" indent="0" algn="l">
              <a:buNone/>
            </a:pPr>
            <a:r>
              <a:rPr lang="en-US" sz="850" i="1" dirty="0">
                <a:solidFill>
                  <a:srgbClr val="BAD6F9"/>
                </a:solidFill>
                <a:latin typeface="Calibri" pitchFamily="34" charset="0"/>
                <a:ea typeface="Calibri" pitchFamily="34" charset="-122"/>
                <a:cs typeface="Calibri" pitchFamily="34" charset="-120"/>
              </a:rPr>
              <a:t>Création d'assistants IA et automatisation des données</a:t>
            </a:r>
            <a:endParaRPr lang="en-US" sz="850" dirty="0"/>
          </a:p>
        </p:txBody>
      </p:sp>
      <p:sp>
        <p:nvSpPr>
          <p:cNvPr id="57" name="Shape 34">
            <a:extLst>
              <a:ext uri="{FF2B5EF4-FFF2-40B4-BE49-F238E27FC236}">
                <a16:creationId xmlns:a16="http://schemas.microsoft.com/office/drawing/2014/main" id="{33993669-B988-ADA6-7BC1-0F3256199456}"/>
              </a:ext>
            </a:extLst>
          </p:cNvPr>
          <p:cNvSpPr/>
          <p:nvPr/>
        </p:nvSpPr>
        <p:spPr>
          <a:xfrm>
            <a:off x="3044952" y="1956816"/>
            <a:ext cx="2459736" cy="0"/>
          </a:xfrm>
          <a:prstGeom prst="line">
            <a:avLst/>
          </a:prstGeom>
          <a:noFill/>
          <a:ln w="10160">
            <a:solidFill>
              <a:srgbClr val="0EA5E9"/>
            </a:solidFill>
            <a:prstDash val="solid"/>
          </a:ln>
        </p:spPr>
        <p:txBody>
          <a:bodyPr/>
          <a:lstStyle/>
          <a:p>
            <a:endParaRPr lang="fr-FR"/>
          </a:p>
        </p:txBody>
      </p:sp>
      <p:sp>
        <p:nvSpPr>
          <p:cNvPr id="58" name="Shape 35">
            <a:extLst>
              <a:ext uri="{FF2B5EF4-FFF2-40B4-BE49-F238E27FC236}">
                <a16:creationId xmlns:a16="http://schemas.microsoft.com/office/drawing/2014/main" id="{8377147F-DE1F-D359-D0A8-BCE565DE746F}"/>
              </a:ext>
            </a:extLst>
          </p:cNvPr>
          <p:cNvSpPr/>
          <p:nvPr/>
        </p:nvSpPr>
        <p:spPr>
          <a:xfrm>
            <a:off x="3044952" y="2084832"/>
            <a:ext cx="2459736" cy="777240"/>
          </a:xfrm>
          <a:prstGeom prst="rect">
            <a:avLst/>
          </a:prstGeom>
          <a:solidFill>
            <a:srgbClr val="142B6F"/>
          </a:solidFill>
          <a:ln w="3810">
            <a:solidFill>
              <a:srgbClr val="1E3A8A"/>
            </a:solidFill>
            <a:prstDash val="solid"/>
          </a:ln>
        </p:spPr>
        <p:txBody>
          <a:bodyPr/>
          <a:lstStyle/>
          <a:p>
            <a:endParaRPr lang="fr-FR"/>
          </a:p>
        </p:txBody>
      </p:sp>
      <p:sp>
        <p:nvSpPr>
          <p:cNvPr id="59" name="Shape 36">
            <a:extLst>
              <a:ext uri="{FF2B5EF4-FFF2-40B4-BE49-F238E27FC236}">
                <a16:creationId xmlns:a16="http://schemas.microsoft.com/office/drawing/2014/main" id="{D89D2FB9-0DE0-28BD-9592-156169F3F9C6}"/>
              </a:ext>
            </a:extLst>
          </p:cNvPr>
          <p:cNvSpPr/>
          <p:nvPr/>
        </p:nvSpPr>
        <p:spPr>
          <a:xfrm>
            <a:off x="3044952" y="2084832"/>
            <a:ext cx="54864" cy="777240"/>
          </a:xfrm>
          <a:prstGeom prst="rect">
            <a:avLst/>
          </a:prstGeom>
          <a:solidFill>
            <a:srgbClr val="0EA5E9"/>
          </a:solidFill>
          <a:ln w="12700">
            <a:solidFill>
              <a:srgbClr val="0EA5E9"/>
            </a:solidFill>
            <a:prstDash val="solid"/>
          </a:ln>
        </p:spPr>
        <p:txBody>
          <a:bodyPr/>
          <a:lstStyle/>
          <a:p>
            <a:endParaRPr lang="fr-FR"/>
          </a:p>
        </p:txBody>
      </p:sp>
      <p:sp>
        <p:nvSpPr>
          <p:cNvPr id="60" name="Shape 37">
            <a:extLst>
              <a:ext uri="{FF2B5EF4-FFF2-40B4-BE49-F238E27FC236}">
                <a16:creationId xmlns:a16="http://schemas.microsoft.com/office/drawing/2014/main" id="{416A0321-1755-084D-E7D8-08E835134EA7}"/>
              </a:ext>
            </a:extLst>
          </p:cNvPr>
          <p:cNvSpPr/>
          <p:nvPr/>
        </p:nvSpPr>
        <p:spPr>
          <a:xfrm>
            <a:off x="3163824" y="2203704"/>
            <a:ext cx="347472" cy="347472"/>
          </a:xfrm>
          <a:prstGeom prst="ellipse">
            <a:avLst/>
          </a:prstGeom>
          <a:solidFill>
            <a:srgbClr val="15487A"/>
          </a:solidFill>
          <a:ln w="6350">
            <a:solidFill>
              <a:srgbClr val="0EA5E9"/>
            </a:solidFill>
            <a:prstDash val="solid"/>
          </a:ln>
        </p:spPr>
        <p:txBody>
          <a:bodyPr/>
          <a:lstStyle/>
          <a:p>
            <a:endParaRPr lang="fr-FR"/>
          </a:p>
        </p:txBody>
      </p:sp>
      <p:pic>
        <p:nvPicPr>
          <p:cNvPr id="61" name="Image 3" descr="preencoded.png">
            <a:extLst>
              <a:ext uri="{FF2B5EF4-FFF2-40B4-BE49-F238E27FC236}">
                <a16:creationId xmlns:a16="http://schemas.microsoft.com/office/drawing/2014/main" id="{CCD849A9-8F5A-85B6-E98C-6E36623FCB64}"/>
              </a:ext>
            </a:extLst>
          </p:cNvPr>
          <p:cNvPicPr>
            <a:picLocks noChangeAspect="1"/>
          </p:cNvPicPr>
          <p:nvPr/>
        </p:nvPicPr>
        <p:blipFill>
          <a:blip r:embed="rId6"/>
          <a:stretch>
            <a:fillRect/>
          </a:stretch>
        </p:blipFill>
        <p:spPr>
          <a:xfrm>
            <a:off x="3209544" y="2249424"/>
            <a:ext cx="256032" cy="256032"/>
          </a:xfrm>
          <a:prstGeom prst="rect">
            <a:avLst/>
          </a:prstGeom>
        </p:spPr>
      </p:pic>
      <p:sp>
        <p:nvSpPr>
          <p:cNvPr id="62" name="Text 38">
            <a:extLst>
              <a:ext uri="{FF2B5EF4-FFF2-40B4-BE49-F238E27FC236}">
                <a16:creationId xmlns:a16="http://schemas.microsoft.com/office/drawing/2014/main" id="{40E3074F-620D-85D3-10DA-692458A6347B}"/>
              </a:ext>
            </a:extLst>
          </p:cNvPr>
          <p:cNvSpPr/>
          <p:nvPr/>
        </p:nvSpPr>
        <p:spPr>
          <a:xfrm>
            <a:off x="3584448" y="2157984"/>
            <a:ext cx="1911096" cy="201168"/>
          </a:xfrm>
          <a:prstGeom prst="rect">
            <a:avLst/>
          </a:prstGeom>
          <a:noFill/>
          <a:ln/>
        </p:spPr>
        <p:txBody>
          <a:bodyPr wrap="square" lIns="0" tIns="0" rIns="0" bIns="0" rtlCol="0" anchor="ctr"/>
          <a:lstStyle/>
          <a:p>
            <a:pPr marL="0" indent="0" algn="l">
              <a:buNone/>
            </a:pPr>
            <a:r>
              <a:rPr lang="en-US" sz="750" b="1" dirty="0">
                <a:solidFill>
                  <a:srgbClr val="0EA5E9"/>
                </a:solidFill>
                <a:latin typeface="Calibri" pitchFamily="34" charset="0"/>
                <a:ea typeface="Calibri" pitchFamily="34" charset="-122"/>
                <a:cs typeface="Calibri" pitchFamily="34" charset="-120"/>
              </a:rPr>
              <a:t>Module 4</a:t>
            </a:r>
            <a:endParaRPr lang="en-US" sz="750" dirty="0"/>
          </a:p>
        </p:txBody>
      </p:sp>
      <p:sp>
        <p:nvSpPr>
          <p:cNvPr id="63" name="Text 39">
            <a:extLst>
              <a:ext uri="{FF2B5EF4-FFF2-40B4-BE49-F238E27FC236}">
                <a16:creationId xmlns:a16="http://schemas.microsoft.com/office/drawing/2014/main" id="{C15AEC3E-1A62-5A72-E46C-38996772969E}"/>
              </a:ext>
            </a:extLst>
          </p:cNvPr>
          <p:cNvSpPr/>
          <p:nvPr/>
        </p:nvSpPr>
        <p:spPr>
          <a:xfrm>
            <a:off x="3584448" y="2340864"/>
            <a:ext cx="1911096" cy="4846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Créer des assistants IA </a:t>
            </a:r>
            <a:r>
              <a:rPr lang="en-US" sz="1600" b="1" dirty="0" err="1">
                <a:solidFill>
                  <a:srgbClr val="FFFFFF"/>
                </a:solidFill>
                <a:latin typeface="Calibri" pitchFamily="34" charset="0"/>
                <a:ea typeface="Calibri" pitchFamily="34" charset="-122"/>
                <a:cs typeface="Calibri" pitchFamily="34" charset="-120"/>
              </a:rPr>
              <a:t>spécialisés</a:t>
            </a:r>
            <a:endParaRPr lang="en-US" sz="1600" b="1" dirty="0">
              <a:solidFill>
                <a:srgbClr val="FFFFFF"/>
              </a:solidFill>
              <a:latin typeface="Calibri" pitchFamily="34" charset="0"/>
              <a:ea typeface="Calibri" pitchFamily="34" charset="-122"/>
              <a:cs typeface="Calibri" pitchFamily="34" charset="-120"/>
            </a:endParaRPr>
          </a:p>
        </p:txBody>
      </p:sp>
      <p:sp>
        <p:nvSpPr>
          <p:cNvPr id="64" name="Shape 40">
            <a:extLst>
              <a:ext uri="{FF2B5EF4-FFF2-40B4-BE49-F238E27FC236}">
                <a16:creationId xmlns:a16="http://schemas.microsoft.com/office/drawing/2014/main" id="{01DF1084-95A7-7C59-884C-5355D7C4871E}"/>
              </a:ext>
            </a:extLst>
          </p:cNvPr>
          <p:cNvSpPr/>
          <p:nvPr/>
        </p:nvSpPr>
        <p:spPr>
          <a:xfrm>
            <a:off x="3044952" y="2907792"/>
            <a:ext cx="2459736" cy="777240"/>
          </a:xfrm>
          <a:prstGeom prst="rect">
            <a:avLst/>
          </a:prstGeom>
          <a:solidFill>
            <a:srgbClr val="142B6F"/>
          </a:solidFill>
          <a:ln w="3810">
            <a:solidFill>
              <a:srgbClr val="1E3A8A"/>
            </a:solidFill>
            <a:prstDash val="solid"/>
          </a:ln>
        </p:spPr>
        <p:txBody>
          <a:bodyPr/>
          <a:lstStyle/>
          <a:p>
            <a:endParaRPr lang="fr-FR"/>
          </a:p>
        </p:txBody>
      </p:sp>
      <p:sp>
        <p:nvSpPr>
          <p:cNvPr id="65" name="Shape 41">
            <a:extLst>
              <a:ext uri="{FF2B5EF4-FFF2-40B4-BE49-F238E27FC236}">
                <a16:creationId xmlns:a16="http://schemas.microsoft.com/office/drawing/2014/main" id="{E3048875-204A-F2EE-CD44-5D5D8A666C24}"/>
              </a:ext>
            </a:extLst>
          </p:cNvPr>
          <p:cNvSpPr/>
          <p:nvPr/>
        </p:nvSpPr>
        <p:spPr>
          <a:xfrm>
            <a:off x="3044952" y="2907792"/>
            <a:ext cx="54864" cy="777240"/>
          </a:xfrm>
          <a:prstGeom prst="rect">
            <a:avLst/>
          </a:prstGeom>
          <a:solidFill>
            <a:srgbClr val="0EA5E9"/>
          </a:solidFill>
          <a:ln w="12700">
            <a:solidFill>
              <a:srgbClr val="0EA5E9"/>
            </a:solidFill>
            <a:prstDash val="solid"/>
          </a:ln>
        </p:spPr>
        <p:txBody>
          <a:bodyPr/>
          <a:lstStyle/>
          <a:p>
            <a:endParaRPr lang="fr-FR"/>
          </a:p>
        </p:txBody>
      </p:sp>
      <p:sp>
        <p:nvSpPr>
          <p:cNvPr id="66" name="Shape 42">
            <a:extLst>
              <a:ext uri="{FF2B5EF4-FFF2-40B4-BE49-F238E27FC236}">
                <a16:creationId xmlns:a16="http://schemas.microsoft.com/office/drawing/2014/main" id="{77054A44-1A56-9E74-1916-D771A291A4AC}"/>
              </a:ext>
            </a:extLst>
          </p:cNvPr>
          <p:cNvSpPr/>
          <p:nvPr/>
        </p:nvSpPr>
        <p:spPr>
          <a:xfrm>
            <a:off x="3163824" y="3026664"/>
            <a:ext cx="347472" cy="347472"/>
          </a:xfrm>
          <a:prstGeom prst="ellipse">
            <a:avLst/>
          </a:prstGeom>
          <a:solidFill>
            <a:srgbClr val="15487A"/>
          </a:solidFill>
          <a:ln w="6350">
            <a:solidFill>
              <a:srgbClr val="0EA5E9"/>
            </a:solidFill>
            <a:prstDash val="solid"/>
          </a:ln>
        </p:spPr>
        <p:txBody>
          <a:bodyPr/>
          <a:lstStyle/>
          <a:p>
            <a:endParaRPr lang="fr-FR"/>
          </a:p>
        </p:txBody>
      </p:sp>
      <p:pic>
        <p:nvPicPr>
          <p:cNvPr id="67" name="Image 4" descr="preencoded.png">
            <a:extLst>
              <a:ext uri="{FF2B5EF4-FFF2-40B4-BE49-F238E27FC236}">
                <a16:creationId xmlns:a16="http://schemas.microsoft.com/office/drawing/2014/main" id="{0944CF8C-D602-8B62-6F04-5C628F17F8AE}"/>
              </a:ext>
            </a:extLst>
          </p:cNvPr>
          <p:cNvPicPr>
            <a:picLocks noChangeAspect="1"/>
          </p:cNvPicPr>
          <p:nvPr/>
        </p:nvPicPr>
        <p:blipFill>
          <a:blip r:embed="rId7"/>
          <a:stretch>
            <a:fillRect/>
          </a:stretch>
        </p:blipFill>
        <p:spPr>
          <a:xfrm>
            <a:off x="3209544" y="3072384"/>
            <a:ext cx="256032" cy="256032"/>
          </a:xfrm>
          <a:prstGeom prst="rect">
            <a:avLst/>
          </a:prstGeom>
        </p:spPr>
      </p:pic>
      <p:sp>
        <p:nvSpPr>
          <p:cNvPr id="68" name="Text 43">
            <a:extLst>
              <a:ext uri="{FF2B5EF4-FFF2-40B4-BE49-F238E27FC236}">
                <a16:creationId xmlns:a16="http://schemas.microsoft.com/office/drawing/2014/main" id="{07D17CA3-186F-0641-238E-D945039F9995}"/>
              </a:ext>
            </a:extLst>
          </p:cNvPr>
          <p:cNvSpPr/>
          <p:nvPr/>
        </p:nvSpPr>
        <p:spPr>
          <a:xfrm>
            <a:off x="3584448" y="2980944"/>
            <a:ext cx="1911096" cy="201168"/>
          </a:xfrm>
          <a:prstGeom prst="rect">
            <a:avLst/>
          </a:prstGeom>
          <a:noFill/>
          <a:ln/>
        </p:spPr>
        <p:txBody>
          <a:bodyPr wrap="square" lIns="0" tIns="0" rIns="0" bIns="0" rtlCol="0" anchor="ctr"/>
          <a:lstStyle/>
          <a:p>
            <a:pPr marL="0" indent="0" algn="l">
              <a:buNone/>
            </a:pPr>
            <a:r>
              <a:rPr lang="en-US" sz="750" b="1" dirty="0">
                <a:solidFill>
                  <a:srgbClr val="0EA5E9"/>
                </a:solidFill>
                <a:latin typeface="Calibri" pitchFamily="34" charset="0"/>
                <a:ea typeface="Calibri" pitchFamily="34" charset="-122"/>
                <a:cs typeface="Calibri" pitchFamily="34" charset="-120"/>
              </a:rPr>
              <a:t>Module 5</a:t>
            </a:r>
            <a:endParaRPr lang="en-US" sz="750" dirty="0"/>
          </a:p>
        </p:txBody>
      </p:sp>
      <p:sp>
        <p:nvSpPr>
          <p:cNvPr id="69" name="Text 44">
            <a:extLst>
              <a:ext uri="{FF2B5EF4-FFF2-40B4-BE49-F238E27FC236}">
                <a16:creationId xmlns:a16="http://schemas.microsoft.com/office/drawing/2014/main" id="{CFFC951D-6944-6D78-FFA8-5F362CFF8659}"/>
              </a:ext>
            </a:extLst>
          </p:cNvPr>
          <p:cNvSpPr/>
          <p:nvPr/>
        </p:nvSpPr>
        <p:spPr>
          <a:xfrm>
            <a:off x="3512468" y="3140964"/>
            <a:ext cx="2267712" cy="4846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Automatiser le traitement des données</a:t>
            </a:r>
          </a:p>
        </p:txBody>
      </p:sp>
      <p:sp>
        <p:nvSpPr>
          <p:cNvPr id="70" name="Shape 45">
            <a:extLst>
              <a:ext uri="{FF2B5EF4-FFF2-40B4-BE49-F238E27FC236}">
                <a16:creationId xmlns:a16="http://schemas.microsoft.com/office/drawing/2014/main" id="{14072E58-E440-9AFB-884A-E61F06567058}"/>
              </a:ext>
            </a:extLst>
          </p:cNvPr>
          <p:cNvSpPr/>
          <p:nvPr/>
        </p:nvSpPr>
        <p:spPr>
          <a:xfrm>
            <a:off x="3044952" y="3730752"/>
            <a:ext cx="2459736" cy="777240"/>
          </a:xfrm>
          <a:prstGeom prst="rect">
            <a:avLst/>
          </a:prstGeom>
          <a:solidFill>
            <a:srgbClr val="142B6F"/>
          </a:solidFill>
          <a:ln w="3810">
            <a:solidFill>
              <a:srgbClr val="1E3A8A"/>
            </a:solidFill>
            <a:prstDash val="solid"/>
          </a:ln>
        </p:spPr>
        <p:txBody>
          <a:bodyPr/>
          <a:lstStyle/>
          <a:p>
            <a:endParaRPr lang="fr-FR"/>
          </a:p>
        </p:txBody>
      </p:sp>
      <p:sp>
        <p:nvSpPr>
          <p:cNvPr id="71" name="Shape 46">
            <a:extLst>
              <a:ext uri="{FF2B5EF4-FFF2-40B4-BE49-F238E27FC236}">
                <a16:creationId xmlns:a16="http://schemas.microsoft.com/office/drawing/2014/main" id="{6E7C6822-7AC6-862C-5429-73F33C0AB7D0}"/>
              </a:ext>
            </a:extLst>
          </p:cNvPr>
          <p:cNvSpPr/>
          <p:nvPr/>
        </p:nvSpPr>
        <p:spPr>
          <a:xfrm>
            <a:off x="3044952" y="3730752"/>
            <a:ext cx="54864" cy="777240"/>
          </a:xfrm>
          <a:prstGeom prst="rect">
            <a:avLst/>
          </a:prstGeom>
          <a:solidFill>
            <a:srgbClr val="0EA5E9"/>
          </a:solidFill>
          <a:ln w="12700">
            <a:solidFill>
              <a:srgbClr val="0EA5E9"/>
            </a:solidFill>
            <a:prstDash val="solid"/>
          </a:ln>
        </p:spPr>
        <p:txBody>
          <a:bodyPr/>
          <a:lstStyle/>
          <a:p>
            <a:endParaRPr lang="fr-FR"/>
          </a:p>
        </p:txBody>
      </p:sp>
      <p:sp>
        <p:nvSpPr>
          <p:cNvPr id="72" name="Shape 47">
            <a:extLst>
              <a:ext uri="{FF2B5EF4-FFF2-40B4-BE49-F238E27FC236}">
                <a16:creationId xmlns:a16="http://schemas.microsoft.com/office/drawing/2014/main" id="{290C0E44-FCDC-DC9A-B011-82D055A18E6F}"/>
              </a:ext>
            </a:extLst>
          </p:cNvPr>
          <p:cNvSpPr/>
          <p:nvPr/>
        </p:nvSpPr>
        <p:spPr>
          <a:xfrm>
            <a:off x="3163824" y="3849624"/>
            <a:ext cx="347472" cy="347472"/>
          </a:xfrm>
          <a:prstGeom prst="ellipse">
            <a:avLst/>
          </a:prstGeom>
          <a:solidFill>
            <a:srgbClr val="15487A"/>
          </a:solidFill>
          <a:ln w="6350">
            <a:solidFill>
              <a:srgbClr val="0EA5E9"/>
            </a:solidFill>
            <a:prstDash val="solid"/>
          </a:ln>
        </p:spPr>
        <p:txBody>
          <a:bodyPr/>
          <a:lstStyle/>
          <a:p>
            <a:endParaRPr lang="fr-FR"/>
          </a:p>
        </p:txBody>
      </p:sp>
      <p:pic>
        <p:nvPicPr>
          <p:cNvPr id="73" name="Image 5" descr="preencoded.png">
            <a:extLst>
              <a:ext uri="{FF2B5EF4-FFF2-40B4-BE49-F238E27FC236}">
                <a16:creationId xmlns:a16="http://schemas.microsoft.com/office/drawing/2014/main" id="{A80ED3E7-3593-BD04-94EE-ED8199D9658B}"/>
              </a:ext>
            </a:extLst>
          </p:cNvPr>
          <p:cNvPicPr>
            <a:picLocks noChangeAspect="1"/>
          </p:cNvPicPr>
          <p:nvPr/>
        </p:nvPicPr>
        <p:blipFill>
          <a:blip r:embed="rId8"/>
          <a:stretch>
            <a:fillRect/>
          </a:stretch>
        </p:blipFill>
        <p:spPr>
          <a:xfrm>
            <a:off x="3209544" y="3895344"/>
            <a:ext cx="256032" cy="256032"/>
          </a:xfrm>
          <a:prstGeom prst="rect">
            <a:avLst/>
          </a:prstGeom>
        </p:spPr>
      </p:pic>
      <p:sp>
        <p:nvSpPr>
          <p:cNvPr id="74" name="Text 48">
            <a:extLst>
              <a:ext uri="{FF2B5EF4-FFF2-40B4-BE49-F238E27FC236}">
                <a16:creationId xmlns:a16="http://schemas.microsoft.com/office/drawing/2014/main" id="{E10983DB-08C1-03B8-744F-551D7BAB89DF}"/>
              </a:ext>
            </a:extLst>
          </p:cNvPr>
          <p:cNvSpPr/>
          <p:nvPr/>
        </p:nvSpPr>
        <p:spPr>
          <a:xfrm>
            <a:off x="3584448" y="3803904"/>
            <a:ext cx="1911096" cy="201168"/>
          </a:xfrm>
          <a:prstGeom prst="rect">
            <a:avLst/>
          </a:prstGeom>
          <a:noFill/>
          <a:ln/>
        </p:spPr>
        <p:txBody>
          <a:bodyPr wrap="square" lIns="0" tIns="0" rIns="0" bIns="0" rtlCol="0" anchor="ctr"/>
          <a:lstStyle/>
          <a:p>
            <a:pPr marL="0" indent="0" algn="l">
              <a:buNone/>
            </a:pPr>
            <a:r>
              <a:rPr lang="en-US" sz="750" b="1" dirty="0">
                <a:solidFill>
                  <a:srgbClr val="0EA5E9"/>
                </a:solidFill>
                <a:latin typeface="Calibri" pitchFamily="34" charset="0"/>
                <a:ea typeface="Calibri" pitchFamily="34" charset="-122"/>
                <a:cs typeface="Calibri" pitchFamily="34" charset="-120"/>
              </a:rPr>
              <a:t>Module 6</a:t>
            </a:r>
            <a:endParaRPr lang="en-US" sz="750" dirty="0"/>
          </a:p>
        </p:txBody>
      </p:sp>
      <p:sp>
        <p:nvSpPr>
          <p:cNvPr id="75" name="Text 49">
            <a:extLst>
              <a:ext uri="{FF2B5EF4-FFF2-40B4-BE49-F238E27FC236}">
                <a16:creationId xmlns:a16="http://schemas.microsoft.com/office/drawing/2014/main" id="{B2958A6E-5C77-631B-C3D1-1BC865377AA1}"/>
              </a:ext>
            </a:extLst>
          </p:cNvPr>
          <p:cNvSpPr/>
          <p:nvPr/>
        </p:nvSpPr>
        <p:spPr>
          <a:xfrm>
            <a:off x="3584448" y="3986784"/>
            <a:ext cx="1911096" cy="4846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Connecter l'IA aux outils de travail</a:t>
            </a:r>
          </a:p>
        </p:txBody>
      </p:sp>
      <p:sp>
        <p:nvSpPr>
          <p:cNvPr id="76" name="Shape 50">
            <a:extLst>
              <a:ext uri="{FF2B5EF4-FFF2-40B4-BE49-F238E27FC236}">
                <a16:creationId xmlns:a16="http://schemas.microsoft.com/office/drawing/2014/main" id="{8C3ED139-19F4-6A04-CF7D-A7FD95A52304}"/>
              </a:ext>
            </a:extLst>
          </p:cNvPr>
          <p:cNvSpPr/>
          <p:nvPr/>
        </p:nvSpPr>
        <p:spPr>
          <a:xfrm>
            <a:off x="5733288" y="749808"/>
            <a:ext cx="2697480" cy="3950208"/>
          </a:xfrm>
          <a:prstGeom prst="rect">
            <a:avLst/>
          </a:prstGeom>
          <a:solidFill>
            <a:srgbClr val="102358"/>
          </a:solidFill>
          <a:ln w="6350">
            <a:solidFill>
              <a:srgbClr val="1E3A7A"/>
            </a:solidFill>
            <a:prstDash val="solid"/>
          </a:ln>
          <a:effectLst>
            <a:outerShdw blurRad="101600" dist="38100" dir="8100000" algn="bl" rotWithShape="0">
              <a:srgbClr val="000000">
                <a:alpha val="35000"/>
              </a:srgbClr>
            </a:outerShdw>
          </a:effectLst>
        </p:spPr>
        <p:txBody>
          <a:bodyPr/>
          <a:lstStyle/>
          <a:p>
            <a:endParaRPr lang="fr-FR"/>
          </a:p>
        </p:txBody>
      </p:sp>
      <p:sp>
        <p:nvSpPr>
          <p:cNvPr id="77" name="Shape 51">
            <a:extLst>
              <a:ext uri="{FF2B5EF4-FFF2-40B4-BE49-F238E27FC236}">
                <a16:creationId xmlns:a16="http://schemas.microsoft.com/office/drawing/2014/main" id="{CE11D26F-E7AD-06F0-4C25-D0FABF888B82}"/>
              </a:ext>
            </a:extLst>
          </p:cNvPr>
          <p:cNvSpPr/>
          <p:nvPr/>
        </p:nvSpPr>
        <p:spPr>
          <a:xfrm>
            <a:off x="5733288" y="749808"/>
            <a:ext cx="2697480" cy="64008"/>
          </a:xfrm>
          <a:prstGeom prst="rect">
            <a:avLst/>
          </a:prstGeom>
          <a:solidFill>
            <a:srgbClr val="06B6D4"/>
          </a:solidFill>
          <a:ln w="12700">
            <a:solidFill>
              <a:srgbClr val="06B6D4"/>
            </a:solidFill>
            <a:prstDash val="solid"/>
          </a:ln>
        </p:spPr>
        <p:txBody>
          <a:bodyPr/>
          <a:lstStyle/>
          <a:p>
            <a:endParaRPr lang="fr-FR"/>
          </a:p>
        </p:txBody>
      </p:sp>
      <p:sp>
        <p:nvSpPr>
          <p:cNvPr id="78" name="Shape 52">
            <a:extLst>
              <a:ext uri="{FF2B5EF4-FFF2-40B4-BE49-F238E27FC236}">
                <a16:creationId xmlns:a16="http://schemas.microsoft.com/office/drawing/2014/main" id="{9E99FBD7-4628-5B6D-084C-46F075AD30C7}"/>
              </a:ext>
            </a:extLst>
          </p:cNvPr>
          <p:cNvSpPr/>
          <p:nvPr/>
        </p:nvSpPr>
        <p:spPr>
          <a:xfrm>
            <a:off x="5897880" y="859536"/>
            <a:ext cx="475488" cy="475488"/>
          </a:xfrm>
          <a:prstGeom prst="ellipse">
            <a:avLst/>
          </a:prstGeom>
          <a:solidFill>
            <a:srgbClr val="06B6D4"/>
          </a:solidFill>
          <a:ln w="12700">
            <a:solidFill>
              <a:srgbClr val="06B6D4"/>
            </a:solidFill>
            <a:prstDash val="solid"/>
          </a:ln>
        </p:spPr>
        <p:txBody>
          <a:bodyPr/>
          <a:lstStyle/>
          <a:p>
            <a:endParaRPr lang="fr-FR"/>
          </a:p>
        </p:txBody>
      </p:sp>
      <p:sp>
        <p:nvSpPr>
          <p:cNvPr id="79" name="Text 53">
            <a:extLst>
              <a:ext uri="{FF2B5EF4-FFF2-40B4-BE49-F238E27FC236}">
                <a16:creationId xmlns:a16="http://schemas.microsoft.com/office/drawing/2014/main" id="{C259685C-17AE-2A43-A856-161C4E7CEED3}"/>
              </a:ext>
            </a:extLst>
          </p:cNvPr>
          <p:cNvSpPr/>
          <p:nvPr/>
        </p:nvSpPr>
        <p:spPr>
          <a:xfrm>
            <a:off x="5897880" y="859536"/>
            <a:ext cx="475488"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80" name="Text 54">
            <a:extLst>
              <a:ext uri="{FF2B5EF4-FFF2-40B4-BE49-F238E27FC236}">
                <a16:creationId xmlns:a16="http://schemas.microsoft.com/office/drawing/2014/main" id="{BF2E2F4A-2760-0BB4-B181-6C014DF056B8}"/>
              </a:ext>
            </a:extLst>
          </p:cNvPr>
          <p:cNvSpPr/>
          <p:nvPr/>
        </p:nvSpPr>
        <p:spPr>
          <a:xfrm>
            <a:off x="6446520" y="886968"/>
            <a:ext cx="1920240" cy="201168"/>
          </a:xfrm>
          <a:prstGeom prst="rect">
            <a:avLst/>
          </a:prstGeom>
          <a:solidFill>
            <a:schemeClr val="accent1"/>
          </a:solidFill>
          <a:ln/>
        </p:spPr>
        <p:txBody>
          <a:bodyPr wrap="square" lIns="0" tIns="0" rIns="0" bIns="0" rtlCol="0" anchor="ctr"/>
          <a:lstStyle/>
          <a:p>
            <a:pPr marL="0" indent="0" algn="l">
              <a:buNone/>
            </a:pPr>
            <a:r>
              <a:rPr lang="en-US" sz="1200" b="1" kern="0" spc="150" dirty="0">
                <a:solidFill>
                  <a:srgbClr val="FFFFFF"/>
                </a:solidFill>
                <a:latin typeface="Calibri" pitchFamily="34" charset="0"/>
                <a:ea typeface="Calibri" pitchFamily="34" charset="-122"/>
                <a:cs typeface="Calibri" pitchFamily="34" charset="-120"/>
              </a:rPr>
              <a:t>JOUR 3</a:t>
            </a:r>
            <a:endParaRPr lang="en-US" sz="1200" dirty="0"/>
          </a:p>
        </p:txBody>
      </p:sp>
      <p:sp>
        <p:nvSpPr>
          <p:cNvPr id="81" name="Text 55">
            <a:extLst>
              <a:ext uri="{FF2B5EF4-FFF2-40B4-BE49-F238E27FC236}">
                <a16:creationId xmlns:a16="http://schemas.microsoft.com/office/drawing/2014/main" id="{1D73BA4A-4FF2-36BF-5D33-0E4E24382C45}"/>
              </a:ext>
            </a:extLst>
          </p:cNvPr>
          <p:cNvSpPr/>
          <p:nvPr/>
        </p:nvSpPr>
        <p:spPr>
          <a:xfrm>
            <a:off x="5852160" y="1408176"/>
            <a:ext cx="2459736" cy="502920"/>
          </a:xfrm>
          <a:prstGeom prst="rect">
            <a:avLst/>
          </a:prstGeom>
          <a:noFill/>
          <a:ln/>
        </p:spPr>
        <p:txBody>
          <a:bodyPr wrap="square" lIns="0" tIns="0" rIns="0" bIns="0" rtlCol="0" anchor="t"/>
          <a:lstStyle/>
          <a:p>
            <a:pPr marL="0" indent="0" algn="l">
              <a:buNone/>
            </a:pPr>
            <a:r>
              <a:rPr lang="en-US" sz="850" i="1" dirty="0">
                <a:solidFill>
                  <a:srgbClr val="BAD6F9"/>
                </a:solidFill>
                <a:latin typeface="Calibri" pitchFamily="34" charset="0"/>
                <a:ea typeface="Calibri" pitchFamily="34" charset="-122"/>
                <a:cs typeface="Calibri" pitchFamily="34" charset="-120"/>
              </a:rPr>
              <a:t>Mise en place de workflows intelligents</a:t>
            </a:r>
            <a:endParaRPr lang="en-US" sz="850" dirty="0"/>
          </a:p>
        </p:txBody>
      </p:sp>
      <p:sp>
        <p:nvSpPr>
          <p:cNvPr id="82" name="Shape 56">
            <a:extLst>
              <a:ext uri="{FF2B5EF4-FFF2-40B4-BE49-F238E27FC236}">
                <a16:creationId xmlns:a16="http://schemas.microsoft.com/office/drawing/2014/main" id="{B1C2815B-4311-27D2-5471-9F21BB90F8C3}"/>
              </a:ext>
            </a:extLst>
          </p:cNvPr>
          <p:cNvSpPr/>
          <p:nvPr/>
        </p:nvSpPr>
        <p:spPr>
          <a:xfrm>
            <a:off x="5852160" y="1956816"/>
            <a:ext cx="2459736" cy="0"/>
          </a:xfrm>
          <a:prstGeom prst="line">
            <a:avLst/>
          </a:prstGeom>
          <a:noFill/>
          <a:ln w="10160">
            <a:solidFill>
              <a:srgbClr val="06B6D4"/>
            </a:solidFill>
            <a:prstDash val="solid"/>
          </a:ln>
        </p:spPr>
        <p:txBody>
          <a:bodyPr/>
          <a:lstStyle/>
          <a:p>
            <a:endParaRPr lang="fr-FR"/>
          </a:p>
        </p:txBody>
      </p:sp>
      <p:sp>
        <p:nvSpPr>
          <p:cNvPr id="83" name="Shape 57">
            <a:extLst>
              <a:ext uri="{FF2B5EF4-FFF2-40B4-BE49-F238E27FC236}">
                <a16:creationId xmlns:a16="http://schemas.microsoft.com/office/drawing/2014/main" id="{9122492A-82D9-EF11-9A33-573FECC7327B}"/>
              </a:ext>
            </a:extLst>
          </p:cNvPr>
          <p:cNvSpPr/>
          <p:nvPr/>
        </p:nvSpPr>
        <p:spPr>
          <a:xfrm>
            <a:off x="5852160" y="2125980"/>
            <a:ext cx="2459736" cy="1005840"/>
          </a:xfrm>
          <a:prstGeom prst="rect">
            <a:avLst/>
          </a:prstGeom>
          <a:solidFill>
            <a:srgbClr val="142B6F"/>
          </a:solidFill>
          <a:ln w="3810">
            <a:solidFill>
              <a:srgbClr val="1E3A8A"/>
            </a:solidFill>
            <a:prstDash val="solid"/>
          </a:ln>
        </p:spPr>
        <p:txBody>
          <a:bodyPr/>
          <a:lstStyle/>
          <a:p>
            <a:endParaRPr lang="fr-FR"/>
          </a:p>
        </p:txBody>
      </p:sp>
      <p:sp>
        <p:nvSpPr>
          <p:cNvPr id="84" name="Shape 58">
            <a:extLst>
              <a:ext uri="{FF2B5EF4-FFF2-40B4-BE49-F238E27FC236}">
                <a16:creationId xmlns:a16="http://schemas.microsoft.com/office/drawing/2014/main" id="{8A8D35B8-6ECB-0A5D-02C7-D31840C464B2}"/>
              </a:ext>
            </a:extLst>
          </p:cNvPr>
          <p:cNvSpPr/>
          <p:nvPr/>
        </p:nvSpPr>
        <p:spPr>
          <a:xfrm>
            <a:off x="5852160" y="2084832"/>
            <a:ext cx="54864" cy="1005840"/>
          </a:xfrm>
          <a:prstGeom prst="rect">
            <a:avLst/>
          </a:prstGeom>
          <a:solidFill>
            <a:srgbClr val="06B6D4"/>
          </a:solidFill>
          <a:ln w="12700">
            <a:solidFill>
              <a:srgbClr val="06B6D4"/>
            </a:solidFill>
            <a:prstDash val="solid"/>
          </a:ln>
        </p:spPr>
        <p:txBody>
          <a:bodyPr/>
          <a:lstStyle/>
          <a:p>
            <a:endParaRPr lang="fr-FR"/>
          </a:p>
        </p:txBody>
      </p:sp>
      <p:sp>
        <p:nvSpPr>
          <p:cNvPr id="85" name="Shape 59">
            <a:extLst>
              <a:ext uri="{FF2B5EF4-FFF2-40B4-BE49-F238E27FC236}">
                <a16:creationId xmlns:a16="http://schemas.microsoft.com/office/drawing/2014/main" id="{FEEDD43B-A0EE-5CEF-6405-9C36DA724A12}"/>
              </a:ext>
            </a:extLst>
          </p:cNvPr>
          <p:cNvSpPr/>
          <p:nvPr/>
        </p:nvSpPr>
        <p:spPr>
          <a:xfrm>
            <a:off x="5971032" y="2203704"/>
            <a:ext cx="347472" cy="347472"/>
          </a:xfrm>
          <a:prstGeom prst="ellipse">
            <a:avLst/>
          </a:prstGeom>
          <a:solidFill>
            <a:srgbClr val="134D6B"/>
          </a:solidFill>
          <a:ln w="6350">
            <a:solidFill>
              <a:srgbClr val="06B6D4"/>
            </a:solidFill>
            <a:prstDash val="solid"/>
          </a:ln>
        </p:spPr>
        <p:txBody>
          <a:bodyPr/>
          <a:lstStyle/>
          <a:p>
            <a:endParaRPr lang="fr-FR"/>
          </a:p>
        </p:txBody>
      </p:sp>
      <p:pic>
        <p:nvPicPr>
          <p:cNvPr id="86" name="Image 6" descr="preencoded.png">
            <a:extLst>
              <a:ext uri="{FF2B5EF4-FFF2-40B4-BE49-F238E27FC236}">
                <a16:creationId xmlns:a16="http://schemas.microsoft.com/office/drawing/2014/main" id="{4CB426EF-6958-CFAD-ED70-9EA8B8A3988D}"/>
              </a:ext>
            </a:extLst>
          </p:cNvPr>
          <p:cNvPicPr>
            <a:picLocks noChangeAspect="1"/>
          </p:cNvPicPr>
          <p:nvPr/>
        </p:nvPicPr>
        <p:blipFill>
          <a:blip r:embed="rId9"/>
          <a:stretch>
            <a:fillRect/>
          </a:stretch>
        </p:blipFill>
        <p:spPr>
          <a:xfrm>
            <a:off x="6016752" y="2249424"/>
            <a:ext cx="256032" cy="256032"/>
          </a:xfrm>
          <a:prstGeom prst="rect">
            <a:avLst/>
          </a:prstGeom>
        </p:spPr>
      </p:pic>
      <p:sp>
        <p:nvSpPr>
          <p:cNvPr id="87" name="Text 60">
            <a:extLst>
              <a:ext uri="{FF2B5EF4-FFF2-40B4-BE49-F238E27FC236}">
                <a16:creationId xmlns:a16="http://schemas.microsoft.com/office/drawing/2014/main" id="{6295135D-7E3E-8D07-BE7F-41112F162DE3}"/>
              </a:ext>
            </a:extLst>
          </p:cNvPr>
          <p:cNvSpPr/>
          <p:nvPr/>
        </p:nvSpPr>
        <p:spPr>
          <a:xfrm>
            <a:off x="6391656" y="2157984"/>
            <a:ext cx="1911096" cy="201168"/>
          </a:xfrm>
          <a:prstGeom prst="rect">
            <a:avLst/>
          </a:prstGeom>
          <a:noFill/>
          <a:ln/>
        </p:spPr>
        <p:txBody>
          <a:bodyPr wrap="square" lIns="0" tIns="0" rIns="0" bIns="0" rtlCol="0" anchor="ctr"/>
          <a:lstStyle/>
          <a:p>
            <a:pPr marL="0" indent="0" algn="l">
              <a:buNone/>
            </a:pPr>
            <a:r>
              <a:rPr lang="en-US" sz="750" b="1" dirty="0">
                <a:solidFill>
                  <a:srgbClr val="06B6D4"/>
                </a:solidFill>
                <a:latin typeface="Calibri" pitchFamily="34" charset="0"/>
                <a:ea typeface="Calibri" pitchFamily="34" charset="-122"/>
                <a:cs typeface="Calibri" pitchFamily="34" charset="-120"/>
              </a:rPr>
              <a:t>Module 7</a:t>
            </a:r>
            <a:endParaRPr lang="en-US" sz="750" dirty="0"/>
          </a:p>
        </p:txBody>
      </p:sp>
      <p:sp>
        <p:nvSpPr>
          <p:cNvPr id="88" name="Text 61">
            <a:extLst>
              <a:ext uri="{FF2B5EF4-FFF2-40B4-BE49-F238E27FC236}">
                <a16:creationId xmlns:a16="http://schemas.microsoft.com/office/drawing/2014/main" id="{4A19BFA6-15BD-C49E-9A66-AF31CAE20F04}"/>
              </a:ext>
            </a:extLst>
          </p:cNvPr>
          <p:cNvSpPr/>
          <p:nvPr/>
        </p:nvSpPr>
        <p:spPr>
          <a:xfrm>
            <a:off x="6391656" y="2340864"/>
            <a:ext cx="1911096" cy="7132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Automatiser les workflows </a:t>
            </a:r>
            <a:r>
              <a:rPr lang="en-US" sz="1600" b="1" dirty="0" err="1">
                <a:solidFill>
                  <a:srgbClr val="FFFFFF"/>
                </a:solidFill>
                <a:latin typeface="Calibri" pitchFamily="34" charset="0"/>
                <a:ea typeface="Calibri" pitchFamily="34" charset="-122"/>
                <a:cs typeface="Calibri" pitchFamily="34" charset="-120"/>
              </a:rPr>
              <a:t>administratifs</a:t>
            </a:r>
            <a:endParaRPr lang="en-US" sz="1600" b="1" dirty="0">
              <a:solidFill>
                <a:srgbClr val="FFFFFF"/>
              </a:solidFill>
              <a:latin typeface="Calibri" pitchFamily="34" charset="0"/>
              <a:ea typeface="Calibri" pitchFamily="34" charset="-122"/>
              <a:cs typeface="Calibri" pitchFamily="34" charset="-120"/>
            </a:endParaRPr>
          </a:p>
        </p:txBody>
      </p:sp>
      <p:sp>
        <p:nvSpPr>
          <p:cNvPr id="89" name="Shape 62">
            <a:extLst>
              <a:ext uri="{FF2B5EF4-FFF2-40B4-BE49-F238E27FC236}">
                <a16:creationId xmlns:a16="http://schemas.microsoft.com/office/drawing/2014/main" id="{E0B50CF7-326B-A173-453F-B0627E71202A}"/>
              </a:ext>
            </a:extLst>
          </p:cNvPr>
          <p:cNvSpPr/>
          <p:nvPr/>
        </p:nvSpPr>
        <p:spPr>
          <a:xfrm>
            <a:off x="5852160" y="3136392"/>
            <a:ext cx="2459736" cy="1005840"/>
          </a:xfrm>
          <a:prstGeom prst="rect">
            <a:avLst/>
          </a:prstGeom>
          <a:solidFill>
            <a:srgbClr val="142B6F"/>
          </a:solidFill>
          <a:ln w="3810">
            <a:solidFill>
              <a:srgbClr val="1E3A8A"/>
            </a:solidFill>
            <a:prstDash val="solid"/>
          </a:ln>
        </p:spPr>
        <p:txBody>
          <a:bodyPr/>
          <a:lstStyle/>
          <a:p>
            <a:endParaRPr lang="fr-FR"/>
          </a:p>
        </p:txBody>
      </p:sp>
      <p:sp>
        <p:nvSpPr>
          <p:cNvPr id="90" name="Shape 63">
            <a:extLst>
              <a:ext uri="{FF2B5EF4-FFF2-40B4-BE49-F238E27FC236}">
                <a16:creationId xmlns:a16="http://schemas.microsoft.com/office/drawing/2014/main" id="{D79A0210-E467-2618-AEDD-790D2C4D2A40}"/>
              </a:ext>
            </a:extLst>
          </p:cNvPr>
          <p:cNvSpPr/>
          <p:nvPr/>
        </p:nvSpPr>
        <p:spPr>
          <a:xfrm>
            <a:off x="5852160" y="3136392"/>
            <a:ext cx="54864" cy="1005840"/>
          </a:xfrm>
          <a:prstGeom prst="rect">
            <a:avLst/>
          </a:prstGeom>
          <a:solidFill>
            <a:srgbClr val="06B6D4"/>
          </a:solidFill>
          <a:ln w="12700">
            <a:solidFill>
              <a:srgbClr val="06B6D4"/>
            </a:solidFill>
            <a:prstDash val="solid"/>
          </a:ln>
        </p:spPr>
        <p:txBody>
          <a:bodyPr/>
          <a:lstStyle/>
          <a:p>
            <a:endParaRPr lang="fr-FR"/>
          </a:p>
        </p:txBody>
      </p:sp>
      <p:sp>
        <p:nvSpPr>
          <p:cNvPr id="91" name="Shape 64">
            <a:extLst>
              <a:ext uri="{FF2B5EF4-FFF2-40B4-BE49-F238E27FC236}">
                <a16:creationId xmlns:a16="http://schemas.microsoft.com/office/drawing/2014/main" id="{B604685E-0BC4-E1A6-F7AC-DA47DB0BEB15}"/>
              </a:ext>
            </a:extLst>
          </p:cNvPr>
          <p:cNvSpPr/>
          <p:nvPr/>
        </p:nvSpPr>
        <p:spPr>
          <a:xfrm>
            <a:off x="5971032" y="3255264"/>
            <a:ext cx="347472" cy="347472"/>
          </a:xfrm>
          <a:prstGeom prst="ellipse">
            <a:avLst/>
          </a:prstGeom>
          <a:solidFill>
            <a:srgbClr val="134D6B"/>
          </a:solidFill>
          <a:ln w="6350">
            <a:solidFill>
              <a:srgbClr val="06B6D4"/>
            </a:solidFill>
            <a:prstDash val="solid"/>
          </a:ln>
        </p:spPr>
        <p:txBody>
          <a:bodyPr/>
          <a:lstStyle/>
          <a:p>
            <a:endParaRPr lang="fr-FR"/>
          </a:p>
        </p:txBody>
      </p:sp>
      <p:pic>
        <p:nvPicPr>
          <p:cNvPr id="92" name="Image 7" descr="preencoded.png">
            <a:extLst>
              <a:ext uri="{FF2B5EF4-FFF2-40B4-BE49-F238E27FC236}">
                <a16:creationId xmlns:a16="http://schemas.microsoft.com/office/drawing/2014/main" id="{75E29A21-BD79-1DEB-C98F-AC1522DE8C6F}"/>
              </a:ext>
            </a:extLst>
          </p:cNvPr>
          <p:cNvPicPr>
            <a:picLocks noChangeAspect="1"/>
          </p:cNvPicPr>
          <p:nvPr/>
        </p:nvPicPr>
        <p:blipFill>
          <a:blip r:embed="rId10"/>
          <a:stretch>
            <a:fillRect/>
          </a:stretch>
        </p:blipFill>
        <p:spPr>
          <a:xfrm>
            <a:off x="6016752" y="3300984"/>
            <a:ext cx="256032" cy="256032"/>
          </a:xfrm>
          <a:prstGeom prst="rect">
            <a:avLst/>
          </a:prstGeom>
        </p:spPr>
      </p:pic>
      <p:sp>
        <p:nvSpPr>
          <p:cNvPr id="93" name="Text 65">
            <a:extLst>
              <a:ext uri="{FF2B5EF4-FFF2-40B4-BE49-F238E27FC236}">
                <a16:creationId xmlns:a16="http://schemas.microsoft.com/office/drawing/2014/main" id="{F12D4256-9C9D-B5A7-E0B7-ED1CEE80557C}"/>
              </a:ext>
            </a:extLst>
          </p:cNvPr>
          <p:cNvSpPr/>
          <p:nvPr/>
        </p:nvSpPr>
        <p:spPr>
          <a:xfrm>
            <a:off x="6391656" y="3209544"/>
            <a:ext cx="1911096" cy="201168"/>
          </a:xfrm>
          <a:prstGeom prst="rect">
            <a:avLst/>
          </a:prstGeom>
          <a:noFill/>
          <a:ln/>
        </p:spPr>
        <p:txBody>
          <a:bodyPr wrap="square" lIns="0" tIns="0" rIns="0" bIns="0" rtlCol="0" anchor="ctr"/>
          <a:lstStyle/>
          <a:p>
            <a:pPr marL="0" indent="0" algn="l">
              <a:buNone/>
            </a:pPr>
            <a:r>
              <a:rPr lang="en-US" sz="750" b="1" dirty="0">
                <a:solidFill>
                  <a:srgbClr val="06B6D4"/>
                </a:solidFill>
                <a:latin typeface="Calibri" pitchFamily="34" charset="0"/>
                <a:ea typeface="Calibri" pitchFamily="34" charset="-122"/>
                <a:cs typeface="Calibri" pitchFamily="34" charset="-120"/>
              </a:rPr>
              <a:t>Module 8</a:t>
            </a:r>
            <a:endParaRPr lang="en-US" sz="750" dirty="0"/>
          </a:p>
        </p:txBody>
      </p:sp>
      <p:sp>
        <p:nvSpPr>
          <p:cNvPr id="94" name="Text 66">
            <a:extLst>
              <a:ext uri="{FF2B5EF4-FFF2-40B4-BE49-F238E27FC236}">
                <a16:creationId xmlns:a16="http://schemas.microsoft.com/office/drawing/2014/main" id="{3FC2A2BC-CD4D-C779-882B-902C072C9022}"/>
              </a:ext>
            </a:extLst>
          </p:cNvPr>
          <p:cNvSpPr/>
          <p:nvPr/>
        </p:nvSpPr>
        <p:spPr>
          <a:xfrm>
            <a:off x="6391656" y="3392424"/>
            <a:ext cx="1911096" cy="713232"/>
          </a:xfrm>
          <a:prstGeom prst="rect">
            <a:avLst/>
          </a:prstGeom>
          <a:noFill/>
          <a:ln/>
        </p:spPr>
        <p:txBody>
          <a:bodyPr wrap="square" lIns="0" tIns="0" rIns="0" bIns="0" rtlCol="0" anchor="t"/>
          <a:lstStyle/>
          <a:p>
            <a:r>
              <a:rPr lang="en-US" sz="1600" b="1" dirty="0">
                <a:solidFill>
                  <a:srgbClr val="FFFFFF"/>
                </a:solidFill>
                <a:latin typeface="Calibri" pitchFamily="34" charset="0"/>
                <a:ea typeface="Calibri" pitchFamily="34" charset="-122"/>
                <a:cs typeface="Calibri" pitchFamily="34" charset="-120"/>
              </a:rPr>
              <a:t>Atelier pratique – Système </a:t>
            </a:r>
            <a:r>
              <a:rPr lang="en-US" sz="1600" b="1" dirty="0" err="1">
                <a:solidFill>
                  <a:srgbClr val="FFFFFF"/>
                </a:solidFill>
                <a:latin typeface="Calibri" pitchFamily="34" charset="0"/>
                <a:ea typeface="Calibri" pitchFamily="34" charset="-122"/>
                <a:cs typeface="Calibri" pitchFamily="34" charset="-120"/>
              </a:rPr>
              <a:t>d'automatisation</a:t>
            </a:r>
            <a:endParaRPr lang="en-US" sz="1600" b="1" dirty="0">
              <a:solidFill>
                <a:srgbClr val="FFFFFF"/>
              </a:solidFill>
              <a:latin typeface="Calibri" pitchFamily="34" charset="0"/>
              <a:ea typeface="Calibri" pitchFamily="34" charset="-122"/>
              <a:cs typeface="Calibri" pitchFamily="34" charset="-120"/>
            </a:endParaRPr>
          </a:p>
        </p:txBody>
      </p:sp>
      <p:sp>
        <p:nvSpPr>
          <p:cNvPr id="95" name="Shape 67">
            <a:extLst>
              <a:ext uri="{FF2B5EF4-FFF2-40B4-BE49-F238E27FC236}">
                <a16:creationId xmlns:a16="http://schemas.microsoft.com/office/drawing/2014/main" id="{36CFA798-EB73-A6FB-23A7-226BA14AB5C7}"/>
              </a:ext>
            </a:extLst>
          </p:cNvPr>
          <p:cNvSpPr/>
          <p:nvPr/>
        </p:nvSpPr>
        <p:spPr>
          <a:xfrm>
            <a:off x="0" y="4828032"/>
            <a:ext cx="9144000" cy="315468"/>
          </a:xfrm>
          <a:prstGeom prst="rect">
            <a:avLst/>
          </a:prstGeom>
          <a:solidFill>
            <a:srgbClr val="080F24"/>
          </a:solidFill>
          <a:ln w="12700">
            <a:solidFill>
              <a:srgbClr val="080F24"/>
            </a:solidFill>
            <a:prstDash val="solid"/>
          </a:ln>
        </p:spPr>
        <p:txBody>
          <a:bodyPr/>
          <a:lstStyle/>
          <a:p>
            <a:endParaRPr lang="fr-FR"/>
          </a:p>
        </p:txBody>
      </p:sp>
      <p:sp>
        <p:nvSpPr>
          <p:cNvPr id="96" name="Shape 68">
            <a:extLst>
              <a:ext uri="{FF2B5EF4-FFF2-40B4-BE49-F238E27FC236}">
                <a16:creationId xmlns:a16="http://schemas.microsoft.com/office/drawing/2014/main" id="{21266EAF-55DF-891E-C4F6-246006AF667F}"/>
              </a:ext>
            </a:extLst>
          </p:cNvPr>
          <p:cNvSpPr/>
          <p:nvPr/>
        </p:nvSpPr>
        <p:spPr>
          <a:xfrm>
            <a:off x="0" y="4818888"/>
            <a:ext cx="9144000" cy="22860"/>
          </a:xfrm>
          <a:prstGeom prst="rect">
            <a:avLst/>
          </a:prstGeom>
          <a:solidFill>
            <a:srgbClr val="3B82F6"/>
          </a:solidFill>
          <a:ln w="12700">
            <a:solidFill>
              <a:srgbClr val="3B82F6"/>
            </a:solidFill>
            <a:prstDash val="solid"/>
          </a:ln>
        </p:spPr>
        <p:txBody>
          <a:bodyPr/>
          <a:lstStyle/>
          <a:p>
            <a:endParaRPr lang="fr-FR"/>
          </a:p>
        </p:txBody>
      </p:sp>
      <p:sp>
        <p:nvSpPr>
          <p:cNvPr id="97" name="Text 69">
            <a:extLst>
              <a:ext uri="{FF2B5EF4-FFF2-40B4-BE49-F238E27FC236}">
                <a16:creationId xmlns:a16="http://schemas.microsoft.com/office/drawing/2014/main" id="{1B912F5C-8F4F-7BD7-3705-495681EBF387}"/>
              </a:ext>
            </a:extLst>
          </p:cNvPr>
          <p:cNvSpPr/>
          <p:nvPr/>
        </p:nvSpPr>
        <p:spPr>
          <a:xfrm>
            <a:off x="0" y="4837176"/>
            <a:ext cx="9144000" cy="292608"/>
          </a:xfrm>
          <a:prstGeom prst="rect">
            <a:avLst/>
          </a:prstGeom>
          <a:noFill/>
          <a:ln/>
        </p:spPr>
        <p:txBody>
          <a:bodyPr wrap="square" lIns="0" tIns="0" rIns="0" bIns="0" rtlCol="0" anchor="ctr"/>
          <a:lstStyle/>
          <a:p>
            <a:pPr marL="0" indent="0" algn="ctr">
              <a:buNone/>
            </a:pPr>
            <a:r>
              <a:rPr lang="en-US" sz="800" i="1" dirty="0">
                <a:solidFill>
                  <a:srgbClr val="BAD6F9"/>
                </a:solidFill>
                <a:latin typeface="Calibri" pitchFamily="34" charset="0"/>
                <a:ea typeface="Calibri" pitchFamily="34" charset="-122"/>
                <a:cs typeface="Calibri" pitchFamily="34" charset="-120"/>
              </a:rPr>
              <a:t>✦  Formation pratique orientée productivité et automatisation des processus administratifs  ✦</a:t>
            </a:r>
            <a:endParaRPr lang="en-US" sz="800" dirty="0"/>
          </a:p>
        </p:txBody>
      </p:sp>
      <p:sp>
        <p:nvSpPr>
          <p:cNvPr id="98" name="Shape 70">
            <a:extLst>
              <a:ext uri="{FF2B5EF4-FFF2-40B4-BE49-F238E27FC236}">
                <a16:creationId xmlns:a16="http://schemas.microsoft.com/office/drawing/2014/main" id="{41C25703-381A-B475-3090-26F638D051B2}"/>
              </a:ext>
            </a:extLst>
          </p:cNvPr>
          <p:cNvSpPr/>
          <p:nvPr/>
        </p:nvSpPr>
        <p:spPr>
          <a:xfrm>
            <a:off x="8732520" y="713232"/>
            <a:ext cx="411480" cy="36576"/>
          </a:xfrm>
          <a:prstGeom prst="rect">
            <a:avLst/>
          </a:prstGeom>
          <a:solidFill>
            <a:srgbClr val="3B82F6"/>
          </a:solidFill>
          <a:ln w="12700">
            <a:solidFill>
              <a:srgbClr val="3B82F6"/>
            </a:solidFill>
            <a:prstDash val="solid"/>
          </a:ln>
        </p:spPr>
        <p:txBody>
          <a:bodyPr/>
          <a:lstStyle/>
          <a:p>
            <a:endParaRPr lang="fr-FR"/>
          </a:p>
        </p:txBody>
      </p:sp>
      <p:sp>
        <p:nvSpPr>
          <p:cNvPr id="99" name="Shape 71">
            <a:extLst>
              <a:ext uri="{FF2B5EF4-FFF2-40B4-BE49-F238E27FC236}">
                <a16:creationId xmlns:a16="http://schemas.microsoft.com/office/drawing/2014/main" id="{EAEC22C8-05FF-3A9D-30CB-B7746A658542}"/>
              </a:ext>
            </a:extLst>
          </p:cNvPr>
          <p:cNvSpPr/>
          <p:nvPr/>
        </p:nvSpPr>
        <p:spPr>
          <a:xfrm>
            <a:off x="8732520" y="713232"/>
            <a:ext cx="36576" cy="411480"/>
          </a:xfrm>
          <a:prstGeom prst="rect">
            <a:avLst/>
          </a:prstGeom>
          <a:solidFill>
            <a:srgbClr val="3B82F6"/>
          </a:solidFill>
          <a:ln w="12700">
            <a:solidFill>
              <a:srgbClr val="3B82F6"/>
            </a:solidFill>
            <a:prstDash val="solid"/>
          </a:ln>
        </p:spPr>
        <p:txBody>
          <a:bodyPr/>
          <a:lstStyle/>
          <a:p>
            <a:endParaRPr lang="fr-F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A4A8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7B20"/>
          </a:solidFill>
          <a:ln w="12700">
            <a:solidFill>
              <a:srgbClr val="F47B20"/>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0D2B5A"/>
          </a:solidFill>
          <a:ln w="12700">
            <a:solidFill>
              <a:srgbClr val="0D2B5A"/>
            </a:solidFill>
            <a:prstDash val="solid"/>
          </a:ln>
        </p:spPr>
        <p:txBody>
          <a:bodyPr/>
          <a:lstStyle/>
          <a:p>
            <a:endParaRPr lang="fr-FR"/>
          </a:p>
        </p:txBody>
      </p:sp>
      <p:sp>
        <p:nvSpPr>
          <p:cNvPr id="4" name="Shape 2"/>
          <p:cNvSpPr/>
          <p:nvPr/>
        </p:nvSpPr>
        <p:spPr>
          <a:xfrm>
            <a:off x="6400800" y="-914400"/>
            <a:ext cx="4114800" cy="4114800"/>
          </a:xfrm>
          <a:prstGeom prst="ellipse">
            <a:avLst/>
          </a:prstGeom>
          <a:solidFill>
            <a:srgbClr val="3B82D0">
              <a:alpha val="25000"/>
            </a:srgbClr>
          </a:solidFill>
          <a:ln w="12700">
            <a:solidFill>
              <a:srgbClr val="3B82D0">
                <a:alpha val="25000"/>
              </a:srgbClr>
            </a:solidFill>
            <a:prstDash val="solid"/>
          </a:ln>
        </p:spPr>
        <p:txBody>
          <a:bodyPr/>
          <a:lstStyle/>
          <a:p>
            <a:endParaRPr lang="fr-FR"/>
          </a:p>
        </p:txBody>
      </p:sp>
      <p:pic>
        <p:nvPicPr>
          <p:cNvPr id="5" name="Image 0" descr="preencoded.png"/>
          <p:cNvPicPr>
            <a:picLocks noChangeAspect="1"/>
          </p:cNvPicPr>
          <p:nvPr/>
        </p:nvPicPr>
        <p:blipFill>
          <a:blip r:embed="rId3"/>
          <a:stretch>
            <a:fillRect/>
          </a:stretch>
        </p:blipFill>
        <p:spPr>
          <a:xfrm>
            <a:off x="6583680" y="1280160"/>
            <a:ext cx="1828800" cy="1828800"/>
          </a:xfrm>
          <a:prstGeom prst="rect">
            <a:avLst/>
          </a:prstGeom>
        </p:spPr>
      </p:pic>
      <p:sp>
        <p:nvSpPr>
          <p:cNvPr id="6" name="Text 3"/>
          <p:cNvSpPr/>
          <p:nvPr/>
        </p:nvSpPr>
        <p:spPr>
          <a:xfrm>
            <a:off x="457200" y="640080"/>
            <a:ext cx="5486400" cy="502920"/>
          </a:xfrm>
          <a:prstGeom prst="rect">
            <a:avLst/>
          </a:prstGeom>
          <a:noFill/>
          <a:ln/>
        </p:spPr>
        <p:txBody>
          <a:bodyPr wrap="square" rtlCol="0" anchor="ctr"/>
          <a:lstStyle/>
          <a:p>
            <a:pPr marL="0" indent="0" algn="l">
              <a:buNone/>
            </a:pPr>
            <a:r>
              <a:rPr lang="en-US" sz="1300" b="1" kern="0" spc="400" dirty="0">
                <a:solidFill>
                  <a:srgbClr val="F47B20"/>
                </a:solidFill>
                <a:latin typeface="Calibri" pitchFamily="34" charset="0"/>
                <a:ea typeface="Calibri" pitchFamily="34" charset="-122"/>
                <a:cs typeface="Calibri" pitchFamily="34" charset="-120"/>
              </a:rPr>
              <a:t>MODULE 1</a:t>
            </a:r>
            <a:endParaRPr lang="en-US" sz="1300" dirty="0"/>
          </a:p>
        </p:txBody>
      </p:sp>
      <p:sp>
        <p:nvSpPr>
          <p:cNvPr id="7" name="Text 4"/>
          <p:cNvSpPr/>
          <p:nvPr/>
        </p:nvSpPr>
        <p:spPr>
          <a:xfrm>
            <a:off x="457200" y="1188720"/>
            <a:ext cx="5760720" cy="2194560"/>
          </a:xfrm>
          <a:prstGeom prst="rect">
            <a:avLst/>
          </a:prstGeom>
          <a:noFill/>
          <a:ln/>
        </p:spPr>
        <p:txBody>
          <a:bodyPr wrap="square" rtlCol="0" anchor="t"/>
          <a:lstStyle/>
          <a:p>
            <a:pPr marL="0" indent="0" algn="l">
              <a:buNone/>
            </a:pPr>
            <a:r>
              <a:rPr lang="en-US" sz="2800" b="1" dirty="0">
                <a:solidFill>
                  <a:srgbClr val="FFFFFF"/>
                </a:solidFill>
                <a:latin typeface="Calibri" pitchFamily="34" charset="0"/>
                <a:ea typeface="Calibri" pitchFamily="34" charset="-122"/>
                <a:cs typeface="Calibri" pitchFamily="34" charset="-120"/>
              </a:rPr>
              <a:t>Introduction à l'Intelligence</a:t>
            </a:r>
            <a:endParaRPr lang="en-US" sz="2800" dirty="0"/>
          </a:p>
          <a:p>
            <a:pPr marL="0" indent="0" algn="l">
              <a:buNone/>
            </a:pPr>
            <a:r>
              <a:rPr lang="en-US" sz="2800" b="1" dirty="0">
                <a:solidFill>
                  <a:srgbClr val="FFFFFF"/>
                </a:solidFill>
                <a:latin typeface="Calibri" pitchFamily="34" charset="0"/>
                <a:ea typeface="Calibri" pitchFamily="34" charset="-122"/>
                <a:cs typeface="Calibri" pitchFamily="34" charset="-120"/>
              </a:rPr>
              <a:t>Artificielle appliquée</a:t>
            </a:r>
            <a:endParaRPr lang="en-US" sz="2800" dirty="0"/>
          </a:p>
          <a:p>
            <a:pPr marL="0" indent="0" algn="l">
              <a:buNone/>
            </a:pPr>
            <a:r>
              <a:rPr lang="en-US" sz="2800" b="1" dirty="0">
                <a:solidFill>
                  <a:srgbClr val="FFFFFF"/>
                </a:solidFill>
                <a:latin typeface="Calibri" pitchFamily="34" charset="0"/>
                <a:ea typeface="Calibri" pitchFamily="34" charset="-122"/>
                <a:cs typeface="Calibri" pitchFamily="34" charset="-120"/>
              </a:rPr>
              <a:t>à l'entreprise</a:t>
            </a:r>
            <a:endParaRPr lang="en-US" sz="2800" dirty="0"/>
          </a:p>
        </p:txBody>
      </p:sp>
      <p:sp>
        <p:nvSpPr>
          <p:cNvPr id="8" name="Text 5"/>
          <p:cNvSpPr/>
          <p:nvPr/>
        </p:nvSpPr>
        <p:spPr>
          <a:xfrm>
            <a:off x="457200" y="4434840"/>
            <a:ext cx="8229600" cy="411480"/>
          </a:xfrm>
          <a:prstGeom prst="rect">
            <a:avLst/>
          </a:prstGeom>
          <a:noFill/>
          <a:ln/>
        </p:spPr>
        <p:txBody>
          <a:bodyPr wrap="square" rtlCol="0" anchor="ctr"/>
          <a:lstStyle/>
          <a:p>
            <a:pPr marL="0" indent="0" algn="l">
              <a:buNone/>
            </a:pPr>
            <a:r>
              <a:rPr lang="en-US" sz="1100" i="1" dirty="0">
                <a:solidFill>
                  <a:srgbClr val="9EC5F0"/>
                </a:solidFill>
                <a:latin typeface="Calibri" pitchFamily="34" charset="0"/>
                <a:ea typeface="Calibri" pitchFamily="34" charset="-122"/>
                <a:cs typeface="Calibri" pitchFamily="34" charset="-120"/>
              </a:rPr>
              <a:t>Durée estimée : 1h30  ·  10 slides  ·  1 exercice pratique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Objectifs pédagogiques</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365760" y="777240"/>
            <a:ext cx="64008" cy="3931920"/>
          </a:xfrm>
          <a:prstGeom prst="rect">
            <a:avLst/>
          </a:prstGeom>
          <a:solidFill>
            <a:srgbClr val="F47B20"/>
          </a:solidFill>
          <a:ln w="12700">
            <a:solidFill>
              <a:srgbClr val="F47B20"/>
            </a:solidFill>
            <a:prstDash val="solid"/>
          </a:ln>
        </p:spPr>
        <p:txBody>
          <a:bodyPr/>
          <a:lstStyle/>
          <a:p>
            <a:endParaRPr lang="fr-FR"/>
          </a:p>
        </p:txBody>
      </p:sp>
      <p:sp>
        <p:nvSpPr>
          <p:cNvPr id="9" name="Shape 7"/>
          <p:cNvSpPr/>
          <p:nvPr/>
        </p:nvSpPr>
        <p:spPr>
          <a:xfrm>
            <a:off x="594360" y="822960"/>
            <a:ext cx="7955280" cy="621792"/>
          </a:xfrm>
          <a:prstGeom prst="rect">
            <a:avLst/>
          </a:prstGeom>
          <a:solidFill>
            <a:srgbClr val="FFFFFF"/>
          </a:solidFill>
          <a:ln w="6350">
            <a:solidFill>
              <a:srgbClr val="D5E3F7"/>
            </a:solidFill>
            <a:prstDash val="solid"/>
          </a:ln>
          <a:effectLst>
            <a:outerShdw blurRad="76200" dist="12700" dir="8100000" algn="bl" rotWithShape="0">
              <a:srgbClr val="000000">
                <a:alpha val="8000"/>
              </a:srgbClr>
            </a:outerShdw>
          </a:effectLst>
        </p:spPr>
        <p:txBody>
          <a:bodyPr/>
          <a:lstStyle/>
          <a:p>
            <a:endParaRPr lang="fr-FR"/>
          </a:p>
        </p:txBody>
      </p:sp>
      <p:sp>
        <p:nvSpPr>
          <p:cNvPr id="10" name="Shape 8"/>
          <p:cNvSpPr/>
          <p:nvPr/>
        </p:nvSpPr>
        <p:spPr>
          <a:xfrm>
            <a:off x="658368" y="914400"/>
            <a:ext cx="438912" cy="438912"/>
          </a:xfrm>
          <a:prstGeom prst="ellipse">
            <a:avLst/>
          </a:prstGeom>
          <a:solidFill>
            <a:srgbClr val="1A4A8A"/>
          </a:solidFill>
          <a:ln w="12700">
            <a:solidFill>
              <a:srgbClr val="1A4A8A"/>
            </a:solidFill>
            <a:prstDash val="solid"/>
          </a:ln>
        </p:spPr>
        <p:txBody>
          <a:bodyPr/>
          <a:lstStyle/>
          <a:p>
            <a:endParaRPr lang="fr-FR"/>
          </a:p>
        </p:txBody>
      </p:sp>
      <p:sp>
        <p:nvSpPr>
          <p:cNvPr id="11" name="Text 9"/>
          <p:cNvSpPr/>
          <p:nvPr/>
        </p:nvSpPr>
        <p:spPr>
          <a:xfrm>
            <a:off x="658368" y="914400"/>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pic>
        <p:nvPicPr>
          <p:cNvPr id="12" name="Image 0" descr="preencoded.png"/>
          <p:cNvPicPr>
            <a:picLocks noChangeAspect="1"/>
          </p:cNvPicPr>
          <p:nvPr/>
        </p:nvPicPr>
        <p:blipFill>
          <a:blip r:embed="rId3"/>
          <a:stretch>
            <a:fillRect/>
          </a:stretch>
        </p:blipFill>
        <p:spPr>
          <a:xfrm>
            <a:off x="1234440" y="950976"/>
            <a:ext cx="347472" cy="347472"/>
          </a:xfrm>
          <a:prstGeom prst="rect">
            <a:avLst/>
          </a:prstGeom>
        </p:spPr>
      </p:pic>
      <p:sp>
        <p:nvSpPr>
          <p:cNvPr id="13" name="Text 10"/>
          <p:cNvSpPr/>
          <p:nvPr/>
        </p:nvSpPr>
        <p:spPr>
          <a:xfrm>
            <a:off x="1719072" y="914400"/>
            <a:ext cx="6583680" cy="457200"/>
          </a:xfrm>
          <a:prstGeom prst="rect">
            <a:avLst/>
          </a:prstGeom>
          <a:noFill/>
          <a:ln/>
        </p:spPr>
        <p:txBody>
          <a:bodyPr wrap="square" rtlCol="0" anchor="ctr"/>
          <a:lstStyle/>
          <a:p>
            <a:pPr marL="0" indent="0">
              <a:buNone/>
            </a:pPr>
            <a:r>
              <a:rPr lang="en-US" sz="1350" dirty="0">
                <a:solidFill>
                  <a:srgbClr val="1A1A2E"/>
                </a:solidFill>
                <a:latin typeface="Calibri" pitchFamily="34" charset="0"/>
                <a:ea typeface="Calibri" pitchFamily="34" charset="-122"/>
                <a:cs typeface="Calibri" pitchFamily="34" charset="-120"/>
              </a:rPr>
              <a:t>Comprendre ce qu'est l'IA et comment elle fonctionne</a:t>
            </a:r>
            <a:endParaRPr lang="en-US" sz="1350" dirty="0"/>
          </a:p>
        </p:txBody>
      </p:sp>
      <p:sp>
        <p:nvSpPr>
          <p:cNvPr id="14" name="Shape 11"/>
          <p:cNvSpPr/>
          <p:nvPr/>
        </p:nvSpPr>
        <p:spPr>
          <a:xfrm>
            <a:off x="594360" y="1572768"/>
            <a:ext cx="7955280" cy="621792"/>
          </a:xfrm>
          <a:prstGeom prst="rect">
            <a:avLst/>
          </a:prstGeom>
          <a:solidFill>
            <a:srgbClr val="FFFFFF"/>
          </a:solidFill>
          <a:ln w="6350">
            <a:solidFill>
              <a:srgbClr val="D5E3F7"/>
            </a:solidFill>
            <a:prstDash val="solid"/>
          </a:ln>
          <a:effectLst>
            <a:outerShdw blurRad="76200" dist="12700" dir="8100000" algn="bl" rotWithShape="0">
              <a:srgbClr val="000000">
                <a:alpha val="8000"/>
              </a:srgbClr>
            </a:outerShdw>
          </a:effectLst>
        </p:spPr>
        <p:txBody>
          <a:bodyPr/>
          <a:lstStyle/>
          <a:p>
            <a:endParaRPr lang="fr-FR"/>
          </a:p>
        </p:txBody>
      </p:sp>
      <p:sp>
        <p:nvSpPr>
          <p:cNvPr id="15" name="Shape 12"/>
          <p:cNvSpPr/>
          <p:nvPr/>
        </p:nvSpPr>
        <p:spPr>
          <a:xfrm>
            <a:off x="658368" y="1664208"/>
            <a:ext cx="438912" cy="438912"/>
          </a:xfrm>
          <a:prstGeom prst="ellipse">
            <a:avLst/>
          </a:prstGeom>
          <a:solidFill>
            <a:srgbClr val="1A4A8A"/>
          </a:solidFill>
          <a:ln w="12700">
            <a:solidFill>
              <a:srgbClr val="1A4A8A"/>
            </a:solidFill>
            <a:prstDash val="solid"/>
          </a:ln>
        </p:spPr>
        <p:txBody>
          <a:bodyPr/>
          <a:lstStyle/>
          <a:p>
            <a:endParaRPr lang="fr-FR"/>
          </a:p>
        </p:txBody>
      </p:sp>
      <p:sp>
        <p:nvSpPr>
          <p:cNvPr id="16" name="Text 13"/>
          <p:cNvSpPr/>
          <p:nvPr/>
        </p:nvSpPr>
        <p:spPr>
          <a:xfrm>
            <a:off x="658368" y="1664208"/>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pic>
        <p:nvPicPr>
          <p:cNvPr id="17" name="Image 1" descr="preencoded.png"/>
          <p:cNvPicPr>
            <a:picLocks noChangeAspect="1"/>
          </p:cNvPicPr>
          <p:nvPr/>
        </p:nvPicPr>
        <p:blipFill>
          <a:blip r:embed="rId4"/>
          <a:stretch>
            <a:fillRect/>
          </a:stretch>
        </p:blipFill>
        <p:spPr>
          <a:xfrm>
            <a:off x="1234440" y="1700784"/>
            <a:ext cx="347472" cy="347472"/>
          </a:xfrm>
          <a:prstGeom prst="rect">
            <a:avLst/>
          </a:prstGeom>
        </p:spPr>
      </p:pic>
      <p:sp>
        <p:nvSpPr>
          <p:cNvPr id="18" name="Text 14"/>
          <p:cNvSpPr/>
          <p:nvPr/>
        </p:nvSpPr>
        <p:spPr>
          <a:xfrm>
            <a:off x="1719072" y="1664208"/>
            <a:ext cx="6583680" cy="457200"/>
          </a:xfrm>
          <a:prstGeom prst="rect">
            <a:avLst/>
          </a:prstGeom>
          <a:noFill/>
          <a:ln/>
        </p:spPr>
        <p:txBody>
          <a:bodyPr wrap="square" rtlCol="0" anchor="ctr"/>
          <a:lstStyle/>
          <a:p>
            <a:pPr marL="0" indent="0">
              <a:buNone/>
            </a:pPr>
            <a:r>
              <a:rPr lang="en-US" sz="1350" dirty="0">
                <a:solidFill>
                  <a:srgbClr val="1A1A2E"/>
                </a:solidFill>
                <a:latin typeface="Calibri" pitchFamily="34" charset="0"/>
                <a:ea typeface="Calibri" pitchFamily="34" charset="-122"/>
                <a:cs typeface="Calibri" pitchFamily="34" charset="-120"/>
              </a:rPr>
              <a:t>Distinguer IA, automatisation et robotisation</a:t>
            </a:r>
            <a:endParaRPr lang="en-US" sz="1350" dirty="0"/>
          </a:p>
        </p:txBody>
      </p:sp>
      <p:sp>
        <p:nvSpPr>
          <p:cNvPr id="19" name="Shape 15"/>
          <p:cNvSpPr/>
          <p:nvPr/>
        </p:nvSpPr>
        <p:spPr>
          <a:xfrm>
            <a:off x="594360" y="2322576"/>
            <a:ext cx="7955280" cy="621792"/>
          </a:xfrm>
          <a:prstGeom prst="rect">
            <a:avLst/>
          </a:prstGeom>
          <a:solidFill>
            <a:srgbClr val="FFFFFF"/>
          </a:solidFill>
          <a:ln w="6350">
            <a:solidFill>
              <a:srgbClr val="D5E3F7"/>
            </a:solidFill>
            <a:prstDash val="solid"/>
          </a:ln>
          <a:effectLst>
            <a:outerShdw blurRad="76200" dist="12700" dir="8100000" algn="bl" rotWithShape="0">
              <a:srgbClr val="000000">
                <a:alpha val="8000"/>
              </a:srgbClr>
            </a:outerShdw>
          </a:effectLst>
        </p:spPr>
        <p:txBody>
          <a:bodyPr/>
          <a:lstStyle/>
          <a:p>
            <a:endParaRPr lang="fr-FR"/>
          </a:p>
        </p:txBody>
      </p:sp>
      <p:sp>
        <p:nvSpPr>
          <p:cNvPr id="20" name="Shape 16"/>
          <p:cNvSpPr/>
          <p:nvPr/>
        </p:nvSpPr>
        <p:spPr>
          <a:xfrm>
            <a:off x="658368" y="2414016"/>
            <a:ext cx="438912" cy="438912"/>
          </a:xfrm>
          <a:prstGeom prst="ellipse">
            <a:avLst/>
          </a:prstGeom>
          <a:solidFill>
            <a:srgbClr val="1A4A8A"/>
          </a:solidFill>
          <a:ln w="12700">
            <a:solidFill>
              <a:srgbClr val="1A4A8A"/>
            </a:solidFill>
            <a:prstDash val="solid"/>
          </a:ln>
        </p:spPr>
        <p:txBody>
          <a:bodyPr/>
          <a:lstStyle/>
          <a:p>
            <a:endParaRPr lang="fr-FR"/>
          </a:p>
        </p:txBody>
      </p:sp>
      <p:sp>
        <p:nvSpPr>
          <p:cNvPr id="21" name="Text 17"/>
          <p:cNvSpPr/>
          <p:nvPr/>
        </p:nvSpPr>
        <p:spPr>
          <a:xfrm>
            <a:off x="658368" y="2414016"/>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pic>
        <p:nvPicPr>
          <p:cNvPr id="22" name="Image 2" descr="preencoded.png"/>
          <p:cNvPicPr>
            <a:picLocks noChangeAspect="1"/>
          </p:cNvPicPr>
          <p:nvPr/>
        </p:nvPicPr>
        <p:blipFill>
          <a:blip r:embed="rId5"/>
          <a:stretch>
            <a:fillRect/>
          </a:stretch>
        </p:blipFill>
        <p:spPr>
          <a:xfrm>
            <a:off x="1234440" y="2450592"/>
            <a:ext cx="347472" cy="347472"/>
          </a:xfrm>
          <a:prstGeom prst="rect">
            <a:avLst/>
          </a:prstGeom>
        </p:spPr>
      </p:pic>
      <p:sp>
        <p:nvSpPr>
          <p:cNvPr id="23" name="Text 18"/>
          <p:cNvSpPr/>
          <p:nvPr/>
        </p:nvSpPr>
        <p:spPr>
          <a:xfrm>
            <a:off x="1719072" y="2414016"/>
            <a:ext cx="6583680" cy="457200"/>
          </a:xfrm>
          <a:prstGeom prst="rect">
            <a:avLst/>
          </a:prstGeom>
          <a:noFill/>
          <a:ln/>
        </p:spPr>
        <p:txBody>
          <a:bodyPr wrap="square" rtlCol="0" anchor="ctr"/>
          <a:lstStyle/>
          <a:p>
            <a:pPr marL="0" indent="0">
              <a:buNone/>
            </a:pPr>
            <a:r>
              <a:rPr lang="en-US" sz="1350" dirty="0">
                <a:solidFill>
                  <a:srgbClr val="1A1A2E"/>
                </a:solidFill>
                <a:latin typeface="Calibri" pitchFamily="34" charset="0"/>
                <a:ea typeface="Calibri" pitchFamily="34" charset="-122"/>
                <a:cs typeface="Calibri" pitchFamily="34" charset="-120"/>
              </a:rPr>
              <a:t>Identifier les types d'IA utiles en entreprise</a:t>
            </a:r>
            <a:endParaRPr lang="en-US" sz="1350" dirty="0"/>
          </a:p>
        </p:txBody>
      </p:sp>
      <p:sp>
        <p:nvSpPr>
          <p:cNvPr id="24" name="Shape 19"/>
          <p:cNvSpPr/>
          <p:nvPr/>
        </p:nvSpPr>
        <p:spPr>
          <a:xfrm>
            <a:off x="594360" y="3072384"/>
            <a:ext cx="7955280" cy="621792"/>
          </a:xfrm>
          <a:prstGeom prst="rect">
            <a:avLst/>
          </a:prstGeom>
          <a:solidFill>
            <a:srgbClr val="FFFFFF"/>
          </a:solidFill>
          <a:ln w="6350">
            <a:solidFill>
              <a:srgbClr val="D5E3F7"/>
            </a:solidFill>
            <a:prstDash val="solid"/>
          </a:ln>
          <a:effectLst>
            <a:outerShdw blurRad="76200" dist="12700" dir="8100000" algn="bl" rotWithShape="0">
              <a:srgbClr val="000000">
                <a:alpha val="8000"/>
              </a:srgbClr>
            </a:outerShdw>
          </a:effectLst>
        </p:spPr>
        <p:txBody>
          <a:bodyPr/>
          <a:lstStyle/>
          <a:p>
            <a:endParaRPr lang="fr-FR"/>
          </a:p>
        </p:txBody>
      </p:sp>
      <p:sp>
        <p:nvSpPr>
          <p:cNvPr id="25" name="Shape 20"/>
          <p:cNvSpPr/>
          <p:nvPr/>
        </p:nvSpPr>
        <p:spPr>
          <a:xfrm>
            <a:off x="658368" y="3163824"/>
            <a:ext cx="438912" cy="438912"/>
          </a:xfrm>
          <a:prstGeom prst="ellipse">
            <a:avLst/>
          </a:prstGeom>
          <a:solidFill>
            <a:srgbClr val="1A4A8A"/>
          </a:solidFill>
          <a:ln w="12700">
            <a:solidFill>
              <a:srgbClr val="1A4A8A"/>
            </a:solidFill>
            <a:prstDash val="solid"/>
          </a:ln>
        </p:spPr>
        <p:txBody>
          <a:bodyPr/>
          <a:lstStyle/>
          <a:p>
            <a:endParaRPr lang="fr-FR"/>
          </a:p>
        </p:txBody>
      </p:sp>
      <p:sp>
        <p:nvSpPr>
          <p:cNvPr id="26" name="Text 21"/>
          <p:cNvSpPr/>
          <p:nvPr/>
        </p:nvSpPr>
        <p:spPr>
          <a:xfrm>
            <a:off x="658368" y="316382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pic>
        <p:nvPicPr>
          <p:cNvPr id="27" name="Image 3" descr="preencoded.png"/>
          <p:cNvPicPr>
            <a:picLocks noChangeAspect="1"/>
          </p:cNvPicPr>
          <p:nvPr/>
        </p:nvPicPr>
        <p:blipFill>
          <a:blip r:embed="rId6"/>
          <a:stretch>
            <a:fillRect/>
          </a:stretch>
        </p:blipFill>
        <p:spPr>
          <a:xfrm>
            <a:off x="1234440" y="3200400"/>
            <a:ext cx="347472" cy="347472"/>
          </a:xfrm>
          <a:prstGeom prst="rect">
            <a:avLst/>
          </a:prstGeom>
        </p:spPr>
      </p:pic>
      <p:sp>
        <p:nvSpPr>
          <p:cNvPr id="28" name="Text 22"/>
          <p:cNvSpPr/>
          <p:nvPr/>
        </p:nvSpPr>
        <p:spPr>
          <a:xfrm>
            <a:off x="1719072" y="3163824"/>
            <a:ext cx="6583680" cy="457200"/>
          </a:xfrm>
          <a:prstGeom prst="rect">
            <a:avLst/>
          </a:prstGeom>
          <a:noFill/>
          <a:ln/>
        </p:spPr>
        <p:txBody>
          <a:bodyPr wrap="square" rtlCol="0" anchor="ctr"/>
          <a:lstStyle/>
          <a:p>
            <a:pPr marL="0" indent="0">
              <a:buNone/>
            </a:pPr>
            <a:r>
              <a:rPr lang="en-US" sz="1350" dirty="0">
                <a:solidFill>
                  <a:srgbClr val="1A1A2E"/>
                </a:solidFill>
                <a:latin typeface="Calibri" pitchFamily="34" charset="0"/>
                <a:ea typeface="Calibri" pitchFamily="34" charset="-122"/>
                <a:cs typeface="Calibri" pitchFamily="34" charset="-120"/>
              </a:rPr>
              <a:t>Reconnaître des cas d'usage concrets et applicables</a:t>
            </a:r>
            <a:endParaRPr lang="en-US" sz="1350" dirty="0"/>
          </a:p>
        </p:txBody>
      </p:sp>
      <p:sp>
        <p:nvSpPr>
          <p:cNvPr id="29" name="Shape 23"/>
          <p:cNvSpPr/>
          <p:nvPr/>
        </p:nvSpPr>
        <p:spPr>
          <a:xfrm>
            <a:off x="594360" y="3822192"/>
            <a:ext cx="7955280" cy="621792"/>
          </a:xfrm>
          <a:prstGeom prst="rect">
            <a:avLst/>
          </a:prstGeom>
          <a:solidFill>
            <a:srgbClr val="FFFFFF"/>
          </a:solidFill>
          <a:ln w="6350">
            <a:solidFill>
              <a:srgbClr val="D5E3F7"/>
            </a:solidFill>
            <a:prstDash val="solid"/>
          </a:ln>
          <a:effectLst>
            <a:outerShdw blurRad="76200" dist="12700" dir="8100000" algn="bl" rotWithShape="0">
              <a:srgbClr val="000000">
                <a:alpha val="8000"/>
              </a:srgbClr>
            </a:outerShdw>
          </a:effectLst>
        </p:spPr>
        <p:txBody>
          <a:bodyPr/>
          <a:lstStyle/>
          <a:p>
            <a:endParaRPr lang="fr-FR"/>
          </a:p>
        </p:txBody>
      </p:sp>
      <p:sp>
        <p:nvSpPr>
          <p:cNvPr id="30" name="Shape 24"/>
          <p:cNvSpPr/>
          <p:nvPr/>
        </p:nvSpPr>
        <p:spPr>
          <a:xfrm>
            <a:off x="658368" y="3913632"/>
            <a:ext cx="438912" cy="438912"/>
          </a:xfrm>
          <a:prstGeom prst="ellipse">
            <a:avLst/>
          </a:prstGeom>
          <a:solidFill>
            <a:srgbClr val="1A4A8A"/>
          </a:solidFill>
          <a:ln w="12700">
            <a:solidFill>
              <a:srgbClr val="1A4A8A"/>
            </a:solidFill>
            <a:prstDash val="solid"/>
          </a:ln>
        </p:spPr>
        <p:txBody>
          <a:bodyPr/>
          <a:lstStyle/>
          <a:p>
            <a:endParaRPr lang="fr-FR"/>
          </a:p>
        </p:txBody>
      </p:sp>
      <p:sp>
        <p:nvSpPr>
          <p:cNvPr id="31" name="Text 25"/>
          <p:cNvSpPr/>
          <p:nvPr/>
        </p:nvSpPr>
        <p:spPr>
          <a:xfrm>
            <a:off x="658368" y="3913632"/>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pic>
        <p:nvPicPr>
          <p:cNvPr id="32" name="Image 4" descr="preencoded.png"/>
          <p:cNvPicPr>
            <a:picLocks noChangeAspect="1"/>
          </p:cNvPicPr>
          <p:nvPr/>
        </p:nvPicPr>
        <p:blipFill>
          <a:blip r:embed="rId7"/>
          <a:stretch>
            <a:fillRect/>
          </a:stretch>
        </p:blipFill>
        <p:spPr>
          <a:xfrm>
            <a:off x="1234440" y="3950208"/>
            <a:ext cx="347472" cy="347472"/>
          </a:xfrm>
          <a:prstGeom prst="rect">
            <a:avLst/>
          </a:prstGeom>
        </p:spPr>
      </p:pic>
      <p:sp>
        <p:nvSpPr>
          <p:cNvPr id="33" name="Text 26"/>
          <p:cNvSpPr/>
          <p:nvPr/>
        </p:nvSpPr>
        <p:spPr>
          <a:xfrm>
            <a:off x="1719072" y="3913632"/>
            <a:ext cx="6583680" cy="457200"/>
          </a:xfrm>
          <a:prstGeom prst="rect">
            <a:avLst/>
          </a:prstGeom>
          <a:noFill/>
          <a:ln/>
        </p:spPr>
        <p:txBody>
          <a:bodyPr wrap="square" rtlCol="0" anchor="ctr"/>
          <a:lstStyle/>
          <a:p>
            <a:pPr marL="0" indent="0">
              <a:buNone/>
            </a:pPr>
            <a:r>
              <a:rPr lang="en-US" sz="1350" dirty="0">
                <a:solidFill>
                  <a:srgbClr val="1A1A2E"/>
                </a:solidFill>
                <a:latin typeface="Calibri" pitchFamily="34" charset="0"/>
                <a:ea typeface="Calibri" pitchFamily="34" charset="-122"/>
                <a:cs typeface="Calibri" pitchFamily="34" charset="-120"/>
              </a:rPr>
              <a:t>Prendre conscience des limites et bonnes pratiques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Qu'est-ce que l'Intelligence Artificielle ?</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320040" y="777240"/>
            <a:ext cx="4846320" cy="3977640"/>
          </a:xfrm>
          <a:prstGeom prst="rect">
            <a:avLst/>
          </a:prstGeom>
          <a:solidFill>
            <a:srgbClr val="FFFFFF"/>
          </a:solidFill>
          <a:ln w="12700">
            <a:solidFill>
              <a:srgbClr val="D5E3F7"/>
            </a:solidFill>
            <a:prstDash val="solid"/>
          </a:ln>
          <a:effectLst>
            <a:outerShdw blurRad="101600" dist="25400" dir="8100000" algn="bl" rotWithShape="0">
              <a:srgbClr val="000000">
                <a:alpha val="8000"/>
              </a:srgbClr>
            </a:outerShdw>
          </a:effectLst>
        </p:spPr>
        <p:txBody>
          <a:bodyPr/>
          <a:lstStyle/>
          <a:p>
            <a:endParaRPr lang="fr-FR"/>
          </a:p>
        </p:txBody>
      </p:sp>
      <p:sp>
        <p:nvSpPr>
          <p:cNvPr id="9" name="Shape 7"/>
          <p:cNvSpPr/>
          <p:nvPr/>
        </p:nvSpPr>
        <p:spPr>
          <a:xfrm>
            <a:off x="320040" y="777240"/>
            <a:ext cx="4846320" cy="64008"/>
          </a:xfrm>
          <a:prstGeom prst="rect">
            <a:avLst/>
          </a:prstGeom>
          <a:solidFill>
            <a:srgbClr val="1A4A8A"/>
          </a:solidFill>
          <a:ln w="12700">
            <a:solidFill>
              <a:srgbClr val="1A4A8A"/>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502920" y="960120"/>
            <a:ext cx="502920" cy="502920"/>
          </a:xfrm>
          <a:prstGeom prst="rect">
            <a:avLst/>
          </a:prstGeom>
        </p:spPr>
      </p:pic>
      <p:sp>
        <p:nvSpPr>
          <p:cNvPr id="11" name="Text 8"/>
          <p:cNvSpPr/>
          <p:nvPr/>
        </p:nvSpPr>
        <p:spPr>
          <a:xfrm>
            <a:off x="1097280" y="960120"/>
            <a:ext cx="3840480" cy="502920"/>
          </a:xfrm>
          <a:prstGeom prst="rect">
            <a:avLst/>
          </a:prstGeom>
          <a:noFill/>
          <a:ln/>
        </p:spPr>
        <p:txBody>
          <a:bodyPr wrap="square" lIns="0" tIns="0" rIns="0" bIns="0" rtlCol="0" anchor="ctr"/>
          <a:lstStyle/>
          <a:p>
            <a:pPr marL="0" indent="0">
              <a:buNone/>
            </a:pPr>
            <a:r>
              <a:rPr lang="en-US" sz="1500" b="1" dirty="0">
                <a:solidFill>
                  <a:srgbClr val="1A4A8A"/>
                </a:solidFill>
                <a:latin typeface="Calibri" pitchFamily="34" charset="0"/>
                <a:ea typeface="Calibri" pitchFamily="34" charset="-122"/>
                <a:cs typeface="Calibri" pitchFamily="34" charset="-120"/>
              </a:rPr>
              <a:t>Définition simple</a:t>
            </a:r>
            <a:endParaRPr lang="en-US" sz="1500" dirty="0"/>
          </a:p>
        </p:txBody>
      </p:sp>
      <p:sp>
        <p:nvSpPr>
          <p:cNvPr id="12" name="Text 9"/>
          <p:cNvSpPr/>
          <p:nvPr/>
        </p:nvSpPr>
        <p:spPr>
          <a:xfrm>
            <a:off x="502920" y="1572768"/>
            <a:ext cx="4480560" cy="1005840"/>
          </a:xfrm>
          <a:prstGeom prst="rect">
            <a:avLst/>
          </a:prstGeom>
          <a:noFill/>
          <a:ln/>
        </p:spPr>
        <p:txBody>
          <a:bodyPr wrap="square" rtlCol="0" anchor="t"/>
          <a:lstStyle/>
          <a:p>
            <a:pPr marL="0" indent="0">
              <a:buNone/>
            </a:pPr>
            <a:r>
              <a:rPr lang="en-US" sz="1250" i="1" dirty="0">
                <a:solidFill>
                  <a:srgbClr val="1A1A2E"/>
                </a:solidFill>
                <a:latin typeface="Calibri" pitchFamily="34" charset="0"/>
                <a:ea typeface="Calibri" pitchFamily="34" charset="-122"/>
                <a:cs typeface="Calibri" pitchFamily="34" charset="-120"/>
              </a:rPr>
              <a:t>L'IA est un ensemble de technologies qui permettent aux machines d'apprendre, de raisonner et de prendre des décisions de façon autonome — comme un assistant très intelligent.</a:t>
            </a:r>
            <a:endParaRPr lang="en-US" sz="1250" dirty="0"/>
          </a:p>
        </p:txBody>
      </p:sp>
      <p:sp>
        <p:nvSpPr>
          <p:cNvPr id="13" name="Shape 10"/>
          <p:cNvSpPr/>
          <p:nvPr/>
        </p:nvSpPr>
        <p:spPr>
          <a:xfrm>
            <a:off x="475488" y="2697480"/>
            <a:ext cx="347472" cy="347472"/>
          </a:xfrm>
          <a:prstGeom prst="ellipse">
            <a:avLst/>
          </a:prstGeom>
          <a:solidFill>
            <a:srgbClr val="F47B20"/>
          </a:solidFill>
          <a:ln w="12700">
            <a:solidFill>
              <a:srgbClr val="F47B20"/>
            </a:solidFill>
            <a:prstDash val="solid"/>
          </a:ln>
        </p:spPr>
        <p:txBody>
          <a:bodyPr/>
          <a:lstStyle/>
          <a:p>
            <a:endParaRPr lang="fr-FR"/>
          </a:p>
        </p:txBody>
      </p:sp>
      <p:pic>
        <p:nvPicPr>
          <p:cNvPr id="14" name="Image 1" descr="preencoded.png"/>
          <p:cNvPicPr>
            <a:picLocks noChangeAspect="1"/>
          </p:cNvPicPr>
          <p:nvPr/>
        </p:nvPicPr>
        <p:blipFill>
          <a:blip r:embed="rId4"/>
          <a:stretch>
            <a:fillRect/>
          </a:stretch>
        </p:blipFill>
        <p:spPr>
          <a:xfrm>
            <a:off x="502920" y="2724912"/>
            <a:ext cx="292608" cy="292608"/>
          </a:xfrm>
          <a:prstGeom prst="rect">
            <a:avLst/>
          </a:prstGeom>
        </p:spPr>
      </p:pic>
      <p:sp>
        <p:nvSpPr>
          <p:cNvPr id="15" name="Text 11"/>
          <p:cNvSpPr/>
          <p:nvPr/>
        </p:nvSpPr>
        <p:spPr>
          <a:xfrm>
            <a:off x="969264" y="2697480"/>
            <a:ext cx="4023360" cy="36576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Apprend à partir de données massives</a:t>
            </a:r>
            <a:endParaRPr lang="en-US" sz="1250" dirty="0"/>
          </a:p>
        </p:txBody>
      </p:sp>
      <p:sp>
        <p:nvSpPr>
          <p:cNvPr id="16" name="Shape 12"/>
          <p:cNvSpPr/>
          <p:nvPr/>
        </p:nvSpPr>
        <p:spPr>
          <a:xfrm>
            <a:off x="475488" y="3209544"/>
            <a:ext cx="347472" cy="347472"/>
          </a:xfrm>
          <a:prstGeom prst="ellipse">
            <a:avLst/>
          </a:prstGeom>
          <a:solidFill>
            <a:srgbClr val="F47B20"/>
          </a:solidFill>
          <a:ln w="12700">
            <a:solidFill>
              <a:srgbClr val="F47B20"/>
            </a:solidFill>
            <a:prstDash val="solid"/>
          </a:ln>
        </p:spPr>
        <p:txBody>
          <a:bodyPr/>
          <a:lstStyle/>
          <a:p>
            <a:endParaRPr lang="fr-FR"/>
          </a:p>
        </p:txBody>
      </p:sp>
      <p:pic>
        <p:nvPicPr>
          <p:cNvPr id="17" name="Image 2" descr="preencoded.png"/>
          <p:cNvPicPr>
            <a:picLocks noChangeAspect="1"/>
          </p:cNvPicPr>
          <p:nvPr/>
        </p:nvPicPr>
        <p:blipFill>
          <a:blip r:embed="rId5"/>
          <a:stretch>
            <a:fillRect/>
          </a:stretch>
        </p:blipFill>
        <p:spPr>
          <a:xfrm>
            <a:off x="502920" y="3236976"/>
            <a:ext cx="292608" cy="292608"/>
          </a:xfrm>
          <a:prstGeom prst="rect">
            <a:avLst/>
          </a:prstGeom>
        </p:spPr>
      </p:pic>
      <p:sp>
        <p:nvSpPr>
          <p:cNvPr id="18" name="Text 13"/>
          <p:cNvSpPr/>
          <p:nvPr/>
        </p:nvSpPr>
        <p:spPr>
          <a:xfrm>
            <a:off x="969264" y="3209544"/>
            <a:ext cx="4023360" cy="36576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Reconnaît des schémas et des tendances</a:t>
            </a:r>
            <a:endParaRPr lang="en-US" sz="1250" dirty="0"/>
          </a:p>
        </p:txBody>
      </p:sp>
      <p:sp>
        <p:nvSpPr>
          <p:cNvPr id="19" name="Shape 14"/>
          <p:cNvSpPr/>
          <p:nvPr/>
        </p:nvSpPr>
        <p:spPr>
          <a:xfrm>
            <a:off x="475488" y="3721608"/>
            <a:ext cx="347472" cy="347472"/>
          </a:xfrm>
          <a:prstGeom prst="ellipse">
            <a:avLst/>
          </a:prstGeom>
          <a:solidFill>
            <a:srgbClr val="F47B20"/>
          </a:solidFill>
          <a:ln w="12700">
            <a:solidFill>
              <a:srgbClr val="F47B20"/>
            </a:solidFill>
            <a:prstDash val="solid"/>
          </a:ln>
        </p:spPr>
        <p:txBody>
          <a:bodyPr/>
          <a:lstStyle/>
          <a:p>
            <a:endParaRPr lang="fr-FR"/>
          </a:p>
        </p:txBody>
      </p:sp>
      <p:pic>
        <p:nvPicPr>
          <p:cNvPr id="20" name="Image 3" descr="preencoded.png"/>
          <p:cNvPicPr>
            <a:picLocks noChangeAspect="1"/>
          </p:cNvPicPr>
          <p:nvPr/>
        </p:nvPicPr>
        <p:blipFill>
          <a:blip r:embed="rId6"/>
          <a:stretch>
            <a:fillRect/>
          </a:stretch>
        </p:blipFill>
        <p:spPr>
          <a:xfrm>
            <a:off x="502920" y="3749040"/>
            <a:ext cx="292608" cy="292608"/>
          </a:xfrm>
          <a:prstGeom prst="rect">
            <a:avLst/>
          </a:prstGeom>
        </p:spPr>
      </p:pic>
      <p:sp>
        <p:nvSpPr>
          <p:cNvPr id="21" name="Text 15"/>
          <p:cNvSpPr/>
          <p:nvPr/>
        </p:nvSpPr>
        <p:spPr>
          <a:xfrm>
            <a:off x="969264" y="3721608"/>
            <a:ext cx="4023360" cy="36576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Automatise des tâches répétitives</a:t>
            </a:r>
            <a:endParaRPr lang="en-US" sz="1250" dirty="0"/>
          </a:p>
        </p:txBody>
      </p:sp>
      <p:sp>
        <p:nvSpPr>
          <p:cNvPr id="22" name="Shape 16"/>
          <p:cNvSpPr/>
          <p:nvPr/>
        </p:nvSpPr>
        <p:spPr>
          <a:xfrm>
            <a:off x="475488" y="4233672"/>
            <a:ext cx="347472" cy="347472"/>
          </a:xfrm>
          <a:prstGeom prst="ellipse">
            <a:avLst/>
          </a:prstGeom>
          <a:solidFill>
            <a:srgbClr val="F47B20"/>
          </a:solidFill>
          <a:ln w="12700">
            <a:solidFill>
              <a:srgbClr val="F47B20"/>
            </a:solidFill>
            <a:prstDash val="solid"/>
          </a:ln>
        </p:spPr>
        <p:txBody>
          <a:bodyPr/>
          <a:lstStyle/>
          <a:p>
            <a:endParaRPr lang="fr-FR"/>
          </a:p>
        </p:txBody>
      </p:sp>
      <p:pic>
        <p:nvPicPr>
          <p:cNvPr id="23" name="Image 4" descr="preencoded.png"/>
          <p:cNvPicPr>
            <a:picLocks noChangeAspect="1"/>
          </p:cNvPicPr>
          <p:nvPr/>
        </p:nvPicPr>
        <p:blipFill>
          <a:blip r:embed="rId7"/>
          <a:stretch>
            <a:fillRect/>
          </a:stretch>
        </p:blipFill>
        <p:spPr>
          <a:xfrm>
            <a:off x="502920" y="4261104"/>
            <a:ext cx="292608" cy="292608"/>
          </a:xfrm>
          <a:prstGeom prst="rect">
            <a:avLst/>
          </a:prstGeom>
        </p:spPr>
      </p:pic>
      <p:sp>
        <p:nvSpPr>
          <p:cNvPr id="24" name="Text 17"/>
          <p:cNvSpPr/>
          <p:nvPr/>
        </p:nvSpPr>
        <p:spPr>
          <a:xfrm>
            <a:off x="969264" y="4233672"/>
            <a:ext cx="4023360" cy="365760"/>
          </a:xfrm>
          <a:prstGeom prst="rect">
            <a:avLst/>
          </a:prstGeom>
          <a:noFill/>
          <a:ln/>
        </p:spPr>
        <p:txBody>
          <a:bodyPr wrap="square" rtlCol="0" anchor="ctr"/>
          <a:lstStyle/>
          <a:p>
            <a:pPr marL="0" indent="0">
              <a:buNone/>
            </a:pPr>
            <a:r>
              <a:rPr lang="en-US" sz="1250" dirty="0">
                <a:solidFill>
                  <a:srgbClr val="1A1A2E"/>
                </a:solidFill>
                <a:latin typeface="Calibri" pitchFamily="34" charset="0"/>
                <a:ea typeface="Calibri" pitchFamily="34" charset="-122"/>
                <a:cs typeface="Calibri" pitchFamily="34" charset="-120"/>
              </a:rPr>
              <a:t>Interagit en langage naturel (texte, voix)</a:t>
            </a:r>
            <a:endParaRPr lang="en-US" sz="1250" dirty="0"/>
          </a:p>
        </p:txBody>
      </p:sp>
      <p:sp>
        <p:nvSpPr>
          <p:cNvPr id="25" name="Shape 18"/>
          <p:cNvSpPr/>
          <p:nvPr/>
        </p:nvSpPr>
        <p:spPr>
          <a:xfrm>
            <a:off x="5394960" y="777240"/>
            <a:ext cx="3429000" cy="3977640"/>
          </a:xfrm>
          <a:prstGeom prst="rect">
            <a:avLst/>
          </a:prstGeom>
          <a:solidFill>
            <a:srgbClr val="0D2B5A"/>
          </a:solidFill>
          <a:ln w="12700">
            <a:solidFill>
              <a:srgbClr val="0D2B5A"/>
            </a:solidFill>
            <a:prstDash val="solid"/>
          </a:ln>
        </p:spPr>
        <p:txBody>
          <a:bodyPr/>
          <a:lstStyle/>
          <a:p>
            <a:endParaRPr lang="fr-FR"/>
          </a:p>
        </p:txBody>
      </p:sp>
      <p:sp>
        <p:nvSpPr>
          <p:cNvPr id="26" name="Shape 19"/>
          <p:cNvSpPr/>
          <p:nvPr/>
        </p:nvSpPr>
        <p:spPr>
          <a:xfrm>
            <a:off x="5394960" y="777240"/>
            <a:ext cx="3429000" cy="64008"/>
          </a:xfrm>
          <a:prstGeom prst="rect">
            <a:avLst/>
          </a:prstGeom>
          <a:solidFill>
            <a:srgbClr val="F47B20"/>
          </a:solidFill>
          <a:ln w="12700">
            <a:solidFill>
              <a:srgbClr val="F47B20"/>
            </a:solidFill>
            <a:prstDash val="solid"/>
          </a:ln>
        </p:spPr>
        <p:txBody>
          <a:bodyPr/>
          <a:lstStyle/>
          <a:p>
            <a:endParaRPr lang="fr-FR"/>
          </a:p>
        </p:txBody>
      </p:sp>
      <p:sp>
        <p:nvSpPr>
          <p:cNvPr id="27" name="Text 20"/>
          <p:cNvSpPr/>
          <p:nvPr/>
        </p:nvSpPr>
        <p:spPr>
          <a:xfrm>
            <a:off x="5532120" y="914400"/>
            <a:ext cx="3108960" cy="411480"/>
          </a:xfrm>
          <a:prstGeom prst="rect">
            <a:avLst/>
          </a:prstGeom>
          <a:noFill/>
          <a:ln/>
        </p:spPr>
        <p:txBody>
          <a:bodyPr wrap="square" rtlCol="0" anchor="ctr"/>
          <a:lstStyle/>
          <a:p>
            <a:pPr marL="0" indent="0">
              <a:buNone/>
            </a:pPr>
            <a:r>
              <a:rPr lang="en-US" sz="1400" b="1" dirty="0">
                <a:solidFill>
                  <a:srgbClr val="F47B20"/>
                </a:solidFill>
                <a:latin typeface="Calibri" pitchFamily="34" charset="0"/>
                <a:ea typeface="Calibri" pitchFamily="34" charset="-122"/>
                <a:cs typeface="Calibri" pitchFamily="34" charset="-120"/>
              </a:rPr>
              <a:t>💡 Analogie</a:t>
            </a:r>
            <a:endParaRPr lang="en-US" sz="1400" dirty="0"/>
          </a:p>
        </p:txBody>
      </p:sp>
      <p:sp>
        <p:nvSpPr>
          <p:cNvPr id="28" name="Text 21"/>
          <p:cNvSpPr/>
          <p:nvPr/>
        </p:nvSpPr>
        <p:spPr>
          <a:xfrm>
            <a:off x="5532120" y="1417320"/>
            <a:ext cx="3108960" cy="36576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Imaginez un stagiaire ultra-rapide :</a:t>
            </a:r>
            <a:endParaRPr lang="en-US" sz="1200" dirty="0"/>
          </a:p>
        </p:txBody>
      </p:sp>
      <p:sp>
        <p:nvSpPr>
          <p:cNvPr id="29" name="Shape 22"/>
          <p:cNvSpPr/>
          <p:nvPr/>
        </p:nvSpPr>
        <p:spPr>
          <a:xfrm>
            <a:off x="5532120" y="1920240"/>
            <a:ext cx="3154680" cy="530352"/>
          </a:xfrm>
          <a:prstGeom prst="rect">
            <a:avLst/>
          </a:prstGeom>
          <a:solidFill>
            <a:srgbClr val="1A4A8A">
              <a:alpha val="70000"/>
            </a:srgbClr>
          </a:solidFill>
          <a:ln w="12700">
            <a:solidFill>
              <a:srgbClr val="3B82D0">
                <a:alpha val="60000"/>
              </a:srgbClr>
            </a:solidFill>
            <a:prstDash val="solid"/>
          </a:ln>
        </p:spPr>
        <p:txBody>
          <a:bodyPr/>
          <a:lstStyle/>
          <a:p>
            <a:endParaRPr lang="fr-FR"/>
          </a:p>
        </p:txBody>
      </p:sp>
      <p:sp>
        <p:nvSpPr>
          <p:cNvPr id="30" name="Text 23"/>
          <p:cNvSpPr/>
          <p:nvPr/>
        </p:nvSpPr>
        <p:spPr>
          <a:xfrm>
            <a:off x="5623560" y="1938528"/>
            <a:ext cx="297180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Il lit des millions de documents</a:t>
            </a:r>
            <a:endParaRPr lang="en-US" sz="1200" dirty="0"/>
          </a:p>
        </p:txBody>
      </p:sp>
      <p:sp>
        <p:nvSpPr>
          <p:cNvPr id="31" name="Shape 24"/>
          <p:cNvSpPr/>
          <p:nvPr/>
        </p:nvSpPr>
        <p:spPr>
          <a:xfrm>
            <a:off x="5532120" y="2578608"/>
            <a:ext cx="3154680" cy="530352"/>
          </a:xfrm>
          <a:prstGeom prst="rect">
            <a:avLst/>
          </a:prstGeom>
          <a:solidFill>
            <a:srgbClr val="1A4A8A">
              <a:alpha val="70000"/>
            </a:srgbClr>
          </a:solidFill>
          <a:ln w="12700">
            <a:solidFill>
              <a:srgbClr val="3B82D0">
                <a:alpha val="60000"/>
              </a:srgbClr>
            </a:solidFill>
            <a:prstDash val="solid"/>
          </a:ln>
        </p:spPr>
        <p:txBody>
          <a:bodyPr/>
          <a:lstStyle/>
          <a:p>
            <a:endParaRPr lang="fr-FR"/>
          </a:p>
        </p:txBody>
      </p:sp>
      <p:sp>
        <p:nvSpPr>
          <p:cNvPr id="32" name="Text 25"/>
          <p:cNvSpPr/>
          <p:nvPr/>
        </p:nvSpPr>
        <p:spPr>
          <a:xfrm>
            <a:off x="5623560" y="2596896"/>
            <a:ext cx="297180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Il travaille 24h/24, 7j/7</a:t>
            </a:r>
            <a:endParaRPr lang="en-US" sz="1200" dirty="0"/>
          </a:p>
        </p:txBody>
      </p:sp>
      <p:sp>
        <p:nvSpPr>
          <p:cNvPr id="33" name="Shape 26"/>
          <p:cNvSpPr/>
          <p:nvPr/>
        </p:nvSpPr>
        <p:spPr>
          <a:xfrm>
            <a:off x="5532120" y="3236976"/>
            <a:ext cx="3154680" cy="530352"/>
          </a:xfrm>
          <a:prstGeom prst="rect">
            <a:avLst/>
          </a:prstGeom>
          <a:solidFill>
            <a:srgbClr val="1A4A8A">
              <a:alpha val="70000"/>
            </a:srgbClr>
          </a:solidFill>
          <a:ln w="12700">
            <a:solidFill>
              <a:srgbClr val="3B82D0">
                <a:alpha val="60000"/>
              </a:srgbClr>
            </a:solidFill>
            <a:prstDash val="solid"/>
          </a:ln>
        </p:spPr>
        <p:txBody>
          <a:bodyPr/>
          <a:lstStyle/>
          <a:p>
            <a:endParaRPr lang="fr-FR"/>
          </a:p>
        </p:txBody>
      </p:sp>
      <p:sp>
        <p:nvSpPr>
          <p:cNvPr id="34" name="Text 27"/>
          <p:cNvSpPr/>
          <p:nvPr/>
        </p:nvSpPr>
        <p:spPr>
          <a:xfrm>
            <a:off x="5623560" y="3255264"/>
            <a:ext cx="297180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Il répond instantanément</a:t>
            </a:r>
            <a:endParaRPr lang="en-US" sz="1200" dirty="0"/>
          </a:p>
        </p:txBody>
      </p:sp>
      <p:sp>
        <p:nvSpPr>
          <p:cNvPr id="35" name="Shape 28"/>
          <p:cNvSpPr/>
          <p:nvPr/>
        </p:nvSpPr>
        <p:spPr>
          <a:xfrm>
            <a:off x="5532120" y="3895344"/>
            <a:ext cx="3154680" cy="530352"/>
          </a:xfrm>
          <a:prstGeom prst="rect">
            <a:avLst/>
          </a:prstGeom>
          <a:solidFill>
            <a:srgbClr val="1A4A8A">
              <a:alpha val="70000"/>
            </a:srgbClr>
          </a:solidFill>
          <a:ln w="12700">
            <a:solidFill>
              <a:srgbClr val="3B82D0">
                <a:alpha val="60000"/>
              </a:srgbClr>
            </a:solidFill>
            <a:prstDash val="solid"/>
          </a:ln>
        </p:spPr>
        <p:txBody>
          <a:bodyPr/>
          <a:lstStyle/>
          <a:p>
            <a:endParaRPr lang="fr-FR"/>
          </a:p>
        </p:txBody>
      </p:sp>
      <p:sp>
        <p:nvSpPr>
          <p:cNvPr id="36" name="Text 29"/>
          <p:cNvSpPr/>
          <p:nvPr/>
        </p:nvSpPr>
        <p:spPr>
          <a:xfrm>
            <a:off x="5623560" y="3913632"/>
            <a:ext cx="2971800" cy="47548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Il s'améliore avec le temps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IA · Automatisation · Robotisation : quelles différences ?</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49808"/>
            <a:ext cx="2834640" cy="416052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7"/>
          <p:cNvSpPr/>
          <p:nvPr/>
        </p:nvSpPr>
        <p:spPr>
          <a:xfrm>
            <a:off x="274320" y="749808"/>
            <a:ext cx="2834640" cy="1051560"/>
          </a:xfrm>
          <a:prstGeom prst="rect">
            <a:avLst/>
          </a:prstGeom>
          <a:solidFill>
            <a:srgbClr val="1A4A8A"/>
          </a:solidFill>
          <a:ln w="12700">
            <a:solidFill>
              <a:srgbClr val="1A4A8A"/>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457200" y="822960"/>
            <a:ext cx="548640" cy="548640"/>
          </a:xfrm>
          <a:prstGeom prst="rect">
            <a:avLst/>
          </a:prstGeom>
        </p:spPr>
      </p:pic>
      <p:sp>
        <p:nvSpPr>
          <p:cNvPr id="11" name="Text 8"/>
          <p:cNvSpPr/>
          <p:nvPr/>
        </p:nvSpPr>
        <p:spPr>
          <a:xfrm>
            <a:off x="1097280" y="804672"/>
            <a:ext cx="1920240" cy="6858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Intelligence</a:t>
            </a:r>
            <a:endParaRPr lang="en-US" sz="1400" dirty="0"/>
          </a:p>
          <a:p>
            <a:pPr marL="0" indent="0">
              <a:buNone/>
            </a:pPr>
            <a:r>
              <a:rPr lang="en-US" sz="1400" b="1" dirty="0">
                <a:solidFill>
                  <a:srgbClr val="FFFFFF"/>
                </a:solidFill>
                <a:latin typeface="Calibri" pitchFamily="34" charset="0"/>
                <a:ea typeface="Calibri" pitchFamily="34" charset="-122"/>
                <a:cs typeface="Calibri" pitchFamily="34" charset="-120"/>
              </a:rPr>
              <a:t>Artificielle</a:t>
            </a:r>
            <a:endParaRPr lang="en-US" sz="1400" dirty="0"/>
          </a:p>
        </p:txBody>
      </p:sp>
      <p:sp>
        <p:nvSpPr>
          <p:cNvPr id="12" name="Shape 9"/>
          <p:cNvSpPr/>
          <p:nvPr/>
        </p:nvSpPr>
        <p:spPr>
          <a:xfrm>
            <a:off x="457200" y="1892808"/>
            <a:ext cx="2468880" cy="310896"/>
          </a:xfrm>
          <a:prstGeom prst="roundRect">
            <a:avLst>
              <a:gd name="adj" fmla="val 17647"/>
            </a:avLst>
          </a:prstGeom>
          <a:solidFill>
            <a:srgbClr val="EEF4FF"/>
          </a:solidFill>
          <a:ln w="12700">
            <a:solidFill>
              <a:srgbClr val="1A4A8A"/>
            </a:solidFill>
            <a:prstDash val="solid"/>
          </a:ln>
        </p:spPr>
        <p:txBody>
          <a:bodyPr/>
          <a:lstStyle/>
          <a:p>
            <a:endParaRPr lang="fr-FR"/>
          </a:p>
        </p:txBody>
      </p:sp>
      <p:sp>
        <p:nvSpPr>
          <p:cNvPr id="13" name="Text 10"/>
          <p:cNvSpPr/>
          <p:nvPr/>
        </p:nvSpPr>
        <p:spPr>
          <a:xfrm>
            <a:off x="457200" y="1892808"/>
            <a:ext cx="2468880" cy="310896"/>
          </a:xfrm>
          <a:prstGeom prst="rect">
            <a:avLst/>
          </a:prstGeom>
          <a:noFill/>
          <a:ln/>
        </p:spPr>
        <p:txBody>
          <a:bodyPr wrap="square" rtlCol="0" anchor="ctr"/>
          <a:lstStyle/>
          <a:p>
            <a:pPr marL="0" indent="0" algn="ctr">
              <a:buNone/>
            </a:pPr>
            <a:r>
              <a:rPr lang="en-US" sz="1050" b="1" dirty="0">
                <a:solidFill>
                  <a:srgbClr val="1A4A8A"/>
                </a:solidFill>
                <a:latin typeface="Calibri" pitchFamily="34" charset="0"/>
                <a:ea typeface="Calibri" pitchFamily="34" charset="-122"/>
                <a:cs typeface="Calibri" pitchFamily="34" charset="-120"/>
              </a:rPr>
              <a:t>Apprend &amp; Décide</a:t>
            </a:r>
            <a:endParaRPr lang="en-US" sz="1050" dirty="0"/>
          </a:p>
        </p:txBody>
      </p:sp>
      <p:sp>
        <p:nvSpPr>
          <p:cNvPr id="14" name="Text 11"/>
          <p:cNvSpPr/>
          <p:nvPr/>
        </p:nvSpPr>
        <p:spPr>
          <a:xfrm>
            <a:off x="438912" y="2286000"/>
            <a:ext cx="2560320" cy="1463040"/>
          </a:xfrm>
          <a:prstGeom prst="rect">
            <a:avLst/>
          </a:prstGeom>
          <a:noFill/>
          <a:ln/>
        </p:spPr>
        <p:txBody>
          <a:bodyPr wrap="square" rtlCol="0" anchor="t"/>
          <a:lstStyle/>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Apprend à partir de données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Prend des décisions autonomes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S'adapte à de nouvelles situations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Ex : ChatGPT, traduction auto</a:t>
            </a:r>
            <a:endParaRPr lang="en-US" sz="1150" dirty="0"/>
          </a:p>
        </p:txBody>
      </p:sp>
      <p:sp>
        <p:nvSpPr>
          <p:cNvPr id="15" name="Shape 12"/>
          <p:cNvSpPr/>
          <p:nvPr/>
        </p:nvSpPr>
        <p:spPr>
          <a:xfrm>
            <a:off x="384048" y="3822192"/>
            <a:ext cx="2633472" cy="502920"/>
          </a:xfrm>
          <a:prstGeom prst="rect">
            <a:avLst/>
          </a:prstGeom>
          <a:solidFill>
            <a:srgbClr val="EEF4FF"/>
          </a:solidFill>
          <a:ln w="6350">
            <a:solidFill>
              <a:srgbClr val="C5D8F0"/>
            </a:solidFill>
            <a:prstDash val="solid"/>
          </a:ln>
        </p:spPr>
        <p:txBody>
          <a:bodyPr/>
          <a:lstStyle/>
          <a:p>
            <a:endParaRPr lang="fr-FR"/>
          </a:p>
        </p:txBody>
      </p:sp>
      <p:sp>
        <p:nvSpPr>
          <p:cNvPr id="16" name="Text 13"/>
          <p:cNvSpPr/>
          <p:nvPr/>
        </p:nvSpPr>
        <p:spPr>
          <a:xfrm>
            <a:off x="438912" y="3840480"/>
            <a:ext cx="2542032" cy="457200"/>
          </a:xfrm>
          <a:prstGeom prst="rect">
            <a:avLst/>
          </a:prstGeom>
          <a:noFill/>
          <a:ln/>
        </p:spPr>
        <p:txBody>
          <a:bodyPr wrap="square" rtlCol="0" anchor="ctr"/>
          <a:lstStyle/>
          <a:p>
            <a:pPr marL="0" indent="0">
              <a:buNone/>
            </a:pPr>
            <a:r>
              <a:rPr lang="en-US" sz="1050" i="1" dirty="0">
                <a:solidFill>
                  <a:srgbClr val="1A4A8A"/>
                </a:solidFill>
                <a:latin typeface="Calibri" pitchFamily="34" charset="0"/>
                <a:ea typeface="Calibri" pitchFamily="34" charset="-122"/>
                <a:cs typeface="Calibri" pitchFamily="34" charset="-120"/>
              </a:rPr>
              <a:t>🔑 Rédige un email adapté au contexte</a:t>
            </a:r>
            <a:endParaRPr lang="en-US" sz="1050" dirty="0"/>
          </a:p>
        </p:txBody>
      </p:sp>
      <p:sp>
        <p:nvSpPr>
          <p:cNvPr id="17" name="Shape 14"/>
          <p:cNvSpPr/>
          <p:nvPr/>
        </p:nvSpPr>
        <p:spPr>
          <a:xfrm>
            <a:off x="3200400" y="749808"/>
            <a:ext cx="2834640" cy="416052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18" name="Shape 15"/>
          <p:cNvSpPr/>
          <p:nvPr/>
        </p:nvSpPr>
        <p:spPr>
          <a:xfrm>
            <a:off x="3200400" y="749808"/>
            <a:ext cx="2834640" cy="1051560"/>
          </a:xfrm>
          <a:prstGeom prst="rect">
            <a:avLst/>
          </a:prstGeom>
          <a:solidFill>
            <a:srgbClr val="F47B20"/>
          </a:solidFill>
          <a:ln w="12700">
            <a:solidFill>
              <a:srgbClr val="F47B20"/>
            </a:solidFill>
            <a:prstDash val="solid"/>
          </a:ln>
        </p:spPr>
        <p:txBody>
          <a:bodyPr/>
          <a:lstStyle/>
          <a:p>
            <a:endParaRPr lang="fr-FR"/>
          </a:p>
        </p:txBody>
      </p:sp>
      <p:pic>
        <p:nvPicPr>
          <p:cNvPr id="19" name="Image 1" descr="preencoded.png"/>
          <p:cNvPicPr>
            <a:picLocks noChangeAspect="1"/>
          </p:cNvPicPr>
          <p:nvPr/>
        </p:nvPicPr>
        <p:blipFill>
          <a:blip r:embed="rId4"/>
          <a:stretch>
            <a:fillRect/>
          </a:stretch>
        </p:blipFill>
        <p:spPr>
          <a:xfrm>
            <a:off x="3383280" y="822960"/>
            <a:ext cx="548640" cy="548640"/>
          </a:xfrm>
          <a:prstGeom prst="rect">
            <a:avLst/>
          </a:prstGeom>
        </p:spPr>
      </p:pic>
      <p:sp>
        <p:nvSpPr>
          <p:cNvPr id="20" name="Text 16"/>
          <p:cNvSpPr/>
          <p:nvPr/>
        </p:nvSpPr>
        <p:spPr>
          <a:xfrm>
            <a:off x="4023360" y="804672"/>
            <a:ext cx="1920240" cy="6858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Automatisation</a:t>
            </a:r>
            <a:endParaRPr lang="en-US" sz="1400" dirty="0"/>
          </a:p>
        </p:txBody>
      </p:sp>
      <p:sp>
        <p:nvSpPr>
          <p:cNvPr id="21" name="Shape 17"/>
          <p:cNvSpPr/>
          <p:nvPr/>
        </p:nvSpPr>
        <p:spPr>
          <a:xfrm>
            <a:off x="3383280" y="1892808"/>
            <a:ext cx="2468880" cy="310896"/>
          </a:xfrm>
          <a:prstGeom prst="roundRect">
            <a:avLst>
              <a:gd name="adj" fmla="val 17647"/>
            </a:avLst>
          </a:prstGeom>
          <a:solidFill>
            <a:srgbClr val="FFF0E6"/>
          </a:solidFill>
          <a:ln w="12700">
            <a:solidFill>
              <a:srgbClr val="F47B20"/>
            </a:solidFill>
            <a:prstDash val="solid"/>
          </a:ln>
        </p:spPr>
        <p:txBody>
          <a:bodyPr/>
          <a:lstStyle/>
          <a:p>
            <a:endParaRPr lang="fr-FR"/>
          </a:p>
        </p:txBody>
      </p:sp>
      <p:sp>
        <p:nvSpPr>
          <p:cNvPr id="22" name="Text 18"/>
          <p:cNvSpPr/>
          <p:nvPr/>
        </p:nvSpPr>
        <p:spPr>
          <a:xfrm>
            <a:off x="3383280" y="1892808"/>
            <a:ext cx="2468880" cy="310896"/>
          </a:xfrm>
          <a:prstGeom prst="rect">
            <a:avLst/>
          </a:prstGeom>
          <a:noFill/>
          <a:ln/>
        </p:spPr>
        <p:txBody>
          <a:bodyPr wrap="square" rtlCol="0" anchor="ctr"/>
          <a:lstStyle/>
          <a:p>
            <a:pPr marL="0" indent="0" algn="ctr">
              <a:buNone/>
            </a:pPr>
            <a:r>
              <a:rPr lang="en-US" sz="1050" b="1" dirty="0">
                <a:solidFill>
                  <a:srgbClr val="F47B20"/>
                </a:solidFill>
                <a:latin typeface="Calibri" pitchFamily="34" charset="0"/>
                <a:ea typeface="Calibri" pitchFamily="34" charset="-122"/>
                <a:cs typeface="Calibri" pitchFamily="34" charset="-120"/>
              </a:rPr>
              <a:t>Exécute des règles</a:t>
            </a:r>
            <a:endParaRPr lang="en-US" sz="1050" dirty="0"/>
          </a:p>
        </p:txBody>
      </p:sp>
      <p:sp>
        <p:nvSpPr>
          <p:cNvPr id="23" name="Text 19"/>
          <p:cNvSpPr/>
          <p:nvPr/>
        </p:nvSpPr>
        <p:spPr>
          <a:xfrm>
            <a:off x="3364992" y="2286000"/>
            <a:ext cx="2560320" cy="1463040"/>
          </a:xfrm>
          <a:prstGeom prst="rect">
            <a:avLst/>
          </a:prstGeom>
          <a:noFill/>
          <a:ln/>
        </p:spPr>
        <p:txBody>
          <a:bodyPr wrap="square" rtlCol="0" anchor="t"/>
          <a:lstStyle/>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Suit des règles prédéfinies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Répète des tâches identiques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Sans apprentissage</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Ex : macros Excel, envoi auto</a:t>
            </a:r>
            <a:endParaRPr lang="en-US" sz="1150" dirty="0"/>
          </a:p>
        </p:txBody>
      </p:sp>
      <p:sp>
        <p:nvSpPr>
          <p:cNvPr id="24" name="Shape 20"/>
          <p:cNvSpPr/>
          <p:nvPr/>
        </p:nvSpPr>
        <p:spPr>
          <a:xfrm>
            <a:off x="3310128" y="3822192"/>
            <a:ext cx="2633472" cy="502920"/>
          </a:xfrm>
          <a:prstGeom prst="rect">
            <a:avLst/>
          </a:prstGeom>
          <a:solidFill>
            <a:srgbClr val="EEF4FF"/>
          </a:solidFill>
          <a:ln w="6350">
            <a:solidFill>
              <a:srgbClr val="C5D8F0"/>
            </a:solidFill>
            <a:prstDash val="solid"/>
          </a:ln>
        </p:spPr>
        <p:txBody>
          <a:bodyPr/>
          <a:lstStyle/>
          <a:p>
            <a:endParaRPr lang="fr-FR"/>
          </a:p>
        </p:txBody>
      </p:sp>
      <p:sp>
        <p:nvSpPr>
          <p:cNvPr id="25" name="Text 21"/>
          <p:cNvSpPr/>
          <p:nvPr/>
        </p:nvSpPr>
        <p:spPr>
          <a:xfrm>
            <a:off x="3364992" y="3840480"/>
            <a:ext cx="2542032" cy="457200"/>
          </a:xfrm>
          <a:prstGeom prst="rect">
            <a:avLst/>
          </a:prstGeom>
          <a:noFill/>
          <a:ln/>
        </p:spPr>
        <p:txBody>
          <a:bodyPr wrap="square" rtlCol="0" anchor="ctr"/>
          <a:lstStyle/>
          <a:p>
            <a:pPr marL="0" indent="0">
              <a:buNone/>
            </a:pPr>
            <a:r>
              <a:rPr lang="en-US" sz="1050" i="1" dirty="0">
                <a:solidFill>
                  <a:srgbClr val="1A4A8A"/>
                </a:solidFill>
                <a:latin typeface="Calibri" pitchFamily="34" charset="0"/>
                <a:ea typeface="Calibri" pitchFamily="34" charset="-122"/>
                <a:cs typeface="Calibri" pitchFamily="34" charset="-120"/>
              </a:rPr>
              <a:t>🔑 Envoie un email de confirmation</a:t>
            </a:r>
            <a:endParaRPr lang="en-US" sz="1050" dirty="0"/>
          </a:p>
        </p:txBody>
      </p:sp>
      <p:sp>
        <p:nvSpPr>
          <p:cNvPr id="26" name="Shape 22"/>
          <p:cNvSpPr/>
          <p:nvPr/>
        </p:nvSpPr>
        <p:spPr>
          <a:xfrm>
            <a:off x="6126480" y="749808"/>
            <a:ext cx="2834640" cy="416052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27" name="Shape 23"/>
          <p:cNvSpPr/>
          <p:nvPr/>
        </p:nvSpPr>
        <p:spPr>
          <a:xfrm>
            <a:off x="6126480" y="749808"/>
            <a:ext cx="2834640" cy="1051560"/>
          </a:xfrm>
          <a:prstGeom prst="rect">
            <a:avLst/>
          </a:prstGeom>
          <a:solidFill>
            <a:srgbClr val="555F6E"/>
          </a:solidFill>
          <a:ln w="12700">
            <a:solidFill>
              <a:srgbClr val="555F6E"/>
            </a:solidFill>
            <a:prstDash val="solid"/>
          </a:ln>
        </p:spPr>
        <p:txBody>
          <a:bodyPr/>
          <a:lstStyle/>
          <a:p>
            <a:endParaRPr lang="fr-FR"/>
          </a:p>
        </p:txBody>
      </p:sp>
      <p:pic>
        <p:nvPicPr>
          <p:cNvPr id="28" name="Image 2" descr="preencoded.png"/>
          <p:cNvPicPr>
            <a:picLocks noChangeAspect="1"/>
          </p:cNvPicPr>
          <p:nvPr/>
        </p:nvPicPr>
        <p:blipFill>
          <a:blip r:embed="rId5"/>
          <a:stretch>
            <a:fillRect/>
          </a:stretch>
        </p:blipFill>
        <p:spPr>
          <a:xfrm>
            <a:off x="6309360" y="822960"/>
            <a:ext cx="548640" cy="548640"/>
          </a:xfrm>
          <a:prstGeom prst="rect">
            <a:avLst/>
          </a:prstGeom>
        </p:spPr>
      </p:pic>
      <p:sp>
        <p:nvSpPr>
          <p:cNvPr id="29" name="Text 24"/>
          <p:cNvSpPr/>
          <p:nvPr/>
        </p:nvSpPr>
        <p:spPr>
          <a:xfrm>
            <a:off x="6949440" y="804672"/>
            <a:ext cx="1920240" cy="6858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Robotisation</a:t>
            </a:r>
            <a:endParaRPr lang="en-US" sz="1400" dirty="0"/>
          </a:p>
        </p:txBody>
      </p:sp>
      <p:sp>
        <p:nvSpPr>
          <p:cNvPr id="30" name="Shape 25"/>
          <p:cNvSpPr/>
          <p:nvPr/>
        </p:nvSpPr>
        <p:spPr>
          <a:xfrm>
            <a:off x="6309360" y="1892808"/>
            <a:ext cx="2468880" cy="310896"/>
          </a:xfrm>
          <a:prstGeom prst="roundRect">
            <a:avLst>
              <a:gd name="adj" fmla="val 17647"/>
            </a:avLst>
          </a:prstGeom>
          <a:solidFill>
            <a:srgbClr val="EEF4FF"/>
          </a:solidFill>
          <a:ln w="12700">
            <a:solidFill>
              <a:srgbClr val="555F6E"/>
            </a:solidFill>
            <a:prstDash val="solid"/>
          </a:ln>
        </p:spPr>
        <p:txBody>
          <a:bodyPr/>
          <a:lstStyle/>
          <a:p>
            <a:endParaRPr lang="fr-FR"/>
          </a:p>
        </p:txBody>
      </p:sp>
      <p:sp>
        <p:nvSpPr>
          <p:cNvPr id="31" name="Text 26"/>
          <p:cNvSpPr/>
          <p:nvPr/>
        </p:nvSpPr>
        <p:spPr>
          <a:xfrm>
            <a:off x="6309360" y="1892808"/>
            <a:ext cx="2468880" cy="310896"/>
          </a:xfrm>
          <a:prstGeom prst="rect">
            <a:avLst/>
          </a:prstGeom>
          <a:noFill/>
          <a:ln/>
        </p:spPr>
        <p:txBody>
          <a:bodyPr wrap="square" rtlCol="0" anchor="ctr"/>
          <a:lstStyle/>
          <a:p>
            <a:pPr marL="0" indent="0" algn="ctr">
              <a:buNone/>
            </a:pPr>
            <a:r>
              <a:rPr lang="en-US" sz="1050" b="1" dirty="0">
                <a:solidFill>
                  <a:srgbClr val="555F6E"/>
                </a:solidFill>
                <a:latin typeface="Calibri" pitchFamily="34" charset="0"/>
                <a:ea typeface="Calibri" pitchFamily="34" charset="-122"/>
                <a:cs typeface="Calibri" pitchFamily="34" charset="-120"/>
              </a:rPr>
              <a:t>Agit physiquement</a:t>
            </a:r>
            <a:endParaRPr lang="en-US" sz="1050" dirty="0"/>
          </a:p>
        </p:txBody>
      </p:sp>
      <p:sp>
        <p:nvSpPr>
          <p:cNvPr id="32" name="Text 27"/>
          <p:cNvSpPr/>
          <p:nvPr/>
        </p:nvSpPr>
        <p:spPr>
          <a:xfrm>
            <a:off x="6291072" y="2286000"/>
            <a:ext cx="2560320" cy="1463040"/>
          </a:xfrm>
          <a:prstGeom prst="rect">
            <a:avLst/>
          </a:prstGeom>
          <a:noFill/>
          <a:ln/>
        </p:spPr>
        <p:txBody>
          <a:bodyPr wrap="square" rtlCol="0" anchor="t"/>
          <a:lstStyle/>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Robots physiques ou logiciels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Remplace des actions manuelles</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Programmé avec précision</a:t>
            </a:r>
            <a:endParaRPr lang="en-US" sz="1150" dirty="0"/>
          </a:p>
          <a:p>
            <a:pPr marL="342900" indent="-342900">
              <a:spcAft>
                <a:spcPts val="400"/>
              </a:spcAft>
              <a:buSzPct val="100000"/>
              <a:buChar char="•"/>
            </a:pPr>
            <a:r>
              <a:rPr lang="en-US" sz="1150" dirty="0">
                <a:solidFill>
                  <a:srgbClr val="1A1A2E"/>
                </a:solidFill>
                <a:latin typeface="Calibri" pitchFamily="34" charset="0"/>
                <a:ea typeface="Calibri" pitchFamily="34" charset="-122"/>
                <a:cs typeface="Calibri" pitchFamily="34" charset="-120"/>
              </a:rPr>
              <a:t>Ex : robot d'entrepôt, RPA</a:t>
            </a:r>
            <a:endParaRPr lang="en-US" sz="1150" dirty="0"/>
          </a:p>
        </p:txBody>
      </p:sp>
      <p:sp>
        <p:nvSpPr>
          <p:cNvPr id="33" name="Shape 28"/>
          <p:cNvSpPr/>
          <p:nvPr/>
        </p:nvSpPr>
        <p:spPr>
          <a:xfrm>
            <a:off x="6236208" y="3822192"/>
            <a:ext cx="2633472" cy="502920"/>
          </a:xfrm>
          <a:prstGeom prst="rect">
            <a:avLst/>
          </a:prstGeom>
          <a:solidFill>
            <a:srgbClr val="EEF4FF"/>
          </a:solidFill>
          <a:ln w="6350">
            <a:solidFill>
              <a:srgbClr val="C5D8F0"/>
            </a:solidFill>
            <a:prstDash val="solid"/>
          </a:ln>
        </p:spPr>
        <p:txBody>
          <a:bodyPr/>
          <a:lstStyle/>
          <a:p>
            <a:endParaRPr lang="fr-FR"/>
          </a:p>
        </p:txBody>
      </p:sp>
      <p:sp>
        <p:nvSpPr>
          <p:cNvPr id="34" name="Text 29"/>
          <p:cNvSpPr/>
          <p:nvPr/>
        </p:nvSpPr>
        <p:spPr>
          <a:xfrm>
            <a:off x="6291072" y="3840480"/>
            <a:ext cx="2542032" cy="457200"/>
          </a:xfrm>
          <a:prstGeom prst="rect">
            <a:avLst/>
          </a:prstGeom>
          <a:noFill/>
          <a:ln/>
        </p:spPr>
        <p:txBody>
          <a:bodyPr wrap="square" rtlCol="0" anchor="ctr"/>
          <a:lstStyle/>
          <a:p>
            <a:pPr marL="0" indent="0">
              <a:buNone/>
            </a:pPr>
            <a:r>
              <a:rPr lang="en-US" sz="1050" i="1" dirty="0">
                <a:solidFill>
                  <a:srgbClr val="1A4A8A"/>
                </a:solidFill>
                <a:latin typeface="Calibri" pitchFamily="34" charset="0"/>
                <a:ea typeface="Calibri" pitchFamily="34" charset="-122"/>
                <a:cs typeface="Calibri" pitchFamily="34" charset="-120"/>
              </a:rPr>
              <a:t>🔑 Imprime et classe des documents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Les types d'IA utiles pour les entreprises</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49808"/>
            <a:ext cx="2816352" cy="4023360"/>
          </a:xfrm>
          <a:prstGeom prst="rect">
            <a:avLst/>
          </a:prstGeom>
          <a:solidFill>
            <a:srgbClr val="FFFFFF"/>
          </a:solidFill>
          <a:ln w="12700">
            <a:solidFill>
              <a:srgbClr val="D5E3F7"/>
            </a:solidFill>
            <a:prstDash val="solid"/>
          </a:ln>
          <a:effectLst>
            <a:outerShdw blurRad="127000" dist="25400" dir="8100000" algn="bl" rotWithShape="0">
              <a:srgbClr val="000000">
                <a:alpha val="12000"/>
              </a:srgbClr>
            </a:outerShdw>
          </a:effectLst>
        </p:spPr>
        <p:txBody>
          <a:bodyPr/>
          <a:lstStyle/>
          <a:p>
            <a:endParaRPr lang="fr-FR"/>
          </a:p>
        </p:txBody>
      </p:sp>
      <p:sp>
        <p:nvSpPr>
          <p:cNvPr id="9" name="Shape 7"/>
          <p:cNvSpPr/>
          <p:nvPr/>
        </p:nvSpPr>
        <p:spPr>
          <a:xfrm>
            <a:off x="1271016" y="914400"/>
            <a:ext cx="822960" cy="822960"/>
          </a:xfrm>
          <a:prstGeom prst="ellipse">
            <a:avLst/>
          </a:prstGeom>
          <a:solidFill>
            <a:srgbClr val="1A4A8A"/>
          </a:solidFill>
          <a:ln w="12700">
            <a:solidFill>
              <a:srgbClr val="1A4A8A"/>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1335024" y="978408"/>
            <a:ext cx="694944" cy="694944"/>
          </a:xfrm>
          <a:prstGeom prst="rect">
            <a:avLst/>
          </a:prstGeom>
        </p:spPr>
      </p:pic>
      <p:sp>
        <p:nvSpPr>
          <p:cNvPr id="11" name="Text 8"/>
          <p:cNvSpPr/>
          <p:nvPr/>
        </p:nvSpPr>
        <p:spPr>
          <a:xfrm>
            <a:off x="365760" y="1874520"/>
            <a:ext cx="2606040" cy="457200"/>
          </a:xfrm>
          <a:prstGeom prst="rect">
            <a:avLst/>
          </a:prstGeom>
          <a:noFill/>
          <a:ln/>
        </p:spPr>
        <p:txBody>
          <a:bodyPr wrap="square" rtlCol="0" anchor="ctr"/>
          <a:lstStyle/>
          <a:p>
            <a:pPr marL="0" indent="0" algn="ctr">
              <a:buNone/>
            </a:pPr>
            <a:r>
              <a:rPr lang="en-US" sz="1600" b="1" dirty="0">
                <a:solidFill>
                  <a:srgbClr val="1A4A8A"/>
                </a:solidFill>
                <a:latin typeface="Calibri" pitchFamily="34" charset="0"/>
                <a:ea typeface="Calibri" pitchFamily="34" charset="-122"/>
                <a:cs typeface="Calibri" pitchFamily="34" charset="-120"/>
              </a:rPr>
              <a:t>IA Générative</a:t>
            </a:r>
            <a:endParaRPr lang="en-US" sz="1600" dirty="0"/>
          </a:p>
        </p:txBody>
      </p:sp>
      <p:sp>
        <p:nvSpPr>
          <p:cNvPr id="12" name="Text 9"/>
          <p:cNvSpPr/>
          <p:nvPr/>
        </p:nvSpPr>
        <p:spPr>
          <a:xfrm>
            <a:off x="365760" y="2331720"/>
            <a:ext cx="2606040" cy="320040"/>
          </a:xfrm>
          <a:prstGeom prst="rect">
            <a:avLst/>
          </a:prstGeom>
          <a:noFill/>
          <a:ln/>
        </p:spPr>
        <p:txBody>
          <a:bodyPr wrap="square" rtlCol="0" anchor="ctr"/>
          <a:lstStyle/>
          <a:p>
            <a:pPr marL="0" indent="0" algn="ctr">
              <a:buNone/>
            </a:pPr>
            <a:r>
              <a:rPr lang="en-US" sz="1150" i="1" dirty="0">
                <a:solidFill>
                  <a:srgbClr val="5A6478"/>
                </a:solidFill>
                <a:latin typeface="Calibri" pitchFamily="34" charset="0"/>
                <a:ea typeface="Calibri" pitchFamily="34" charset="-122"/>
                <a:cs typeface="Calibri" pitchFamily="34" charset="-120"/>
              </a:rPr>
              <a:t>Crée du contenu</a:t>
            </a:r>
            <a:endParaRPr lang="en-US" sz="1150" dirty="0"/>
          </a:p>
        </p:txBody>
      </p:sp>
      <p:sp>
        <p:nvSpPr>
          <p:cNvPr id="13" name="Text 10"/>
          <p:cNvSpPr/>
          <p:nvPr/>
        </p:nvSpPr>
        <p:spPr>
          <a:xfrm>
            <a:off x="411480" y="2743200"/>
            <a:ext cx="2542032" cy="105156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Génère du texte, des images, du code. Idéale pour la rédaction, la création de rapports et la communication.</a:t>
            </a:r>
            <a:endParaRPr lang="en-US" sz="1150" dirty="0"/>
          </a:p>
        </p:txBody>
      </p:sp>
      <p:sp>
        <p:nvSpPr>
          <p:cNvPr id="14" name="Shape 11"/>
          <p:cNvSpPr/>
          <p:nvPr/>
        </p:nvSpPr>
        <p:spPr>
          <a:xfrm>
            <a:off x="384048" y="3886200"/>
            <a:ext cx="2606040" cy="411480"/>
          </a:xfrm>
          <a:prstGeom prst="rect">
            <a:avLst/>
          </a:prstGeom>
          <a:solidFill>
            <a:srgbClr val="EEF4FF"/>
          </a:solidFill>
          <a:ln w="6350">
            <a:solidFill>
              <a:srgbClr val="C5D8F0"/>
            </a:solidFill>
            <a:prstDash val="solid"/>
          </a:ln>
        </p:spPr>
        <p:txBody>
          <a:bodyPr/>
          <a:lstStyle/>
          <a:p>
            <a:endParaRPr lang="fr-FR"/>
          </a:p>
        </p:txBody>
      </p:sp>
      <p:sp>
        <p:nvSpPr>
          <p:cNvPr id="15" name="Text 12"/>
          <p:cNvSpPr/>
          <p:nvPr/>
        </p:nvSpPr>
        <p:spPr>
          <a:xfrm>
            <a:off x="438912" y="3904488"/>
            <a:ext cx="2487168" cy="365760"/>
          </a:xfrm>
          <a:prstGeom prst="rect">
            <a:avLst/>
          </a:prstGeom>
          <a:noFill/>
          <a:ln/>
        </p:spPr>
        <p:txBody>
          <a:bodyPr wrap="square" rtlCol="0" anchor="ctr"/>
          <a:lstStyle/>
          <a:p>
            <a:pPr marL="0" indent="0">
              <a:buNone/>
            </a:pPr>
            <a:r>
              <a:rPr lang="en-US" sz="950" i="1" dirty="0">
                <a:solidFill>
                  <a:srgbClr val="1A4A8A"/>
                </a:solidFill>
                <a:latin typeface="Calibri" pitchFamily="34" charset="0"/>
                <a:ea typeface="Calibri" pitchFamily="34" charset="-122"/>
                <a:cs typeface="Calibri" pitchFamily="34" charset="-120"/>
              </a:rPr>
              <a:t>Outils : ChatGPT · Claude · Gemini · Copilot</a:t>
            </a:r>
            <a:endParaRPr lang="en-US" sz="950" dirty="0"/>
          </a:p>
        </p:txBody>
      </p:sp>
      <p:sp>
        <p:nvSpPr>
          <p:cNvPr id="16" name="Shape 13"/>
          <p:cNvSpPr/>
          <p:nvPr/>
        </p:nvSpPr>
        <p:spPr>
          <a:xfrm>
            <a:off x="3218688" y="749808"/>
            <a:ext cx="2816352" cy="4023360"/>
          </a:xfrm>
          <a:prstGeom prst="rect">
            <a:avLst/>
          </a:prstGeom>
          <a:solidFill>
            <a:srgbClr val="FFFFFF"/>
          </a:solidFill>
          <a:ln w="12700">
            <a:solidFill>
              <a:srgbClr val="D5E3F7"/>
            </a:solidFill>
            <a:prstDash val="solid"/>
          </a:ln>
          <a:effectLst>
            <a:outerShdw blurRad="127000" dist="25400" dir="8100000" algn="bl" rotWithShape="0">
              <a:srgbClr val="000000">
                <a:alpha val="12000"/>
              </a:srgbClr>
            </a:outerShdw>
          </a:effectLst>
        </p:spPr>
        <p:txBody>
          <a:bodyPr/>
          <a:lstStyle/>
          <a:p>
            <a:endParaRPr lang="fr-FR"/>
          </a:p>
        </p:txBody>
      </p:sp>
      <p:sp>
        <p:nvSpPr>
          <p:cNvPr id="17" name="Shape 14"/>
          <p:cNvSpPr/>
          <p:nvPr/>
        </p:nvSpPr>
        <p:spPr>
          <a:xfrm>
            <a:off x="4215384" y="914400"/>
            <a:ext cx="822960" cy="822960"/>
          </a:xfrm>
          <a:prstGeom prst="ellipse">
            <a:avLst/>
          </a:prstGeom>
          <a:solidFill>
            <a:srgbClr val="F47B20"/>
          </a:solidFill>
          <a:ln w="12700">
            <a:solidFill>
              <a:srgbClr val="F47B20"/>
            </a:solidFill>
            <a:prstDash val="solid"/>
          </a:ln>
        </p:spPr>
        <p:txBody>
          <a:bodyPr/>
          <a:lstStyle/>
          <a:p>
            <a:endParaRPr lang="fr-FR"/>
          </a:p>
        </p:txBody>
      </p:sp>
      <p:pic>
        <p:nvPicPr>
          <p:cNvPr id="18" name="Image 1" descr="preencoded.png"/>
          <p:cNvPicPr>
            <a:picLocks noChangeAspect="1"/>
          </p:cNvPicPr>
          <p:nvPr/>
        </p:nvPicPr>
        <p:blipFill>
          <a:blip r:embed="rId4"/>
          <a:stretch>
            <a:fillRect/>
          </a:stretch>
        </p:blipFill>
        <p:spPr>
          <a:xfrm>
            <a:off x="4279392" y="978408"/>
            <a:ext cx="694944" cy="694944"/>
          </a:xfrm>
          <a:prstGeom prst="rect">
            <a:avLst/>
          </a:prstGeom>
        </p:spPr>
      </p:pic>
      <p:sp>
        <p:nvSpPr>
          <p:cNvPr id="19" name="Text 15"/>
          <p:cNvSpPr/>
          <p:nvPr/>
        </p:nvSpPr>
        <p:spPr>
          <a:xfrm>
            <a:off x="3310128" y="1874520"/>
            <a:ext cx="2606040" cy="457200"/>
          </a:xfrm>
          <a:prstGeom prst="rect">
            <a:avLst/>
          </a:prstGeom>
          <a:noFill/>
          <a:ln/>
        </p:spPr>
        <p:txBody>
          <a:bodyPr wrap="square" rtlCol="0" anchor="ctr"/>
          <a:lstStyle/>
          <a:p>
            <a:pPr marL="0" indent="0" algn="ctr">
              <a:buNone/>
            </a:pPr>
            <a:r>
              <a:rPr lang="en-US" sz="1600" b="1" dirty="0">
                <a:solidFill>
                  <a:srgbClr val="F47B20"/>
                </a:solidFill>
                <a:latin typeface="Calibri" pitchFamily="34" charset="0"/>
                <a:ea typeface="Calibri" pitchFamily="34" charset="-122"/>
                <a:cs typeface="Calibri" pitchFamily="34" charset="-120"/>
              </a:rPr>
              <a:t>IA d'Analyse</a:t>
            </a:r>
            <a:endParaRPr lang="en-US" sz="1600" dirty="0"/>
          </a:p>
        </p:txBody>
      </p:sp>
      <p:sp>
        <p:nvSpPr>
          <p:cNvPr id="20" name="Text 16"/>
          <p:cNvSpPr/>
          <p:nvPr/>
        </p:nvSpPr>
        <p:spPr>
          <a:xfrm>
            <a:off x="3310128" y="2331720"/>
            <a:ext cx="2606040" cy="320040"/>
          </a:xfrm>
          <a:prstGeom prst="rect">
            <a:avLst/>
          </a:prstGeom>
          <a:noFill/>
          <a:ln/>
        </p:spPr>
        <p:txBody>
          <a:bodyPr wrap="square" rtlCol="0" anchor="ctr"/>
          <a:lstStyle/>
          <a:p>
            <a:pPr marL="0" indent="0" algn="ctr">
              <a:buNone/>
            </a:pPr>
            <a:r>
              <a:rPr lang="en-US" sz="1150" i="1" dirty="0">
                <a:solidFill>
                  <a:srgbClr val="5A6478"/>
                </a:solidFill>
                <a:latin typeface="Calibri" pitchFamily="34" charset="0"/>
                <a:ea typeface="Calibri" pitchFamily="34" charset="-122"/>
                <a:cs typeface="Calibri" pitchFamily="34" charset="-120"/>
              </a:rPr>
              <a:t>Interprète les données</a:t>
            </a:r>
            <a:endParaRPr lang="en-US" sz="1150" dirty="0"/>
          </a:p>
        </p:txBody>
      </p:sp>
      <p:sp>
        <p:nvSpPr>
          <p:cNvPr id="21" name="Text 17"/>
          <p:cNvSpPr/>
          <p:nvPr/>
        </p:nvSpPr>
        <p:spPr>
          <a:xfrm>
            <a:off x="3355848" y="2743200"/>
            <a:ext cx="2542032" cy="105156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Analyse de grands volumes de données, détecte des tendances et aide à la prise de décision.</a:t>
            </a:r>
            <a:endParaRPr lang="en-US" sz="1150" dirty="0"/>
          </a:p>
        </p:txBody>
      </p:sp>
      <p:sp>
        <p:nvSpPr>
          <p:cNvPr id="22" name="Shape 18"/>
          <p:cNvSpPr/>
          <p:nvPr/>
        </p:nvSpPr>
        <p:spPr>
          <a:xfrm>
            <a:off x="3328416" y="3886200"/>
            <a:ext cx="2606040" cy="411480"/>
          </a:xfrm>
          <a:prstGeom prst="rect">
            <a:avLst/>
          </a:prstGeom>
          <a:solidFill>
            <a:srgbClr val="EEF4FF"/>
          </a:solidFill>
          <a:ln w="6350">
            <a:solidFill>
              <a:srgbClr val="C5D8F0"/>
            </a:solidFill>
            <a:prstDash val="solid"/>
          </a:ln>
        </p:spPr>
        <p:txBody>
          <a:bodyPr/>
          <a:lstStyle/>
          <a:p>
            <a:endParaRPr lang="fr-FR"/>
          </a:p>
        </p:txBody>
      </p:sp>
      <p:sp>
        <p:nvSpPr>
          <p:cNvPr id="23" name="Text 19"/>
          <p:cNvSpPr/>
          <p:nvPr/>
        </p:nvSpPr>
        <p:spPr>
          <a:xfrm>
            <a:off x="3383280" y="3904488"/>
            <a:ext cx="2487168" cy="365760"/>
          </a:xfrm>
          <a:prstGeom prst="rect">
            <a:avLst/>
          </a:prstGeom>
          <a:noFill/>
          <a:ln/>
        </p:spPr>
        <p:txBody>
          <a:bodyPr wrap="square" rtlCol="0" anchor="ctr"/>
          <a:lstStyle/>
          <a:p>
            <a:pPr marL="0" indent="0">
              <a:buNone/>
            </a:pPr>
            <a:r>
              <a:rPr lang="en-US" sz="950" i="1" dirty="0">
                <a:solidFill>
                  <a:srgbClr val="1A4A8A"/>
                </a:solidFill>
                <a:latin typeface="Calibri" pitchFamily="34" charset="0"/>
                <a:ea typeface="Calibri" pitchFamily="34" charset="-122"/>
                <a:cs typeface="Calibri" pitchFamily="34" charset="-120"/>
              </a:rPr>
              <a:t>Outils : Power BI · Tableau · DataRobot</a:t>
            </a:r>
            <a:endParaRPr lang="en-US" sz="950" dirty="0"/>
          </a:p>
        </p:txBody>
      </p:sp>
      <p:sp>
        <p:nvSpPr>
          <p:cNvPr id="24" name="Shape 20"/>
          <p:cNvSpPr/>
          <p:nvPr/>
        </p:nvSpPr>
        <p:spPr>
          <a:xfrm>
            <a:off x="6163056" y="749808"/>
            <a:ext cx="2816352" cy="4023360"/>
          </a:xfrm>
          <a:prstGeom prst="rect">
            <a:avLst/>
          </a:prstGeom>
          <a:solidFill>
            <a:srgbClr val="FFFFFF"/>
          </a:solidFill>
          <a:ln w="12700">
            <a:solidFill>
              <a:srgbClr val="D5E3F7"/>
            </a:solidFill>
            <a:prstDash val="solid"/>
          </a:ln>
          <a:effectLst>
            <a:outerShdw blurRad="127000" dist="25400" dir="8100000" algn="bl" rotWithShape="0">
              <a:srgbClr val="000000">
                <a:alpha val="12000"/>
              </a:srgbClr>
            </a:outerShdw>
          </a:effectLst>
        </p:spPr>
        <p:txBody>
          <a:bodyPr/>
          <a:lstStyle/>
          <a:p>
            <a:endParaRPr lang="fr-FR"/>
          </a:p>
        </p:txBody>
      </p:sp>
      <p:sp>
        <p:nvSpPr>
          <p:cNvPr id="25" name="Shape 21"/>
          <p:cNvSpPr/>
          <p:nvPr/>
        </p:nvSpPr>
        <p:spPr>
          <a:xfrm>
            <a:off x="7159752" y="914400"/>
            <a:ext cx="822960" cy="822960"/>
          </a:xfrm>
          <a:prstGeom prst="ellipse">
            <a:avLst/>
          </a:prstGeom>
          <a:solidFill>
            <a:srgbClr val="2E7D32"/>
          </a:solidFill>
          <a:ln w="12700">
            <a:solidFill>
              <a:srgbClr val="2E7D32"/>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7223760" y="978408"/>
            <a:ext cx="694944" cy="694944"/>
          </a:xfrm>
          <a:prstGeom prst="rect">
            <a:avLst/>
          </a:prstGeom>
        </p:spPr>
      </p:pic>
      <p:sp>
        <p:nvSpPr>
          <p:cNvPr id="27" name="Text 22"/>
          <p:cNvSpPr/>
          <p:nvPr/>
        </p:nvSpPr>
        <p:spPr>
          <a:xfrm>
            <a:off x="6254496" y="1874520"/>
            <a:ext cx="2606040" cy="457200"/>
          </a:xfrm>
          <a:prstGeom prst="rect">
            <a:avLst/>
          </a:prstGeom>
          <a:noFill/>
          <a:ln/>
        </p:spPr>
        <p:txBody>
          <a:bodyPr wrap="square" rtlCol="0" anchor="ctr"/>
          <a:lstStyle/>
          <a:p>
            <a:pPr marL="0" indent="0" algn="ctr">
              <a:buNone/>
            </a:pPr>
            <a:r>
              <a:rPr lang="en-US" sz="1600" b="1" dirty="0">
                <a:solidFill>
                  <a:srgbClr val="2E7D32"/>
                </a:solidFill>
                <a:latin typeface="Calibri" pitchFamily="34" charset="0"/>
                <a:ea typeface="Calibri" pitchFamily="34" charset="-122"/>
                <a:cs typeface="Calibri" pitchFamily="34" charset="-120"/>
              </a:rPr>
              <a:t>Assistants Intelligents</a:t>
            </a:r>
            <a:endParaRPr lang="en-US" sz="1600" dirty="0"/>
          </a:p>
        </p:txBody>
      </p:sp>
      <p:sp>
        <p:nvSpPr>
          <p:cNvPr id="28" name="Text 23"/>
          <p:cNvSpPr/>
          <p:nvPr/>
        </p:nvSpPr>
        <p:spPr>
          <a:xfrm>
            <a:off x="6254496" y="2331720"/>
            <a:ext cx="2606040" cy="320040"/>
          </a:xfrm>
          <a:prstGeom prst="rect">
            <a:avLst/>
          </a:prstGeom>
          <a:noFill/>
          <a:ln/>
        </p:spPr>
        <p:txBody>
          <a:bodyPr wrap="square" rtlCol="0" anchor="ctr"/>
          <a:lstStyle/>
          <a:p>
            <a:pPr marL="0" indent="0" algn="ctr">
              <a:buNone/>
            </a:pPr>
            <a:r>
              <a:rPr lang="en-US" sz="1150" i="1" dirty="0">
                <a:solidFill>
                  <a:srgbClr val="5A6478"/>
                </a:solidFill>
                <a:latin typeface="Calibri" pitchFamily="34" charset="0"/>
                <a:ea typeface="Calibri" pitchFamily="34" charset="-122"/>
                <a:cs typeface="Calibri" pitchFamily="34" charset="-120"/>
              </a:rPr>
              <a:t>Automatise &amp; répond</a:t>
            </a:r>
            <a:endParaRPr lang="en-US" sz="1150" dirty="0"/>
          </a:p>
        </p:txBody>
      </p:sp>
      <p:sp>
        <p:nvSpPr>
          <p:cNvPr id="29" name="Text 24"/>
          <p:cNvSpPr/>
          <p:nvPr/>
        </p:nvSpPr>
        <p:spPr>
          <a:xfrm>
            <a:off x="6300216" y="2743200"/>
            <a:ext cx="2542032" cy="105156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Répond aux questions, gère les agendas, traite les emails et interagit en langage naturel.</a:t>
            </a:r>
            <a:endParaRPr lang="en-US" sz="1150" dirty="0"/>
          </a:p>
        </p:txBody>
      </p:sp>
      <p:sp>
        <p:nvSpPr>
          <p:cNvPr id="30" name="Shape 25"/>
          <p:cNvSpPr/>
          <p:nvPr/>
        </p:nvSpPr>
        <p:spPr>
          <a:xfrm>
            <a:off x="6272784" y="3886200"/>
            <a:ext cx="2606040" cy="411480"/>
          </a:xfrm>
          <a:prstGeom prst="rect">
            <a:avLst/>
          </a:prstGeom>
          <a:solidFill>
            <a:srgbClr val="EEF4FF"/>
          </a:solidFill>
          <a:ln w="6350">
            <a:solidFill>
              <a:srgbClr val="C5D8F0"/>
            </a:solidFill>
            <a:prstDash val="solid"/>
          </a:ln>
        </p:spPr>
        <p:txBody>
          <a:bodyPr/>
          <a:lstStyle/>
          <a:p>
            <a:endParaRPr lang="fr-FR"/>
          </a:p>
        </p:txBody>
      </p:sp>
      <p:sp>
        <p:nvSpPr>
          <p:cNvPr id="31" name="Text 26"/>
          <p:cNvSpPr/>
          <p:nvPr/>
        </p:nvSpPr>
        <p:spPr>
          <a:xfrm>
            <a:off x="6327648" y="3904488"/>
            <a:ext cx="2487168" cy="365760"/>
          </a:xfrm>
          <a:prstGeom prst="rect">
            <a:avLst/>
          </a:prstGeom>
          <a:noFill/>
          <a:ln/>
        </p:spPr>
        <p:txBody>
          <a:bodyPr wrap="square" rtlCol="0" anchor="ctr"/>
          <a:lstStyle/>
          <a:p>
            <a:pPr marL="0" indent="0">
              <a:buNone/>
            </a:pPr>
            <a:r>
              <a:rPr lang="en-US" sz="950" i="1" dirty="0">
                <a:solidFill>
                  <a:srgbClr val="1A4A8A"/>
                </a:solidFill>
                <a:latin typeface="Calibri" pitchFamily="34" charset="0"/>
                <a:ea typeface="Calibri" pitchFamily="34" charset="-122"/>
                <a:cs typeface="Calibri" pitchFamily="34" charset="-120"/>
              </a:rPr>
              <a:t>Outils : Siri · Alexa · Google Assistant · Copilot 365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L'IA en action : exemples concrets en entreprise</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818388"/>
            <a:ext cx="429768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7"/>
          <p:cNvSpPr/>
          <p:nvPr/>
        </p:nvSpPr>
        <p:spPr>
          <a:xfrm>
            <a:off x="274320" y="804672"/>
            <a:ext cx="91440" cy="1920240"/>
          </a:xfrm>
          <a:prstGeom prst="rect">
            <a:avLst/>
          </a:prstGeom>
          <a:solidFill>
            <a:srgbClr val="1A4A8A"/>
          </a:solidFill>
          <a:ln w="12700">
            <a:solidFill>
              <a:srgbClr val="1A4A8A"/>
            </a:solidFill>
            <a:prstDash val="solid"/>
          </a:ln>
        </p:spPr>
        <p:txBody>
          <a:bodyPr/>
          <a:lstStyle/>
          <a:p>
            <a:endParaRPr lang="fr-FR"/>
          </a:p>
        </p:txBody>
      </p:sp>
      <p:sp>
        <p:nvSpPr>
          <p:cNvPr id="10" name="Shape 8"/>
          <p:cNvSpPr/>
          <p:nvPr/>
        </p:nvSpPr>
        <p:spPr>
          <a:xfrm>
            <a:off x="475488" y="987552"/>
            <a:ext cx="640080" cy="640080"/>
          </a:xfrm>
          <a:prstGeom prst="ellipse">
            <a:avLst/>
          </a:prstGeom>
          <a:solidFill>
            <a:srgbClr val="1A4A8A"/>
          </a:solidFill>
          <a:ln w="12700">
            <a:solidFill>
              <a:srgbClr val="1A4A8A"/>
            </a:solidFill>
            <a:prstDash val="solid"/>
          </a:ln>
        </p:spPr>
        <p:txBody>
          <a:bodyPr/>
          <a:lstStyle/>
          <a:p>
            <a:endParaRPr lang="fr-FR"/>
          </a:p>
        </p:txBody>
      </p:sp>
      <p:pic>
        <p:nvPicPr>
          <p:cNvPr id="11" name="Image 0" descr="preencoded.png"/>
          <p:cNvPicPr>
            <a:picLocks noChangeAspect="1"/>
          </p:cNvPicPr>
          <p:nvPr/>
        </p:nvPicPr>
        <p:blipFill>
          <a:blip r:embed="rId3"/>
          <a:stretch>
            <a:fillRect/>
          </a:stretch>
        </p:blipFill>
        <p:spPr>
          <a:xfrm>
            <a:off x="521208" y="1014984"/>
            <a:ext cx="548640" cy="548640"/>
          </a:xfrm>
          <a:prstGeom prst="rect">
            <a:avLst/>
          </a:prstGeom>
        </p:spPr>
      </p:pic>
      <p:sp>
        <p:nvSpPr>
          <p:cNvPr id="12" name="Text 9"/>
          <p:cNvSpPr/>
          <p:nvPr/>
        </p:nvSpPr>
        <p:spPr>
          <a:xfrm>
            <a:off x="1261872" y="969264"/>
            <a:ext cx="3127248" cy="411480"/>
          </a:xfrm>
          <a:prstGeom prst="rect">
            <a:avLst/>
          </a:prstGeom>
          <a:noFill/>
          <a:ln/>
        </p:spPr>
        <p:txBody>
          <a:bodyPr wrap="square" rtlCol="0" anchor="ctr"/>
          <a:lstStyle/>
          <a:p>
            <a:pPr marL="0" indent="0">
              <a:buNone/>
            </a:pPr>
            <a:r>
              <a:rPr lang="en-US" sz="1400" b="1" dirty="0">
                <a:solidFill>
                  <a:srgbClr val="1A4A8A"/>
                </a:solidFill>
                <a:latin typeface="Calibri" pitchFamily="34" charset="0"/>
                <a:ea typeface="Calibri" pitchFamily="34" charset="-122"/>
                <a:cs typeface="Calibri" pitchFamily="34" charset="-120"/>
              </a:rPr>
              <a:t>Rédaction d'emails</a:t>
            </a:r>
            <a:endParaRPr lang="en-US" sz="1400" dirty="0"/>
          </a:p>
        </p:txBody>
      </p:sp>
      <p:sp>
        <p:nvSpPr>
          <p:cNvPr id="13" name="Text 10"/>
          <p:cNvSpPr/>
          <p:nvPr/>
        </p:nvSpPr>
        <p:spPr>
          <a:xfrm>
            <a:off x="438912" y="1601763"/>
            <a:ext cx="3977640" cy="6400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Générer, reformuler ou traduire des emails professionnels en quelques secondes.</a:t>
            </a:r>
            <a:endParaRPr lang="en-US" sz="1200" dirty="0"/>
          </a:p>
        </p:txBody>
      </p:sp>
      <p:sp>
        <p:nvSpPr>
          <p:cNvPr id="14" name="Shape 11"/>
          <p:cNvSpPr/>
          <p:nvPr/>
        </p:nvSpPr>
        <p:spPr>
          <a:xfrm>
            <a:off x="438912" y="2221992"/>
            <a:ext cx="3977640" cy="347472"/>
          </a:xfrm>
          <a:prstGeom prst="rect">
            <a:avLst/>
          </a:prstGeom>
          <a:solidFill>
            <a:srgbClr val="EEF4FF"/>
          </a:solidFill>
          <a:ln w="6350">
            <a:solidFill>
              <a:srgbClr val="C5D8F0"/>
            </a:solidFill>
            <a:prstDash val="solid"/>
          </a:ln>
        </p:spPr>
        <p:txBody>
          <a:bodyPr/>
          <a:lstStyle/>
          <a:p>
            <a:endParaRPr lang="fr-FR"/>
          </a:p>
        </p:txBody>
      </p:sp>
      <p:sp>
        <p:nvSpPr>
          <p:cNvPr id="15" name="Text 12"/>
          <p:cNvSpPr/>
          <p:nvPr/>
        </p:nvSpPr>
        <p:spPr>
          <a:xfrm>
            <a:off x="493776" y="2240280"/>
            <a:ext cx="3858768" cy="320040"/>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 -80% de temps de rédaction</a:t>
            </a:r>
            <a:endParaRPr lang="en-US" sz="1100" dirty="0"/>
          </a:p>
        </p:txBody>
      </p:sp>
      <p:sp>
        <p:nvSpPr>
          <p:cNvPr id="16" name="Shape 13"/>
          <p:cNvSpPr/>
          <p:nvPr/>
        </p:nvSpPr>
        <p:spPr>
          <a:xfrm>
            <a:off x="4754880" y="804672"/>
            <a:ext cx="429768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17" name="Shape 14"/>
          <p:cNvSpPr/>
          <p:nvPr/>
        </p:nvSpPr>
        <p:spPr>
          <a:xfrm>
            <a:off x="4754880" y="804672"/>
            <a:ext cx="91440" cy="1920240"/>
          </a:xfrm>
          <a:prstGeom prst="rect">
            <a:avLst/>
          </a:prstGeom>
          <a:solidFill>
            <a:srgbClr val="F47B20"/>
          </a:solidFill>
          <a:ln w="12700">
            <a:solidFill>
              <a:srgbClr val="F47B20"/>
            </a:solidFill>
            <a:prstDash val="solid"/>
          </a:ln>
        </p:spPr>
        <p:txBody>
          <a:bodyPr/>
          <a:lstStyle/>
          <a:p>
            <a:endParaRPr lang="fr-FR"/>
          </a:p>
        </p:txBody>
      </p:sp>
      <p:sp>
        <p:nvSpPr>
          <p:cNvPr id="18" name="Shape 15"/>
          <p:cNvSpPr/>
          <p:nvPr/>
        </p:nvSpPr>
        <p:spPr>
          <a:xfrm>
            <a:off x="4956048" y="987552"/>
            <a:ext cx="640080" cy="640080"/>
          </a:xfrm>
          <a:prstGeom prst="ellipse">
            <a:avLst/>
          </a:prstGeom>
          <a:solidFill>
            <a:srgbClr val="F47B20"/>
          </a:solidFill>
          <a:ln w="12700">
            <a:solidFill>
              <a:srgbClr val="F47B20"/>
            </a:solidFill>
            <a:prstDash val="solid"/>
          </a:ln>
        </p:spPr>
        <p:txBody>
          <a:bodyPr/>
          <a:lstStyle/>
          <a:p>
            <a:endParaRPr lang="fr-FR"/>
          </a:p>
        </p:txBody>
      </p:sp>
      <p:pic>
        <p:nvPicPr>
          <p:cNvPr id="19" name="Image 1" descr="preencoded.png"/>
          <p:cNvPicPr>
            <a:picLocks noChangeAspect="1"/>
          </p:cNvPicPr>
          <p:nvPr/>
        </p:nvPicPr>
        <p:blipFill>
          <a:blip r:embed="rId4"/>
          <a:stretch>
            <a:fillRect/>
          </a:stretch>
        </p:blipFill>
        <p:spPr>
          <a:xfrm>
            <a:off x="5001768" y="1024128"/>
            <a:ext cx="548640" cy="548640"/>
          </a:xfrm>
          <a:prstGeom prst="rect">
            <a:avLst/>
          </a:prstGeom>
        </p:spPr>
      </p:pic>
      <p:sp>
        <p:nvSpPr>
          <p:cNvPr id="20" name="Text 16"/>
          <p:cNvSpPr/>
          <p:nvPr/>
        </p:nvSpPr>
        <p:spPr>
          <a:xfrm>
            <a:off x="5742432" y="969264"/>
            <a:ext cx="3127248" cy="411480"/>
          </a:xfrm>
          <a:prstGeom prst="rect">
            <a:avLst/>
          </a:prstGeom>
          <a:noFill/>
          <a:ln/>
        </p:spPr>
        <p:txBody>
          <a:bodyPr wrap="square" rtlCol="0" anchor="ctr"/>
          <a:lstStyle/>
          <a:p>
            <a:pPr marL="0" indent="0">
              <a:buNone/>
            </a:pPr>
            <a:r>
              <a:rPr lang="en-US" sz="1400" b="1" dirty="0">
                <a:solidFill>
                  <a:srgbClr val="F47B20"/>
                </a:solidFill>
                <a:latin typeface="Calibri" pitchFamily="34" charset="0"/>
                <a:ea typeface="Calibri" pitchFamily="34" charset="-122"/>
                <a:cs typeface="Calibri" pitchFamily="34" charset="-120"/>
              </a:rPr>
              <a:t>Rapports &amp; CR</a:t>
            </a:r>
            <a:endParaRPr lang="en-US" sz="1400" dirty="0"/>
          </a:p>
        </p:txBody>
      </p:sp>
      <p:sp>
        <p:nvSpPr>
          <p:cNvPr id="21" name="Text 17"/>
          <p:cNvSpPr/>
          <p:nvPr/>
        </p:nvSpPr>
        <p:spPr>
          <a:xfrm>
            <a:off x="4855464" y="1589962"/>
            <a:ext cx="3977640" cy="6400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Transformer des notes en rapports structurés ou comptes rendus de réunion.</a:t>
            </a:r>
            <a:endParaRPr lang="en-US" sz="1200" dirty="0"/>
          </a:p>
        </p:txBody>
      </p:sp>
      <p:sp>
        <p:nvSpPr>
          <p:cNvPr id="22" name="Shape 18"/>
          <p:cNvSpPr/>
          <p:nvPr/>
        </p:nvSpPr>
        <p:spPr>
          <a:xfrm>
            <a:off x="4919472" y="2221992"/>
            <a:ext cx="3977640" cy="347472"/>
          </a:xfrm>
          <a:prstGeom prst="rect">
            <a:avLst/>
          </a:prstGeom>
          <a:solidFill>
            <a:srgbClr val="EEF4FF"/>
          </a:solidFill>
          <a:ln w="6350">
            <a:solidFill>
              <a:srgbClr val="C5D8F0"/>
            </a:solidFill>
            <a:prstDash val="solid"/>
          </a:ln>
        </p:spPr>
        <p:txBody>
          <a:bodyPr/>
          <a:lstStyle/>
          <a:p>
            <a:endParaRPr lang="fr-FR"/>
          </a:p>
        </p:txBody>
      </p:sp>
      <p:sp>
        <p:nvSpPr>
          <p:cNvPr id="23" name="Text 19"/>
          <p:cNvSpPr/>
          <p:nvPr/>
        </p:nvSpPr>
        <p:spPr>
          <a:xfrm>
            <a:off x="4974336" y="2240280"/>
            <a:ext cx="3858768" cy="320040"/>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 CR généré en 2 minutes</a:t>
            </a:r>
            <a:endParaRPr lang="en-US" sz="1100" dirty="0"/>
          </a:p>
        </p:txBody>
      </p:sp>
      <p:sp>
        <p:nvSpPr>
          <p:cNvPr id="24" name="Shape 20"/>
          <p:cNvSpPr/>
          <p:nvPr/>
        </p:nvSpPr>
        <p:spPr>
          <a:xfrm>
            <a:off x="274320" y="2907792"/>
            <a:ext cx="429768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25" name="Shape 21"/>
          <p:cNvSpPr/>
          <p:nvPr/>
        </p:nvSpPr>
        <p:spPr>
          <a:xfrm>
            <a:off x="274320" y="2907792"/>
            <a:ext cx="91440" cy="1920240"/>
          </a:xfrm>
          <a:prstGeom prst="rect">
            <a:avLst/>
          </a:prstGeom>
          <a:solidFill>
            <a:srgbClr val="2E7D32"/>
          </a:solidFill>
          <a:ln w="12700">
            <a:solidFill>
              <a:srgbClr val="2E7D32"/>
            </a:solidFill>
            <a:prstDash val="solid"/>
          </a:ln>
        </p:spPr>
        <p:txBody>
          <a:bodyPr/>
          <a:lstStyle/>
          <a:p>
            <a:endParaRPr lang="fr-FR"/>
          </a:p>
        </p:txBody>
      </p:sp>
      <p:sp>
        <p:nvSpPr>
          <p:cNvPr id="26" name="Shape 22"/>
          <p:cNvSpPr/>
          <p:nvPr/>
        </p:nvSpPr>
        <p:spPr>
          <a:xfrm>
            <a:off x="475488" y="3090672"/>
            <a:ext cx="640080" cy="640080"/>
          </a:xfrm>
          <a:prstGeom prst="ellipse">
            <a:avLst/>
          </a:prstGeom>
          <a:solidFill>
            <a:srgbClr val="2E7D32"/>
          </a:solidFill>
          <a:ln w="12700">
            <a:solidFill>
              <a:srgbClr val="2E7D32"/>
            </a:solidFill>
            <a:prstDash val="solid"/>
          </a:ln>
        </p:spPr>
        <p:txBody>
          <a:bodyPr/>
          <a:lstStyle/>
          <a:p>
            <a:endParaRPr lang="fr-FR"/>
          </a:p>
        </p:txBody>
      </p:sp>
      <p:pic>
        <p:nvPicPr>
          <p:cNvPr id="27" name="Image 2" descr="preencoded.png"/>
          <p:cNvPicPr>
            <a:picLocks noChangeAspect="1"/>
          </p:cNvPicPr>
          <p:nvPr/>
        </p:nvPicPr>
        <p:blipFill>
          <a:blip r:embed="rId5"/>
          <a:stretch>
            <a:fillRect/>
          </a:stretch>
        </p:blipFill>
        <p:spPr>
          <a:xfrm>
            <a:off x="521208" y="3127248"/>
            <a:ext cx="548640" cy="548640"/>
          </a:xfrm>
          <a:prstGeom prst="rect">
            <a:avLst/>
          </a:prstGeom>
        </p:spPr>
      </p:pic>
      <p:sp>
        <p:nvSpPr>
          <p:cNvPr id="28" name="Text 23"/>
          <p:cNvSpPr/>
          <p:nvPr/>
        </p:nvSpPr>
        <p:spPr>
          <a:xfrm>
            <a:off x="1261872" y="3072384"/>
            <a:ext cx="3127248" cy="411480"/>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Analyse de données</a:t>
            </a:r>
            <a:endParaRPr lang="en-US" sz="1400" dirty="0"/>
          </a:p>
        </p:txBody>
      </p:sp>
      <p:sp>
        <p:nvSpPr>
          <p:cNvPr id="29" name="Text 24"/>
          <p:cNvSpPr/>
          <p:nvPr/>
        </p:nvSpPr>
        <p:spPr>
          <a:xfrm>
            <a:off x="402336" y="3730752"/>
            <a:ext cx="3977640" cy="6400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Interpréter des tableaux Excel, détecter des tendances, créer des synthèses.</a:t>
            </a:r>
            <a:endParaRPr lang="en-US" sz="1200" dirty="0"/>
          </a:p>
        </p:txBody>
      </p:sp>
      <p:sp>
        <p:nvSpPr>
          <p:cNvPr id="30" name="Shape 25"/>
          <p:cNvSpPr/>
          <p:nvPr/>
        </p:nvSpPr>
        <p:spPr>
          <a:xfrm>
            <a:off x="438912" y="4325112"/>
            <a:ext cx="3977640" cy="347472"/>
          </a:xfrm>
          <a:prstGeom prst="rect">
            <a:avLst/>
          </a:prstGeom>
          <a:solidFill>
            <a:srgbClr val="EEF4FF"/>
          </a:solidFill>
          <a:ln w="6350">
            <a:solidFill>
              <a:srgbClr val="C5D8F0"/>
            </a:solidFill>
            <a:prstDash val="solid"/>
          </a:ln>
        </p:spPr>
        <p:txBody>
          <a:bodyPr/>
          <a:lstStyle/>
          <a:p>
            <a:endParaRPr lang="fr-FR"/>
          </a:p>
        </p:txBody>
      </p:sp>
      <p:sp>
        <p:nvSpPr>
          <p:cNvPr id="31" name="Text 26"/>
          <p:cNvSpPr/>
          <p:nvPr/>
        </p:nvSpPr>
        <p:spPr>
          <a:xfrm>
            <a:off x="493776" y="4343400"/>
            <a:ext cx="3858768" cy="320040"/>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 Insights en temps réel</a:t>
            </a:r>
            <a:endParaRPr lang="en-US" sz="1100" dirty="0"/>
          </a:p>
        </p:txBody>
      </p:sp>
      <p:sp>
        <p:nvSpPr>
          <p:cNvPr id="32" name="Shape 27"/>
          <p:cNvSpPr/>
          <p:nvPr/>
        </p:nvSpPr>
        <p:spPr>
          <a:xfrm>
            <a:off x="4754880" y="2907792"/>
            <a:ext cx="429768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33" name="Shape 28"/>
          <p:cNvSpPr/>
          <p:nvPr/>
        </p:nvSpPr>
        <p:spPr>
          <a:xfrm>
            <a:off x="4754880" y="2907792"/>
            <a:ext cx="91440" cy="1920240"/>
          </a:xfrm>
          <a:prstGeom prst="rect">
            <a:avLst/>
          </a:prstGeom>
          <a:solidFill>
            <a:srgbClr val="7B3FA0"/>
          </a:solidFill>
          <a:ln w="12700">
            <a:solidFill>
              <a:srgbClr val="7B3FA0"/>
            </a:solidFill>
            <a:prstDash val="solid"/>
          </a:ln>
        </p:spPr>
        <p:txBody>
          <a:bodyPr/>
          <a:lstStyle/>
          <a:p>
            <a:endParaRPr lang="fr-FR"/>
          </a:p>
        </p:txBody>
      </p:sp>
      <p:sp>
        <p:nvSpPr>
          <p:cNvPr id="34" name="Shape 29"/>
          <p:cNvSpPr/>
          <p:nvPr/>
        </p:nvSpPr>
        <p:spPr>
          <a:xfrm>
            <a:off x="4956048" y="3090672"/>
            <a:ext cx="640080" cy="640080"/>
          </a:xfrm>
          <a:prstGeom prst="ellipse">
            <a:avLst/>
          </a:prstGeom>
          <a:solidFill>
            <a:srgbClr val="7B3FA0"/>
          </a:solidFill>
          <a:ln w="12700">
            <a:solidFill>
              <a:srgbClr val="7B3FA0"/>
            </a:solidFill>
            <a:prstDash val="solid"/>
          </a:ln>
        </p:spPr>
        <p:txBody>
          <a:bodyPr/>
          <a:lstStyle/>
          <a:p>
            <a:endParaRPr lang="fr-FR"/>
          </a:p>
        </p:txBody>
      </p:sp>
      <p:pic>
        <p:nvPicPr>
          <p:cNvPr id="35" name="Image 3" descr="preencoded.png"/>
          <p:cNvPicPr>
            <a:picLocks noChangeAspect="1"/>
          </p:cNvPicPr>
          <p:nvPr/>
        </p:nvPicPr>
        <p:blipFill>
          <a:blip r:embed="rId6"/>
          <a:stretch>
            <a:fillRect/>
          </a:stretch>
        </p:blipFill>
        <p:spPr>
          <a:xfrm>
            <a:off x="5001768" y="3127248"/>
            <a:ext cx="548640" cy="548640"/>
          </a:xfrm>
          <a:prstGeom prst="rect">
            <a:avLst/>
          </a:prstGeom>
        </p:spPr>
      </p:pic>
      <p:sp>
        <p:nvSpPr>
          <p:cNvPr id="36" name="Text 30"/>
          <p:cNvSpPr/>
          <p:nvPr/>
        </p:nvSpPr>
        <p:spPr>
          <a:xfrm>
            <a:off x="5742432" y="3072384"/>
            <a:ext cx="3127248" cy="411480"/>
          </a:xfrm>
          <a:prstGeom prst="rect">
            <a:avLst/>
          </a:prstGeom>
          <a:noFill/>
          <a:ln/>
        </p:spPr>
        <p:txBody>
          <a:bodyPr wrap="square" rtlCol="0" anchor="ctr"/>
          <a:lstStyle/>
          <a:p>
            <a:pPr marL="0" indent="0">
              <a:buNone/>
            </a:pPr>
            <a:r>
              <a:rPr lang="en-US" sz="1400" b="1" dirty="0">
                <a:solidFill>
                  <a:srgbClr val="7B3FA0"/>
                </a:solidFill>
                <a:latin typeface="Calibri" pitchFamily="34" charset="0"/>
                <a:ea typeface="Calibri" pitchFamily="34" charset="-122"/>
                <a:cs typeface="Calibri" pitchFamily="34" charset="-120"/>
              </a:rPr>
              <a:t>Support client</a:t>
            </a:r>
            <a:endParaRPr lang="en-US" sz="1400" dirty="0"/>
          </a:p>
        </p:txBody>
      </p:sp>
      <p:sp>
        <p:nvSpPr>
          <p:cNvPr id="37" name="Text 31"/>
          <p:cNvSpPr/>
          <p:nvPr/>
        </p:nvSpPr>
        <p:spPr>
          <a:xfrm>
            <a:off x="4914900" y="3749040"/>
            <a:ext cx="3977640" cy="640080"/>
          </a:xfrm>
          <a:prstGeom prst="rect">
            <a:avLst/>
          </a:prstGeom>
          <a:noFill/>
          <a:ln/>
        </p:spPr>
        <p:txBody>
          <a:bodyPr wrap="square" rtlCol="0" anchor="t"/>
          <a:lstStyle/>
          <a:p>
            <a:pPr marL="0" indent="0">
              <a:buNone/>
            </a:pPr>
            <a:r>
              <a:rPr lang="en-US" sz="1200" dirty="0">
                <a:solidFill>
                  <a:srgbClr val="1A1A2E"/>
                </a:solidFill>
                <a:latin typeface="Calibri" pitchFamily="34" charset="0"/>
                <a:ea typeface="Calibri" pitchFamily="34" charset="-122"/>
                <a:cs typeface="Calibri" pitchFamily="34" charset="-120"/>
              </a:rPr>
              <a:t>Chatbots intelligents pour répondre aux FAQs clients 24h/24.</a:t>
            </a:r>
            <a:endParaRPr lang="en-US" sz="1200" dirty="0"/>
          </a:p>
        </p:txBody>
      </p:sp>
      <p:sp>
        <p:nvSpPr>
          <p:cNvPr id="38" name="Shape 32"/>
          <p:cNvSpPr/>
          <p:nvPr/>
        </p:nvSpPr>
        <p:spPr>
          <a:xfrm>
            <a:off x="4919472" y="4325112"/>
            <a:ext cx="3977640" cy="347472"/>
          </a:xfrm>
          <a:prstGeom prst="rect">
            <a:avLst/>
          </a:prstGeom>
          <a:solidFill>
            <a:srgbClr val="EEF4FF"/>
          </a:solidFill>
          <a:ln w="6350">
            <a:solidFill>
              <a:srgbClr val="C5D8F0"/>
            </a:solidFill>
            <a:prstDash val="solid"/>
          </a:ln>
        </p:spPr>
        <p:txBody>
          <a:bodyPr/>
          <a:lstStyle/>
          <a:p>
            <a:endParaRPr lang="fr-FR"/>
          </a:p>
        </p:txBody>
      </p:sp>
      <p:sp>
        <p:nvSpPr>
          <p:cNvPr id="39" name="Text 33"/>
          <p:cNvSpPr/>
          <p:nvPr/>
        </p:nvSpPr>
        <p:spPr>
          <a:xfrm>
            <a:off x="4974336" y="4343400"/>
            <a:ext cx="3858768" cy="320040"/>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 -60% de tickets support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Les bénéfices de l'IA pour les entreprises</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365760" y="804672"/>
            <a:ext cx="2697480" cy="1417320"/>
          </a:xfrm>
          <a:prstGeom prst="rect">
            <a:avLst/>
          </a:prstGeom>
          <a:solidFill>
            <a:srgbClr val="1A4A8A"/>
          </a:solidFill>
          <a:ln w="12700">
            <a:solidFill>
              <a:srgbClr val="1A4A8A"/>
            </a:solidFill>
            <a:prstDash val="solid"/>
          </a:ln>
          <a:effectLst>
            <a:outerShdw blurRad="101600" dist="25400" dir="8100000" algn="bl" rotWithShape="0">
              <a:srgbClr val="000000">
                <a:alpha val="12000"/>
              </a:srgbClr>
            </a:outerShdw>
          </a:effectLst>
        </p:spPr>
        <p:txBody>
          <a:bodyPr/>
          <a:lstStyle/>
          <a:p>
            <a:endParaRPr lang="fr-FR"/>
          </a:p>
        </p:txBody>
      </p:sp>
      <p:sp>
        <p:nvSpPr>
          <p:cNvPr id="9" name="Text 7"/>
          <p:cNvSpPr/>
          <p:nvPr/>
        </p:nvSpPr>
        <p:spPr>
          <a:xfrm>
            <a:off x="365760" y="822960"/>
            <a:ext cx="2697480" cy="749808"/>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3×</a:t>
            </a:r>
            <a:endParaRPr lang="en-US" sz="4200" dirty="0"/>
          </a:p>
        </p:txBody>
      </p:sp>
      <p:sp>
        <p:nvSpPr>
          <p:cNvPr id="10" name="Text 8"/>
          <p:cNvSpPr/>
          <p:nvPr/>
        </p:nvSpPr>
        <p:spPr>
          <a:xfrm>
            <a:off x="365760" y="1572768"/>
            <a:ext cx="2697480" cy="54864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plus rapide</a:t>
            </a:r>
            <a:endParaRPr lang="en-US" sz="1100" dirty="0"/>
          </a:p>
          <a:p>
            <a:pPr marL="0" indent="0" algn="ctr">
              <a:buNone/>
            </a:pPr>
            <a:r>
              <a:rPr lang="en-US" sz="1100" i="1" dirty="0">
                <a:solidFill>
                  <a:srgbClr val="FFFFFF"/>
                </a:solidFill>
                <a:latin typeface="Calibri" pitchFamily="34" charset="0"/>
                <a:ea typeface="Calibri" pitchFamily="34" charset="-122"/>
                <a:cs typeface="Calibri" pitchFamily="34" charset="-120"/>
              </a:rPr>
              <a:t>pour les tâches admin.</a:t>
            </a:r>
            <a:endParaRPr lang="en-US" sz="1100" dirty="0"/>
          </a:p>
        </p:txBody>
      </p:sp>
      <p:sp>
        <p:nvSpPr>
          <p:cNvPr id="11" name="Shape 9"/>
          <p:cNvSpPr/>
          <p:nvPr/>
        </p:nvSpPr>
        <p:spPr>
          <a:xfrm>
            <a:off x="3246120" y="804672"/>
            <a:ext cx="2697480" cy="1417320"/>
          </a:xfrm>
          <a:prstGeom prst="rect">
            <a:avLst/>
          </a:prstGeom>
          <a:solidFill>
            <a:srgbClr val="F47B20"/>
          </a:solidFill>
          <a:ln w="12700">
            <a:solidFill>
              <a:srgbClr val="F47B20"/>
            </a:solidFill>
            <a:prstDash val="solid"/>
          </a:ln>
          <a:effectLst>
            <a:outerShdw blurRad="101600" dist="25400" dir="8100000" algn="bl" rotWithShape="0">
              <a:srgbClr val="000000">
                <a:alpha val="12000"/>
              </a:srgbClr>
            </a:outerShdw>
          </a:effectLst>
        </p:spPr>
        <p:txBody>
          <a:bodyPr/>
          <a:lstStyle/>
          <a:p>
            <a:endParaRPr lang="fr-FR"/>
          </a:p>
        </p:txBody>
      </p:sp>
      <p:sp>
        <p:nvSpPr>
          <p:cNvPr id="12" name="Text 10"/>
          <p:cNvSpPr/>
          <p:nvPr/>
        </p:nvSpPr>
        <p:spPr>
          <a:xfrm>
            <a:off x="3246120" y="822960"/>
            <a:ext cx="2697480" cy="749808"/>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40%</a:t>
            </a:r>
            <a:endParaRPr lang="en-US" sz="4200" dirty="0"/>
          </a:p>
        </p:txBody>
      </p:sp>
      <p:sp>
        <p:nvSpPr>
          <p:cNvPr id="13" name="Text 11"/>
          <p:cNvSpPr/>
          <p:nvPr/>
        </p:nvSpPr>
        <p:spPr>
          <a:xfrm>
            <a:off x="3246120" y="1572768"/>
            <a:ext cx="2697480" cy="54864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de réduction</a:t>
            </a:r>
            <a:endParaRPr lang="en-US" sz="1100" dirty="0"/>
          </a:p>
          <a:p>
            <a:pPr marL="0" indent="0" algn="ctr">
              <a:buNone/>
            </a:pPr>
            <a:r>
              <a:rPr lang="en-US" sz="1100" i="1" dirty="0">
                <a:solidFill>
                  <a:srgbClr val="FFFFFF"/>
                </a:solidFill>
                <a:latin typeface="Calibri" pitchFamily="34" charset="0"/>
                <a:ea typeface="Calibri" pitchFamily="34" charset="-122"/>
                <a:cs typeface="Calibri" pitchFamily="34" charset="-120"/>
              </a:rPr>
              <a:t>des coûts opérationnels</a:t>
            </a:r>
            <a:endParaRPr lang="en-US" sz="1100" dirty="0"/>
          </a:p>
        </p:txBody>
      </p:sp>
      <p:sp>
        <p:nvSpPr>
          <p:cNvPr id="14" name="Shape 12"/>
          <p:cNvSpPr/>
          <p:nvPr/>
        </p:nvSpPr>
        <p:spPr>
          <a:xfrm>
            <a:off x="6126480" y="804672"/>
            <a:ext cx="2697480" cy="1417320"/>
          </a:xfrm>
          <a:prstGeom prst="rect">
            <a:avLst/>
          </a:prstGeom>
          <a:solidFill>
            <a:srgbClr val="2E7D32"/>
          </a:solidFill>
          <a:ln w="12700">
            <a:solidFill>
              <a:srgbClr val="2E7D32"/>
            </a:solidFill>
            <a:prstDash val="solid"/>
          </a:ln>
          <a:effectLst>
            <a:outerShdw blurRad="101600" dist="25400" dir="8100000" algn="bl" rotWithShape="0">
              <a:srgbClr val="000000">
                <a:alpha val="12000"/>
              </a:srgbClr>
            </a:outerShdw>
          </a:effectLst>
        </p:spPr>
        <p:txBody>
          <a:bodyPr/>
          <a:lstStyle/>
          <a:p>
            <a:endParaRPr lang="fr-FR"/>
          </a:p>
        </p:txBody>
      </p:sp>
      <p:sp>
        <p:nvSpPr>
          <p:cNvPr id="15" name="Text 13"/>
          <p:cNvSpPr/>
          <p:nvPr/>
        </p:nvSpPr>
        <p:spPr>
          <a:xfrm>
            <a:off x="6126480" y="822960"/>
            <a:ext cx="2697480" cy="749808"/>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85%</a:t>
            </a:r>
            <a:endParaRPr lang="en-US" sz="4200" dirty="0"/>
          </a:p>
        </p:txBody>
      </p:sp>
      <p:sp>
        <p:nvSpPr>
          <p:cNvPr id="16" name="Text 14"/>
          <p:cNvSpPr/>
          <p:nvPr/>
        </p:nvSpPr>
        <p:spPr>
          <a:xfrm>
            <a:off x="6126480" y="1572768"/>
            <a:ext cx="2697480" cy="548640"/>
          </a:xfrm>
          <a:prstGeom prst="rect">
            <a:avLst/>
          </a:prstGeom>
          <a:noFill/>
          <a:ln/>
        </p:spPr>
        <p:txBody>
          <a:bodyPr wrap="square" rtlCol="0" anchor="ctr"/>
          <a:lstStyle/>
          <a:p>
            <a:pPr marL="0" indent="0" algn="ctr">
              <a:buNone/>
            </a:pPr>
            <a:r>
              <a:rPr lang="en-US" sz="1100" i="1" dirty="0">
                <a:solidFill>
                  <a:srgbClr val="FFFFFF"/>
                </a:solidFill>
                <a:latin typeface="Calibri" pitchFamily="34" charset="0"/>
                <a:ea typeface="Calibri" pitchFamily="34" charset="-122"/>
                <a:cs typeface="Calibri" pitchFamily="34" charset="-120"/>
              </a:rPr>
              <a:t>de tâches répétitives</a:t>
            </a:r>
            <a:endParaRPr lang="en-US" sz="1100" dirty="0"/>
          </a:p>
          <a:p>
            <a:pPr marL="0" indent="0" algn="ctr">
              <a:buNone/>
            </a:pPr>
            <a:r>
              <a:rPr lang="en-US" sz="1100" i="1" dirty="0">
                <a:solidFill>
                  <a:srgbClr val="FFFFFF"/>
                </a:solidFill>
                <a:latin typeface="Calibri" pitchFamily="34" charset="0"/>
                <a:ea typeface="Calibri" pitchFamily="34" charset="-122"/>
                <a:cs typeface="Calibri" pitchFamily="34" charset="-120"/>
              </a:rPr>
              <a:t>automatisables</a:t>
            </a:r>
            <a:endParaRPr lang="en-US" sz="1100" dirty="0"/>
          </a:p>
        </p:txBody>
      </p:sp>
      <p:sp>
        <p:nvSpPr>
          <p:cNvPr id="17" name="Shape 15"/>
          <p:cNvSpPr/>
          <p:nvPr/>
        </p:nvSpPr>
        <p:spPr>
          <a:xfrm>
            <a:off x="320040" y="2395728"/>
            <a:ext cx="2057400" cy="230428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18" name="Shape 16"/>
          <p:cNvSpPr/>
          <p:nvPr/>
        </p:nvSpPr>
        <p:spPr>
          <a:xfrm>
            <a:off x="320040" y="2395728"/>
            <a:ext cx="2057400" cy="54864"/>
          </a:xfrm>
          <a:prstGeom prst="rect">
            <a:avLst/>
          </a:prstGeom>
          <a:solidFill>
            <a:srgbClr val="F47B20"/>
          </a:solidFill>
          <a:ln w="12700">
            <a:solidFill>
              <a:srgbClr val="F47B20"/>
            </a:solidFill>
            <a:prstDash val="solid"/>
          </a:ln>
        </p:spPr>
        <p:txBody>
          <a:bodyPr/>
          <a:lstStyle/>
          <a:p>
            <a:endParaRPr lang="fr-FR"/>
          </a:p>
        </p:txBody>
      </p:sp>
      <p:pic>
        <p:nvPicPr>
          <p:cNvPr id="19" name="Image 0" descr="preencoded.png"/>
          <p:cNvPicPr>
            <a:picLocks noChangeAspect="1"/>
          </p:cNvPicPr>
          <p:nvPr/>
        </p:nvPicPr>
        <p:blipFill>
          <a:blip r:embed="rId3"/>
          <a:stretch>
            <a:fillRect/>
          </a:stretch>
        </p:blipFill>
        <p:spPr>
          <a:xfrm>
            <a:off x="1124712" y="2542032"/>
            <a:ext cx="475488" cy="475488"/>
          </a:xfrm>
          <a:prstGeom prst="rect">
            <a:avLst/>
          </a:prstGeom>
        </p:spPr>
      </p:pic>
      <p:sp>
        <p:nvSpPr>
          <p:cNvPr id="20" name="Text 17"/>
          <p:cNvSpPr/>
          <p:nvPr/>
        </p:nvSpPr>
        <p:spPr>
          <a:xfrm>
            <a:off x="411480" y="3090672"/>
            <a:ext cx="1874520" cy="411480"/>
          </a:xfrm>
          <a:prstGeom prst="rect">
            <a:avLst/>
          </a:prstGeom>
          <a:noFill/>
          <a:ln/>
        </p:spPr>
        <p:txBody>
          <a:bodyPr wrap="square" rtlCol="0" anchor="ctr"/>
          <a:lstStyle/>
          <a:p>
            <a:pPr marL="0" indent="0" algn="ctr">
              <a:buNone/>
            </a:pPr>
            <a:r>
              <a:rPr lang="en-US" sz="1250" b="1" dirty="0">
                <a:solidFill>
                  <a:srgbClr val="1A4A8A"/>
                </a:solidFill>
                <a:latin typeface="Calibri" pitchFamily="34" charset="0"/>
                <a:ea typeface="Calibri" pitchFamily="34" charset="-122"/>
                <a:cs typeface="Calibri" pitchFamily="34" charset="-120"/>
              </a:rPr>
              <a:t>Gain de temps</a:t>
            </a:r>
            <a:endParaRPr lang="en-US" sz="1250" dirty="0"/>
          </a:p>
        </p:txBody>
      </p:sp>
      <p:sp>
        <p:nvSpPr>
          <p:cNvPr id="21" name="Text 18"/>
          <p:cNvSpPr/>
          <p:nvPr/>
        </p:nvSpPr>
        <p:spPr>
          <a:xfrm>
            <a:off x="429768" y="3547872"/>
            <a:ext cx="1828800" cy="1005840"/>
          </a:xfrm>
          <a:prstGeom prst="rect">
            <a:avLst/>
          </a:prstGeom>
          <a:noFill/>
          <a:ln/>
        </p:spPr>
        <p:txBody>
          <a:bodyPr wrap="square" rtlCol="0" anchor="t"/>
          <a:lstStyle/>
          <a:p>
            <a:pPr marL="0" indent="0" algn="ctr">
              <a:buNone/>
            </a:pPr>
            <a:r>
              <a:rPr lang="en-US" sz="1100" dirty="0">
                <a:solidFill>
                  <a:srgbClr val="5A6478"/>
                </a:solidFill>
                <a:latin typeface="Calibri" pitchFamily="34" charset="0"/>
                <a:ea typeface="Calibri" pitchFamily="34" charset="-122"/>
                <a:cs typeface="Calibri" pitchFamily="34" charset="-120"/>
              </a:rPr>
              <a:t>Automatise les tâches répétitives → libère du temps pour des missions à valeur ajoutée.</a:t>
            </a:r>
            <a:endParaRPr lang="en-US" sz="1100" dirty="0"/>
          </a:p>
        </p:txBody>
      </p:sp>
      <p:sp>
        <p:nvSpPr>
          <p:cNvPr id="22" name="Shape 19"/>
          <p:cNvSpPr/>
          <p:nvPr/>
        </p:nvSpPr>
        <p:spPr>
          <a:xfrm>
            <a:off x="2496312" y="2395728"/>
            <a:ext cx="2057400" cy="230428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3" name="Shape 20"/>
          <p:cNvSpPr/>
          <p:nvPr/>
        </p:nvSpPr>
        <p:spPr>
          <a:xfrm>
            <a:off x="2496312" y="2395728"/>
            <a:ext cx="2057400" cy="54864"/>
          </a:xfrm>
          <a:prstGeom prst="rect">
            <a:avLst/>
          </a:prstGeom>
          <a:solidFill>
            <a:srgbClr val="F47B20"/>
          </a:solidFill>
          <a:ln w="12700">
            <a:solidFill>
              <a:srgbClr val="F47B20"/>
            </a:solidFill>
            <a:prstDash val="solid"/>
          </a:ln>
        </p:spPr>
        <p:txBody>
          <a:bodyPr/>
          <a:lstStyle/>
          <a:p>
            <a:endParaRPr lang="fr-FR"/>
          </a:p>
        </p:txBody>
      </p:sp>
      <p:pic>
        <p:nvPicPr>
          <p:cNvPr id="24" name="Image 1" descr="preencoded.png"/>
          <p:cNvPicPr>
            <a:picLocks noChangeAspect="1"/>
          </p:cNvPicPr>
          <p:nvPr/>
        </p:nvPicPr>
        <p:blipFill>
          <a:blip r:embed="rId4"/>
          <a:stretch>
            <a:fillRect/>
          </a:stretch>
        </p:blipFill>
        <p:spPr>
          <a:xfrm>
            <a:off x="3300984" y="2542032"/>
            <a:ext cx="475488" cy="475488"/>
          </a:xfrm>
          <a:prstGeom prst="rect">
            <a:avLst/>
          </a:prstGeom>
        </p:spPr>
      </p:pic>
      <p:sp>
        <p:nvSpPr>
          <p:cNvPr id="25" name="Text 21"/>
          <p:cNvSpPr/>
          <p:nvPr/>
        </p:nvSpPr>
        <p:spPr>
          <a:xfrm>
            <a:off x="2587752" y="3090672"/>
            <a:ext cx="1874520" cy="411480"/>
          </a:xfrm>
          <a:prstGeom prst="rect">
            <a:avLst/>
          </a:prstGeom>
          <a:noFill/>
          <a:ln/>
        </p:spPr>
        <p:txBody>
          <a:bodyPr wrap="square" rtlCol="0" anchor="ctr"/>
          <a:lstStyle/>
          <a:p>
            <a:pPr marL="0" indent="0" algn="ctr">
              <a:buNone/>
            </a:pPr>
            <a:r>
              <a:rPr lang="en-US" sz="1250" b="1" dirty="0">
                <a:solidFill>
                  <a:srgbClr val="1A4A8A"/>
                </a:solidFill>
                <a:latin typeface="Calibri" pitchFamily="34" charset="0"/>
                <a:ea typeface="Calibri" pitchFamily="34" charset="-122"/>
                <a:cs typeface="Calibri" pitchFamily="34" charset="-120"/>
              </a:rPr>
              <a:t>Réduction des coûts</a:t>
            </a:r>
            <a:endParaRPr lang="en-US" sz="1250" dirty="0"/>
          </a:p>
        </p:txBody>
      </p:sp>
      <p:sp>
        <p:nvSpPr>
          <p:cNvPr id="26" name="Text 22"/>
          <p:cNvSpPr/>
          <p:nvPr/>
        </p:nvSpPr>
        <p:spPr>
          <a:xfrm>
            <a:off x="2606040" y="3547872"/>
            <a:ext cx="1828800" cy="1005840"/>
          </a:xfrm>
          <a:prstGeom prst="rect">
            <a:avLst/>
          </a:prstGeom>
          <a:noFill/>
          <a:ln/>
        </p:spPr>
        <p:txBody>
          <a:bodyPr wrap="square" rtlCol="0" anchor="t"/>
          <a:lstStyle/>
          <a:p>
            <a:pPr marL="0" indent="0" algn="ctr">
              <a:buNone/>
            </a:pPr>
            <a:r>
              <a:rPr lang="en-US" sz="1100" dirty="0">
                <a:solidFill>
                  <a:srgbClr val="5A6478"/>
                </a:solidFill>
                <a:latin typeface="Calibri" pitchFamily="34" charset="0"/>
                <a:ea typeface="Calibri" pitchFamily="34" charset="-122"/>
                <a:cs typeface="Calibri" pitchFamily="34" charset="-120"/>
              </a:rPr>
              <a:t>Moins de ressources nécessaires pour les tâches administratives chronophages.</a:t>
            </a:r>
            <a:endParaRPr lang="en-US" sz="1100" dirty="0"/>
          </a:p>
        </p:txBody>
      </p:sp>
      <p:sp>
        <p:nvSpPr>
          <p:cNvPr id="27" name="Shape 23"/>
          <p:cNvSpPr/>
          <p:nvPr/>
        </p:nvSpPr>
        <p:spPr>
          <a:xfrm>
            <a:off x="4672584" y="2395728"/>
            <a:ext cx="2057400" cy="230428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8" name="Shape 24"/>
          <p:cNvSpPr/>
          <p:nvPr/>
        </p:nvSpPr>
        <p:spPr>
          <a:xfrm>
            <a:off x="4672584" y="2395728"/>
            <a:ext cx="2057400" cy="54864"/>
          </a:xfrm>
          <a:prstGeom prst="rect">
            <a:avLst/>
          </a:prstGeom>
          <a:solidFill>
            <a:srgbClr val="F47B20"/>
          </a:solidFill>
          <a:ln w="12700">
            <a:solidFill>
              <a:srgbClr val="F47B20"/>
            </a:solidFill>
            <a:prstDash val="solid"/>
          </a:ln>
        </p:spPr>
        <p:txBody>
          <a:bodyPr/>
          <a:lstStyle/>
          <a:p>
            <a:endParaRPr lang="fr-FR"/>
          </a:p>
        </p:txBody>
      </p:sp>
      <p:pic>
        <p:nvPicPr>
          <p:cNvPr id="29" name="Image 2" descr="preencoded.png"/>
          <p:cNvPicPr>
            <a:picLocks noChangeAspect="1"/>
          </p:cNvPicPr>
          <p:nvPr/>
        </p:nvPicPr>
        <p:blipFill>
          <a:blip r:embed="rId5"/>
          <a:stretch>
            <a:fillRect/>
          </a:stretch>
        </p:blipFill>
        <p:spPr>
          <a:xfrm>
            <a:off x="5477256" y="2542032"/>
            <a:ext cx="475488" cy="475488"/>
          </a:xfrm>
          <a:prstGeom prst="rect">
            <a:avLst/>
          </a:prstGeom>
        </p:spPr>
      </p:pic>
      <p:sp>
        <p:nvSpPr>
          <p:cNvPr id="30" name="Text 25"/>
          <p:cNvSpPr/>
          <p:nvPr/>
        </p:nvSpPr>
        <p:spPr>
          <a:xfrm>
            <a:off x="4764024" y="3090672"/>
            <a:ext cx="1874520" cy="411480"/>
          </a:xfrm>
          <a:prstGeom prst="rect">
            <a:avLst/>
          </a:prstGeom>
          <a:noFill/>
          <a:ln/>
        </p:spPr>
        <p:txBody>
          <a:bodyPr wrap="square" rtlCol="0" anchor="ctr"/>
          <a:lstStyle/>
          <a:p>
            <a:pPr marL="0" indent="0" algn="ctr">
              <a:buNone/>
            </a:pPr>
            <a:r>
              <a:rPr lang="en-US" sz="1250" b="1" dirty="0">
                <a:solidFill>
                  <a:srgbClr val="1A4A8A"/>
                </a:solidFill>
                <a:latin typeface="Calibri" pitchFamily="34" charset="0"/>
                <a:ea typeface="Calibri" pitchFamily="34" charset="-122"/>
                <a:cs typeface="Calibri" pitchFamily="34" charset="-120"/>
              </a:rPr>
              <a:t>Moins d'erreurs</a:t>
            </a:r>
            <a:endParaRPr lang="en-US" sz="1250" dirty="0"/>
          </a:p>
        </p:txBody>
      </p:sp>
      <p:sp>
        <p:nvSpPr>
          <p:cNvPr id="31" name="Text 26"/>
          <p:cNvSpPr/>
          <p:nvPr/>
        </p:nvSpPr>
        <p:spPr>
          <a:xfrm>
            <a:off x="4782312" y="3547872"/>
            <a:ext cx="1828800" cy="1005840"/>
          </a:xfrm>
          <a:prstGeom prst="rect">
            <a:avLst/>
          </a:prstGeom>
          <a:noFill/>
          <a:ln/>
        </p:spPr>
        <p:txBody>
          <a:bodyPr wrap="square" rtlCol="0" anchor="t"/>
          <a:lstStyle/>
          <a:p>
            <a:pPr marL="0" indent="0" algn="ctr">
              <a:buNone/>
            </a:pPr>
            <a:r>
              <a:rPr lang="en-US" sz="1100" dirty="0">
                <a:solidFill>
                  <a:srgbClr val="5A6478"/>
                </a:solidFill>
                <a:latin typeface="Calibri" pitchFamily="34" charset="0"/>
                <a:ea typeface="Calibri" pitchFamily="34" charset="-122"/>
                <a:cs typeface="Calibri" pitchFamily="34" charset="-120"/>
              </a:rPr>
              <a:t>L'IA ne se fatigue pas et maintient une qualité constante 24h/24.</a:t>
            </a:r>
            <a:endParaRPr lang="en-US" sz="1100" dirty="0"/>
          </a:p>
        </p:txBody>
      </p:sp>
      <p:sp>
        <p:nvSpPr>
          <p:cNvPr id="32" name="Shape 27"/>
          <p:cNvSpPr/>
          <p:nvPr/>
        </p:nvSpPr>
        <p:spPr>
          <a:xfrm>
            <a:off x="6848856" y="2395728"/>
            <a:ext cx="2057400" cy="230428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33" name="Shape 28"/>
          <p:cNvSpPr/>
          <p:nvPr/>
        </p:nvSpPr>
        <p:spPr>
          <a:xfrm>
            <a:off x="6848856" y="2395728"/>
            <a:ext cx="2057400" cy="54864"/>
          </a:xfrm>
          <a:prstGeom prst="rect">
            <a:avLst/>
          </a:prstGeom>
          <a:solidFill>
            <a:srgbClr val="F47B20"/>
          </a:solidFill>
          <a:ln w="12700">
            <a:solidFill>
              <a:srgbClr val="F47B20"/>
            </a:solidFill>
            <a:prstDash val="solid"/>
          </a:ln>
        </p:spPr>
        <p:txBody>
          <a:bodyPr/>
          <a:lstStyle/>
          <a:p>
            <a:endParaRPr lang="fr-FR"/>
          </a:p>
        </p:txBody>
      </p:sp>
      <p:pic>
        <p:nvPicPr>
          <p:cNvPr id="34" name="Image 3" descr="preencoded.png"/>
          <p:cNvPicPr>
            <a:picLocks noChangeAspect="1"/>
          </p:cNvPicPr>
          <p:nvPr/>
        </p:nvPicPr>
        <p:blipFill>
          <a:blip r:embed="rId6"/>
          <a:stretch>
            <a:fillRect/>
          </a:stretch>
        </p:blipFill>
        <p:spPr>
          <a:xfrm>
            <a:off x="7653528" y="2542032"/>
            <a:ext cx="475488" cy="475488"/>
          </a:xfrm>
          <a:prstGeom prst="rect">
            <a:avLst/>
          </a:prstGeom>
        </p:spPr>
      </p:pic>
      <p:sp>
        <p:nvSpPr>
          <p:cNvPr id="35" name="Text 29"/>
          <p:cNvSpPr/>
          <p:nvPr/>
        </p:nvSpPr>
        <p:spPr>
          <a:xfrm>
            <a:off x="6940296" y="3090672"/>
            <a:ext cx="1874520" cy="411480"/>
          </a:xfrm>
          <a:prstGeom prst="rect">
            <a:avLst/>
          </a:prstGeom>
          <a:noFill/>
          <a:ln/>
        </p:spPr>
        <p:txBody>
          <a:bodyPr wrap="square" rtlCol="0" anchor="ctr"/>
          <a:lstStyle/>
          <a:p>
            <a:pPr marL="0" indent="0" algn="ctr">
              <a:buNone/>
            </a:pPr>
            <a:r>
              <a:rPr lang="en-US" sz="1250" b="1" dirty="0">
                <a:solidFill>
                  <a:srgbClr val="1A4A8A"/>
                </a:solidFill>
                <a:latin typeface="Calibri" pitchFamily="34" charset="0"/>
                <a:ea typeface="Calibri" pitchFamily="34" charset="-122"/>
                <a:cs typeface="Calibri" pitchFamily="34" charset="-120"/>
              </a:rPr>
              <a:t>Meilleure expérience</a:t>
            </a:r>
            <a:endParaRPr lang="en-US" sz="1250" dirty="0"/>
          </a:p>
        </p:txBody>
      </p:sp>
      <p:sp>
        <p:nvSpPr>
          <p:cNvPr id="36" name="Text 30"/>
          <p:cNvSpPr/>
          <p:nvPr/>
        </p:nvSpPr>
        <p:spPr>
          <a:xfrm>
            <a:off x="6958584" y="3547872"/>
            <a:ext cx="1828800" cy="1005840"/>
          </a:xfrm>
          <a:prstGeom prst="rect">
            <a:avLst/>
          </a:prstGeom>
          <a:noFill/>
          <a:ln/>
        </p:spPr>
        <p:txBody>
          <a:bodyPr wrap="square" rtlCol="0" anchor="t"/>
          <a:lstStyle/>
          <a:p>
            <a:pPr marL="0" indent="0" algn="ctr">
              <a:buNone/>
            </a:pPr>
            <a:r>
              <a:rPr lang="en-US" sz="1100" dirty="0">
                <a:solidFill>
                  <a:srgbClr val="5A6478"/>
                </a:solidFill>
                <a:latin typeface="Calibri" pitchFamily="34" charset="0"/>
                <a:ea typeface="Calibri" pitchFamily="34" charset="-122"/>
                <a:cs typeface="Calibri" pitchFamily="34" charset="-120"/>
              </a:rPr>
              <a:t>Collaborateurs plus satisfaits car focalisés sur des tâches enrichissantes.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Limites et précautions à prendre avec l'IA</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7724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9" name="Shape 7"/>
          <p:cNvSpPr/>
          <p:nvPr/>
        </p:nvSpPr>
        <p:spPr>
          <a:xfrm>
            <a:off x="274320" y="777240"/>
            <a:ext cx="82296" cy="1828800"/>
          </a:xfrm>
          <a:prstGeom prst="rect">
            <a:avLst/>
          </a:prstGeom>
          <a:solidFill>
            <a:srgbClr val="C0392B"/>
          </a:solidFill>
          <a:ln w="12700">
            <a:solidFill>
              <a:srgbClr val="C0392B"/>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475488" y="941832"/>
            <a:ext cx="438912" cy="438912"/>
          </a:xfrm>
          <a:prstGeom prst="rect">
            <a:avLst/>
          </a:prstGeom>
        </p:spPr>
      </p:pic>
      <p:sp>
        <p:nvSpPr>
          <p:cNvPr id="11" name="Text 8"/>
          <p:cNvSpPr/>
          <p:nvPr/>
        </p:nvSpPr>
        <p:spPr>
          <a:xfrm>
            <a:off x="1051560" y="941832"/>
            <a:ext cx="1920240" cy="438912"/>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Hallucinations</a:t>
            </a:r>
            <a:endParaRPr lang="en-US" sz="1300" dirty="0"/>
          </a:p>
        </p:txBody>
      </p:sp>
      <p:sp>
        <p:nvSpPr>
          <p:cNvPr id="12" name="Text 9"/>
          <p:cNvSpPr/>
          <p:nvPr/>
        </p:nvSpPr>
        <p:spPr>
          <a:xfrm>
            <a:off x="438912" y="146304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L'IA peut produire des informations fausses avec assurance. Toujours vérifier les faits importants.</a:t>
            </a:r>
            <a:endParaRPr lang="en-US" sz="1150" dirty="0"/>
          </a:p>
        </p:txBody>
      </p:sp>
      <p:sp>
        <p:nvSpPr>
          <p:cNvPr id="13" name="Shape 10"/>
          <p:cNvSpPr/>
          <p:nvPr/>
        </p:nvSpPr>
        <p:spPr>
          <a:xfrm>
            <a:off x="3200400" y="77724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14" name="Shape 11"/>
          <p:cNvSpPr/>
          <p:nvPr/>
        </p:nvSpPr>
        <p:spPr>
          <a:xfrm>
            <a:off x="3200400" y="777240"/>
            <a:ext cx="82296" cy="1828800"/>
          </a:xfrm>
          <a:prstGeom prst="rect">
            <a:avLst/>
          </a:prstGeom>
          <a:solidFill>
            <a:srgbClr val="E67E22"/>
          </a:solidFill>
          <a:ln w="12700">
            <a:solidFill>
              <a:srgbClr val="E67E22"/>
            </a:solidFill>
            <a:prstDash val="solid"/>
          </a:ln>
        </p:spPr>
        <p:txBody>
          <a:bodyPr/>
          <a:lstStyle/>
          <a:p>
            <a:endParaRPr lang="fr-FR"/>
          </a:p>
        </p:txBody>
      </p:sp>
      <p:pic>
        <p:nvPicPr>
          <p:cNvPr id="15" name="Image 1" descr="preencoded.png"/>
          <p:cNvPicPr>
            <a:picLocks noChangeAspect="1"/>
          </p:cNvPicPr>
          <p:nvPr/>
        </p:nvPicPr>
        <p:blipFill>
          <a:blip r:embed="rId4"/>
          <a:stretch>
            <a:fillRect/>
          </a:stretch>
        </p:blipFill>
        <p:spPr>
          <a:xfrm>
            <a:off x="3401568" y="941832"/>
            <a:ext cx="438912" cy="438912"/>
          </a:xfrm>
          <a:prstGeom prst="rect">
            <a:avLst/>
          </a:prstGeom>
        </p:spPr>
      </p:pic>
      <p:sp>
        <p:nvSpPr>
          <p:cNvPr id="16" name="Text 12"/>
          <p:cNvSpPr/>
          <p:nvPr/>
        </p:nvSpPr>
        <p:spPr>
          <a:xfrm>
            <a:off x="3977640" y="941832"/>
            <a:ext cx="1920240" cy="438912"/>
          </a:xfrm>
          <a:prstGeom prst="rect">
            <a:avLst/>
          </a:prstGeom>
          <a:noFill/>
          <a:ln/>
        </p:spPr>
        <p:txBody>
          <a:bodyPr wrap="square" lIns="0" tIns="0" rIns="0" bIns="0" rtlCol="0" anchor="ctr"/>
          <a:lstStyle/>
          <a:p>
            <a:pPr marL="0" indent="0">
              <a:buNone/>
            </a:pPr>
            <a:r>
              <a:rPr lang="en-US" sz="1300" b="1" dirty="0">
                <a:solidFill>
                  <a:srgbClr val="E67E22"/>
                </a:solidFill>
                <a:latin typeface="Calibri" pitchFamily="34" charset="0"/>
                <a:ea typeface="Calibri" pitchFamily="34" charset="-122"/>
                <a:cs typeface="Calibri" pitchFamily="34" charset="-120"/>
              </a:rPr>
              <a:t>Confidentialité</a:t>
            </a:r>
            <a:endParaRPr lang="en-US" sz="1300" dirty="0"/>
          </a:p>
        </p:txBody>
      </p:sp>
      <p:sp>
        <p:nvSpPr>
          <p:cNvPr id="17" name="Text 13"/>
          <p:cNvSpPr/>
          <p:nvPr/>
        </p:nvSpPr>
        <p:spPr>
          <a:xfrm>
            <a:off x="3364992" y="146304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Ne jamais saisir de données personnelles ou confidentielles dans un outil IA non approuvé.</a:t>
            </a:r>
            <a:endParaRPr lang="en-US" sz="1150" dirty="0"/>
          </a:p>
        </p:txBody>
      </p:sp>
      <p:sp>
        <p:nvSpPr>
          <p:cNvPr id="18" name="Shape 14"/>
          <p:cNvSpPr/>
          <p:nvPr/>
        </p:nvSpPr>
        <p:spPr>
          <a:xfrm>
            <a:off x="6126480" y="77724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19" name="Shape 15"/>
          <p:cNvSpPr/>
          <p:nvPr/>
        </p:nvSpPr>
        <p:spPr>
          <a:xfrm>
            <a:off x="6126480" y="777240"/>
            <a:ext cx="82296" cy="1828800"/>
          </a:xfrm>
          <a:prstGeom prst="rect">
            <a:avLst/>
          </a:prstGeom>
          <a:solidFill>
            <a:srgbClr val="1A4A8A"/>
          </a:solidFill>
          <a:ln w="12700">
            <a:solidFill>
              <a:srgbClr val="1A4A8A"/>
            </a:solidFill>
            <a:prstDash val="solid"/>
          </a:ln>
        </p:spPr>
        <p:txBody>
          <a:bodyPr/>
          <a:lstStyle/>
          <a:p>
            <a:endParaRPr lang="fr-FR"/>
          </a:p>
        </p:txBody>
      </p:sp>
      <p:pic>
        <p:nvPicPr>
          <p:cNvPr id="20" name="Image 2" descr="preencoded.png"/>
          <p:cNvPicPr>
            <a:picLocks noChangeAspect="1"/>
          </p:cNvPicPr>
          <p:nvPr/>
        </p:nvPicPr>
        <p:blipFill>
          <a:blip r:embed="rId5"/>
          <a:stretch>
            <a:fillRect/>
          </a:stretch>
        </p:blipFill>
        <p:spPr>
          <a:xfrm>
            <a:off x="6327648" y="941832"/>
            <a:ext cx="438912" cy="438912"/>
          </a:xfrm>
          <a:prstGeom prst="rect">
            <a:avLst/>
          </a:prstGeom>
        </p:spPr>
      </p:pic>
      <p:sp>
        <p:nvSpPr>
          <p:cNvPr id="21" name="Text 16"/>
          <p:cNvSpPr/>
          <p:nvPr/>
        </p:nvSpPr>
        <p:spPr>
          <a:xfrm>
            <a:off x="6903720" y="941832"/>
            <a:ext cx="1920240" cy="438912"/>
          </a:xfrm>
          <a:prstGeom prst="rect">
            <a:avLst/>
          </a:prstGeom>
          <a:noFill/>
          <a:ln/>
        </p:spPr>
        <p:txBody>
          <a:bodyPr wrap="square" lIns="0" tIns="0" rIns="0" bIns="0" rtlCol="0" anchor="ctr"/>
          <a:lstStyle/>
          <a:p>
            <a:pPr marL="0" indent="0">
              <a:buNone/>
            </a:pPr>
            <a:r>
              <a:rPr lang="en-US" sz="1300" b="1" dirty="0">
                <a:solidFill>
                  <a:srgbClr val="1A4A8A"/>
                </a:solidFill>
                <a:latin typeface="Calibri" pitchFamily="34" charset="0"/>
                <a:ea typeface="Calibri" pitchFamily="34" charset="-122"/>
                <a:cs typeface="Calibri" pitchFamily="34" charset="-120"/>
              </a:rPr>
              <a:t>Biais &amp; équité</a:t>
            </a:r>
            <a:endParaRPr lang="en-US" sz="1300" dirty="0"/>
          </a:p>
        </p:txBody>
      </p:sp>
      <p:sp>
        <p:nvSpPr>
          <p:cNvPr id="22" name="Text 17"/>
          <p:cNvSpPr/>
          <p:nvPr/>
        </p:nvSpPr>
        <p:spPr>
          <a:xfrm>
            <a:off x="6291072" y="146304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L'IA peut reproduire des biais présents dans ses données d'entraînement. Rester vigilant.</a:t>
            </a:r>
            <a:endParaRPr lang="en-US" sz="1150" dirty="0"/>
          </a:p>
        </p:txBody>
      </p:sp>
      <p:sp>
        <p:nvSpPr>
          <p:cNvPr id="23" name="Shape 18"/>
          <p:cNvSpPr/>
          <p:nvPr/>
        </p:nvSpPr>
        <p:spPr>
          <a:xfrm>
            <a:off x="274320" y="278892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4" name="Shape 19"/>
          <p:cNvSpPr/>
          <p:nvPr/>
        </p:nvSpPr>
        <p:spPr>
          <a:xfrm>
            <a:off x="274320" y="2788920"/>
            <a:ext cx="82296" cy="1828800"/>
          </a:xfrm>
          <a:prstGeom prst="rect">
            <a:avLst/>
          </a:prstGeom>
          <a:solidFill>
            <a:srgbClr val="7B3FA0"/>
          </a:solidFill>
          <a:ln w="12700">
            <a:solidFill>
              <a:srgbClr val="7B3FA0"/>
            </a:solidFill>
            <a:prstDash val="solid"/>
          </a:ln>
        </p:spPr>
        <p:txBody>
          <a:bodyPr/>
          <a:lstStyle/>
          <a:p>
            <a:endParaRPr lang="fr-FR"/>
          </a:p>
        </p:txBody>
      </p:sp>
      <p:pic>
        <p:nvPicPr>
          <p:cNvPr id="25" name="Image 3" descr="preencoded.png"/>
          <p:cNvPicPr>
            <a:picLocks noChangeAspect="1"/>
          </p:cNvPicPr>
          <p:nvPr/>
        </p:nvPicPr>
        <p:blipFill>
          <a:blip r:embed="rId6"/>
          <a:stretch>
            <a:fillRect/>
          </a:stretch>
        </p:blipFill>
        <p:spPr>
          <a:xfrm>
            <a:off x="475488" y="2953512"/>
            <a:ext cx="438912" cy="438912"/>
          </a:xfrm>
          <a:prstGeom prst="rect">
            <a:avLst/>
          </a:prstGeom>
        </p:spPr>
      </p:pic>
      <p:sp>
        <p:nvSpPr>
          <p:cNvPr id="26" name="Text 20"/>
          <p:cNvSpPr/>
          <p:nvPr/>
        </p:nvSpPr>
        <p:spPr>
          <a:xfrm>
            <a:off x="1051560" y="2953512"/>
            <a:ext cx="1920240" cy="438912"/>
          </a:xfrm>
          <a:prstGeom prst="rect">
            <a:avLst/>
          </a:prstGeom>
          <a:noFill/>
          <a:ln/>
        </p:spPr>
        <p:txBody>
          <a:bodyPr wrap="square" lIns="0" tIns="0" rIns="0" bIns="0" rtlCol="0" anchor="ctr"/>
          <a:lstStyle/>
          <a:p>
            <a:pPr marL="0" indent="0">
              <a:buNone/>
            </a:pPr>
            <a:r>
              <a:rPr lang="en-US" sz="1300" b="1" dirty="0">
                <a:solidFill>
                  <a:srgbClr val="7B3FA0"/>
                </a:solidFill>
                <a:latin typeface="Calibri" pitchFamily="34" charset="0"/>
                <a:ea typeface="Calibri" pitchFamily="34" charset="-122"/>
                <a:cs typeface="Calibri" pitchFamily="34" charset="-120"/>
              </a:rPr>
              <a:t>Droits d'auteur</a:t>
            </a:r>
            <a:endParaRPr lang="en-US" sz="1300" dirty="0"/>
          </a:p>
        </p:txBody>
      </p:sp>
      <p:sp>
        <p:nvSpPr>
          <p:cNvPr id="27" name="Text 21"/>
          <p:cNvSpPr/>
          <p:nvPr/>
        </p:nvSpPr>
        <p:spPr>
          <a:xfrm>
            <a:off x="438912" y="347472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Les contenus générés peuvent poser des questions juridiques. Se référer à la politique interne.</a:t>
            </a:r>
            <a:endParaRPr lang="en-US" sz="1150" dirty="0"/>
          </a:p>
        </p:txBody>
      </p:sp>
      <p:sp>
        <p:nvSpPr>
          <p:cNvPr id="28" name="Shape 22"/>
          <p:cNvSpPr/>
          <p:nvPr/>
        </p:nvSpPr>
        <p:spPr>
          <a:xfrm>
            <a:off x="3200400" y="278892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9" name="Shape 23"/>
          <p:cNvSpPr/>
          <p:nvPr/>
        </p:nvSpPr>
        <p:spPr>
          <a:xfrm>
            <a:off x="3200400" y="2788920"/>
            <a:ext cx="82296" cy="1828800"/>
          </a:xfrm>
          <a:prstGeom prst="rect">
            <a:avLst/>
          </a:prstGeom>
          <a:solidFill>
            <a:srgbClr val="2E7D32"/>
          </a:solidFill>
          <a:ln w="12700">
            <a:solidFill>
              <a:srgbClr val="2E7D32"/>
            </a:solidFill>
            <a:prstDash val="solid"/>
          </a:ln>
        </p:spPr>
        <p:txBody>
          <a:bodyPr/>
          <a:lstStyle/>
          <a:p>
            <a:endParaRPr lang="fr-FR"/>
          </a:p>
        </p:txBody>
      </p:sp>
      <p:pic>
        <p:nvPicPr>
          <p:cNvPr id="30" name="Image 4" descr="preencoded.png"/>
          <p:cNvPicPr>
            <a:picLocks noChangeAspect="1"/>
          </p:cNvPicPr>
          <p:nvPr/>
        </p:nvPicPr>
        <p:blipFill>
          <a:blip r:embed="rId7"/>
          <a:stretch>
            <a:fillRect/>
          </a:stretch>
        </p:blipFill>
        <p:spPr>
          <a:xfrm>
            <a:off x="3401568" y="2953512"/>
            <a:ext cx="438912" cy="438912"/>
          </a:xfrm>
          <a:prstGeom prst="rect">
            <a:avLst/>
          </a:prstGeom>
        </p:spPr>
      </p:pic>
      <p:sp>
        <p:nvSpPr>
          <p:cNvPr id="31" name="Text 24"/>
          <p:cNvSpPr/>
          <p:nvPr/>
        </p:nvSpPr>
        <p:spPr>
          <a:xfrm>
            <a:off x="3977640" y="2953512"/>
            <a:ext cx="1920240" cy="438912"/>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Supervision humaine</a:t>
            </a:r>
            <a:endParaRPr lang="en-US" sz="1300" dirty="0"/>
          </a:p>
        </p:txBody>
      </p:sp>
      <p:sp>
        <p:nvSpPr>
          <p:cNvPr id="32" name="Text 25"/>
          <p:cNvSpPr/>
          <p:nvPr/>
        </p:nvSpPr>
        <p:spPr>
          <a:xfrm>
            <a:off x="3364992" y="347472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L'IA est un outil d'aide. La décision finale doit toujours rester humaine.</a:t>
            </a:r>
            <a:endParaRPr lang="en-US" sz="1150" dirty="0"/>
          </a:p>
        </p:txBody>
      </p:sp>
      <p:sp>
        <p:nvSpPr>
          <p:cNvPr id="33" name="Shape 26"/>
          <p:cNvSpPr/>
          <p:nvPr/>
        </p:nvSpPr>
        <p:spPr>
          <a:xfrm>
            <a:off x="6126480" y="2788920"/>
            <a:ext cx="2788920" cy="182880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34" name="Shape 27"/>
          <p:cNvSpPr/>
          <p:nvPr/>
        </p:nvSpPr>
        <p:spPr>
          <a:xfrm>
            <a:off x="6126480" y="2788920"/>
            <a:ext cx="82296" cy="1828800"/>
          </a:xfrm>
          <a:prstGeom prst="rect">
            <a:avLst/>
          </a:prstGeom>
          <a:solidFill>
            <a:srgbClr val="C0392B"/>
          </a:solidFill>
          <a:ln w="12700">
            <a:solidFill>
              <a:srgbClr val="C0392B"/>
            </a:solidFill>
            <a:prstDash val="solid"/>
          </a:ln>
        </p:spPr>
        <p:txBody>
          <a:bodyPr/>
          <a:lstStyle/>
          <a:p>
            <a:endParaRPr lang="fr-FR"/>
          </a:p>
        </p:txBody>
      </p:sp>
      <p:pic>
        <p:nvPicPr>
          <p:cNvPr id="35" name="Image 5" descr="preencoded.png"/>
          <p:cNvPicPr>
            <a:picLocks noChangeAspect="1"/>
          </p:cNvPicPr>
          <p:nvPr/>
        </p:nvPicPr>
        <p:blipFill>
          <a:blip r:embed="rId8"/>
          <a:stretch>
            <a:fillRect/>
          </a:stretch>
        </p:blipFill>
        <p:spPr>
          <a:xfrm>
            <a:off x="6327648" y="2953512"/>
            <a:ext cx="438912" cy="438912"/>
          </a:xfrm>
          <a:prstGeom prst="rect">
            <a:avLst/>
          </a:prstGeom>
        </p:spPr>
      </p:pic>
      <p:sp>
        <p:nvSpPr>
          <p:cNvPr id="36" name="Text 28"/>
          <p:cNvSpPr/>
          <p:nvPr/>
        </p:nvSpPr>
        <p:spPr>
          <a:xfrm>
            <a:off x="6903720" y="2953512"/>
            <a:ext cx="1920240" cy="438912"/>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Dépendance</a:t>
            </a:r>
            <a:endParaRPr lang="en-US" sz="1300" dirty="0"/>
          </a:p>
        </p:txBody>
      </p:sp>
      <p:sp>
        <p:nvSpPr>
          <p:cNvPr id="37" name="Text 29"/>
          <p:cNvSpPr/>
          <p:nvPr/>
        </p:nvSpPr>
        <p:spPr>
          <a:xfrm>
            <a:off x="6291072" y="3474720"/>
            <a:ext cx="2542032" cy="1005840"/>
          </a:xfrm>
          <a:prstGeom prst="rect">
            <a:avLst/>
          </a:prstGeom>
          <a:noFill/>
          <a:ln/>
        </p:spPr>
        <p:txBody>
          <a:bodyPr wrap="square" rtlCol="0" anchor="t"/>
          <a:lstStyle/>
          <a:p>
            <a:pPr marL="0" indent="0">
              <a:buNone/>
            </a:pPr>
            <a:r>
              <a:rPr lang="en-US" sz="1150" dirty="0">
                <a:solidFill>
                  <a:srgbClr val="1A1A2E"/>
                </a:solidFill>
                <a:latin typeface="Calibri" pitchFamily="34" charset="0"/>
                <a:ea typeface="Calibri" pitchFamily="34" charset="-122"/>
                <a:cs typeface="Calibri" pitchFamily="34" charset="-120"/>
              </a:rPr>
              <a:t>Risque de perte de compétences si l'on délègue trop sans comprendre le processus sous-jacent.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2B5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F47B20"/>
          </a:solidFill>
          <a:ln w="12700">
            <a:solidFill>
              <a:srgbClr val="F47B20"/>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6858000" y="731520"/>
            <a:ext cx="1828800" cy="1828800"/>
          </a:xfrm>
          <a:prstGeom prst="rect">
            <a:avLst/>
          </a:prstGeom>
        </p:spPr>
      </p:pic>
      <p:sp>
        <p:nvSpPr>
          <p:cNvPr id="4" name="Text 1"/>
          <p:cNvSpPr/>
          <p:nvPr/>
        </p:nvSpPr>
        <p:spPr>
          <a:xfrm>
            <a:off x="411480" y="411480"/>
            <a:ext cx="6400800" cy="411480"/>
          </a:xfrm>
          <a:prstGeom prst="rect">
            <a:avLst/>
          </a:prstGeom>
          <a:noFill/>
          <a:ln/>
        </p:spPr>
        <p:txBody>
          <a:bodyPr wrap="square" rtlCol="0" anchor="ctr"/>
          <a:lstStyle/>
          <a:p>
            <a:pPr marL="0" indent="0">
              <a:buNone/>
            </a:pPr>
            <a:r>
              <a:rPr lang="en-US" sz="1100" b="1" kern="0" spc="300" dirty="0">
                <a:solidFill>
                  <a:srgbClr val="F47B20"/>
                </a:solidFill>
                <a:latin typeface="Calibri" pitchFamily="34" charset="0"/>
                <a:ea typeface="Calibri" pitchFamily="34" charset="-122"/>
                <a:cs typeface="Calibri" pitchFamily="34" charset="-120"/>
              </a:rPr>
              <a:t>✏️ EXERCICE INTERACTIF</a:t>
            </a:r>
            <a:endParaRPr lang="en-US" sz="1100" dirty="0"/>
          </a:p>
        </p:txBody>
      </p:sp>
      <p:sp>
        <p:nvSpPr>
          <p:cNvPr id="5" name="Text 2"/>
          <p:cNvSpPr/>
          <p:nvPr/>
        </p:nvSpPr>
        <p:spPr>
          <a:xfrm>
            <a:off x="411480" y="914400"/>
            <a:ext cx="6217920" cy="169164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Identifiez 3 tâches</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automatisables dans</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votre travail</a:t>
            </a:r>
            <a:endParaRPr lang="en-US" sz="2700" dirty="0"/>
          </a:p>
        </p:txBody>
      </p:sp>
      <p:sp>
        <p:nvSpPr>
          <p:cNvPr id="6" name="Shape 3"/>
          <p:cNvSpPr/>
          <p:nvPr/>
        </p:nvSpPr>
        <p:spPr>
          <a:xfrm>
            <a:off x="411480" y="2743200"/>
            <a:ext cx="6400800" cy="530352"/>
          </a:xfrm>
          <a:prstGeom prst="rect">
            <a:avLst/>
          </a:prstGeom>
          <a:solidFill>
            <a:srgbClr val="1A4A8A">
              <a:alpha val="70000"/>
            </a:srgbClr>
          </a:solidFill>
          <a:ln w="12700">
            <a:solidFill>
              <a:srgbClr val="3B82D0">
                <a:alpha val="70000"/>
              </a:srgbClr>
            </a:solidFill>
            <a:prstDash val="solid"/>
          </a:ln>
        </p:spPr>
        <p:txBody>
          <a:bodyPr/>
          <a:lstStyle/>
          <a:p>
            <a:endParaRPr lang="fr-FR"/>
          </a:p>
        </p:txBody>
      </p:sp>
      <p:sp>
        <p:nvSpPr>
          <p:cNvPr id="7" name="Text 4"/>
          <p:cNvSpPr/>
          <p:nvPr/>
        </p:nvSpPr>
        <p:spPr>
          <a:xfrm>
            <a:off x="548640" y="2770632"/>
            <a:ext cx="1280160" cy="45720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Tâche 1 :</a:t>
            </a:r>
            <a:endParaRPr lang="en-US" sz="1300" dirty="0"/>
          </a:p>
        </p:txBody>
      </p:sp>
      <p:sp>
        <p:nvSpPr>
          <p:cNvPr id="8" name="Text 5"/>
          <p:cNvSpPr/>
          <p:nvPr/>
        </p:nvSpPr>
        <p:spPr>
          <a:xfrm>
            <a:off x="1737360" y="2834640"/>
            <a:ext cx="4892040" cy="365760"/>
          </a:xfrm>
          <a:prstGeom prst="rect">
            <a:avLst/>
          </a:prstGeom>
          <a:noFill/>
          <a:ln/>
        </p:spPr>
        <p:txBody>
          <a:bodyPr wrap="square" rtlCol="0" anchor="ctr"/>
          <a:lstStyle/>
          <a:p>
            <a:pPr marL="0" indent="0">
              <a:buNone/>
            </a:pPr>
            <a:r>
              <a:rPr lang="en-US" sz="1200" dirty="0">
                <a:solidFill>
                  <a:srgbClr val="7FA8D8"/>
                </a:solidFill>
                <a:latin typeface="Calibri" pitchFamily="34" charset="0"/>
                <a:ea typeface="Calibri" pitchFamily="34" charset="-122"/>
                <a:cs typeface="Calibri" pitchFamily="34" charset="-120"/>
              </a:rPr>
              <a:t>_____________________________________________</a:t>
            </a:r>
            <a:endParaRPr lang="en-US" sz="1200" dirty="0"/>
          </a:p>
        </p:txBody>
      </p:sp>
      <p:sp>
        <p:nvSpPr>
          <p:cNvPr id="9" name="Shape 6"/>
          <p:cNvSpPr/>
          <p:nvPr/>
        </p:nvSpPr>
        <p:spPr>
          <a:xfrm>
            <a:off x="411480" y="3401568"/>
            <a:ext cx="6400800" cy="530352"/>
          </a:xfrm>
          <a:prstGeom prst="rect">
            <a:avLst/>
          </a:prstGeom>
          <a:solidFill>
            <a:srgbClr val="1A4A8A">
              <a:alpha val="70000"/>
            </a:srgbClr>
          </a:solidFill>
          <a:ln w="12700">
            <a:solidFill>
              <a:srgbClr val="3B82D0">
                <a:alpha val="70000"/>
              </a:srgbClr>
            </a:solidFill>
            <a:prstDash val="solid"/>
          </a:ln>
        </p:spPr>
        <p:txBody>
          <a:bodyPr/>
          <a:lstStyle/>
          <a:p>
            <a:endParaRPr lang="fr-FR"/>
          </a:p>
        </p:txBody>
      </p:sp>
      <p:sp>
        <p:nvSpPr>
          <p:cNvPr id="10" name="Text 7"/>
          <p:cNvSpPr/>
          <p:nvPr/>
        </p:nvSpPr>
        <p:spPr>
          <a:xfrm>
            <a:off x="548640" y="3429000"/>
            <a:ext cx="1280160" cy="45720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Tâche 2 :</a:t>
            </a:r>
            <a:endParaRPr lang="en-US" sz="1300" dirty="0"/>
          </a:p>
        </p:txBody>
      </p:sp>
      <p:sp>
        <p:nvSpPr>
          <p:cNvPr id="11" name="Text 8"/>
          <p:cNvSpPr/>
          <p:nvPr/>
        </p:nvSpPr>
        <p:spPr>
          <a:xfrm>
            <a:off x="1737360" y="3493008"/>
            <a:ext cx="4892040" cy="365760"/>
          </a:xfrm>
          <a:prstGeom prst="rect">
            <a:avLst/>
          </a:prstGeom>
          <a:noFill/>
          <a:ln/>
        </p:spPr>
        <p:txBody>
          <a:bodyPr wrap="square" rtlCol="0" anchor="ctr"/>
          <a:lstStyle/>
          <a:p>
            <a:pPr marL="0" indent="0">
              <a:buNone/>
            </a:pPr>
            <a:r>
              <a:rPr lang="en-US" sz="1200" dirty="0">
                <a:solidFill>
                  <a:srgbClr val="7FA8D8"/>
                </a:solidFill>
                <a:latin typeface="Calibri" pitchFamily="34" charset="0"/>
                <a:ea typeface="Calibri" pitchFamily="34" charset="-122"/>
                <a:cs typeface="Calibri" pitchFamily="34" charset="-120"/>
              </a:rPr>
              <a:t>_____________________________________________</a:t>
            </a:r>
            <a:endParaRPr lang="en-US" sz="1200" dirty="0"/>
          </a:p>
        </p:txBody>
      </p:sp>
      <p:sp>
        <p:nvSpPr>
          <p:cNvPr id="12" name="Shape 9"/>
          <p:cNvSpPr/>
          <p:nvPr/>
        </p:nvSpPr>
        <p:spPr>
          <a:xfrm>
            <a:off x="411480" y="4059936"/>
            <a:ext cx="6400800" cy="530352"/>
          </a:xfrm>
          <a:prstGeom prst="rect">
            <a:avLst/>
          </a:prstGeom>
          <a:solidFill>
            <a:srgbClr val="1A4A8A">
              <a:alpha val="70000"/>
            </a:srgbClr>
          </a:solidFill>
          <a:ln w="12700">
            <a:solidFill>
              <a:srgbClr val="3B82D0">
                <a:alpha val="70000"/>
              </a:srgbClr>
            </a:solidFill>
            <a:prstDash val="solid"/>
          </a:ln>
        </p:spPr>
        <p:txBody>
          <a:bodyPr/>
          <a:lstStyle/>
          <a:p>
            <a:endParaRPr lang="fr-FR"/>
          </a:p>
        </p:txBody>
      </p:sp>
      <p:sp>
        <p:nvSpPr>
          <p:cNvPr id="13" name="Text 10"/>
          <p:cNvSpPr/>
          <p:nvPr/>
        </p:nvSpPr>
        <p:spPr>
          <a:xfrm>
            <a:off x="548640" y="4087368"/>
            <a:ext cx="1280160" cy="45720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Tâche 3 :</a:t>
            </a:r>
            <a:endParaRPr lang="en-US" sz="1300" dirty="0"/>
          </a:p>
        </p:txBody>
      </p:sp>
      <p:sp>
        <p:nvSpPr>
          <p:cNvPr id="14" name="Text 11"/>
          <p:cNvSpPr/>
          <p:nvPr/>
        </p:nvSpPr>
        <p:spPr>
          <a:xfrm>
            <a:off x="1737360" y="4151376"/>
            <a:ext cx="4892040" cy="365760"/>
          </a:xfrm>
          <a:prstGeom prst="rect">
            <a:avLst/>
          </a:prstGeom>
          <a:noFill/>
          <a:ln/>
        </p:spPr>
        <p:txBody>
          <a:bodyPr wrap="square" rtlCol="0" anchor="ctr"/>
          <a:lstStyle/>
          <a:p>
            <a:pPr marL="0" indent="0">
              <a:buNone/>
            </a:pPr>
            <a:r>
              <a:rPr lang="en-US" sz="1200" dirty="0">
                <a:solidFill>
                  <a:srgbClr val="7FA8D8"/>
                </a:solidFill>
                <a:latin typeface="Calibri" pitchFamily="34" charset="0"/>
                <a:ea typeface="Calibri" pitchFamily="34" charset="-122"/>
                <a:cs typeface="Calibri" pitchFamily="34" charset="-120"/>
              </a:rPr>
              <a:t>_____________________________________________</a:t>
            </a:r>
            <a:endParaRPr lang="en-US" sz="1200" dirty="0"/>
          </a:p>
        </p:txBody>
      </p:sp>
      <p:sp>
        <p:nvSpPr>
          <p:cNvPr id="15" name="Text 12"/>
          <p:cNvSpPr/>
          <p:nvPr/>
        </p:nvSpPr>
        <p:spPr>
          <a:xfrm>
            <a:off x="411480" y="4709160"/>
            <a:ext cx="6400800" cy="320040"/>
          </a:xfrm>
          <a:prstGeom prst="rect">
            <a:avLst/>
          </a:prstGeom>
          <a:noFill/>
          <a:ln/>
        </p:spPr>
        <p:txBody>
          <a:bodyPr wrap="square" rtlCol="0" anchor="ctr"/>
          <a:lstStyle/>
          <a:p>
            <a:pPr marL="0" indent="0">
              <a:buNone/>
            </a:pPr>
            <a:r>
              <a:rPr lang="en-US" sz="1100" i="1" dirty="0">
                <a:solidFill>
                  <a:srgbClr val="7FA8D8"/>
                </a:solidFill>
                <a:latin typeface="Calibri" pitchFamily="34" charset="0"/>
                <a:ea typeface="Calibri" pitchFamily="34" charset="-122"/>
                <a:cs typeface="Calibri" pitchFamily="34" charset="-120"/>
              </a:rPr>
              <a:t>⏱ Durée : 5 minutes — Puis partage en groupe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1 · Conclusion &amp; points clés à retenir</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1</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320040" y="749808"/>
            <a:ext cx="5486400" cy="4023360"/>
          </a:xfrm>
          <a:prstGeom prst="rect">
            <a:avLst/>
          </a:prstGeom>
          <a:solidFill>
            <a:srgbClr val="FFFFFF"/>
          </a:solidFill>
          <a:ln w="12700">
            <a:solidFill>
              <a:srgbClr val="D5E3F7"/>
            </a:solidFill>
            <a:prstDash val="solid"/>
          </a:ln>
          <a:effectLst>
            <a:outerShdw blurRad="101600" dist="25400" dir="8100000" algn="bl" rotWithShape="0">
              <a:srgbClr val="000000">
                <a:alpha val="9000"/>
              </a:srgbClr>
            </a:outerShdw>
          </a:effectLst>
        </p:spPr>
        <p:txBody>
          <a:bodyPr/>
          <a:lstStyle/>
          <a:p>
            <a:endParaRPr lang="fr-FR"/>
          </a:p>
        </p:txBody>
      </p:sp>
      <p:pic>
        <p:nvPicPr>
          <p:cNvPr id="9" name="Image 0" descr="preencoded.png"/>
          <p:cNvPicPr>
            <a:picLocks noChangeAspect="1"/>
          </p:cNvPicPr>
          <p:nvPr/>
        </p:nvPicPr>
        <p:blipFill>
          <a:blip r:embed="rId3"/>
          <a:stretch>
            <a:fillRect/>
          </a:stretch>
        </p:blipFill>
        <p:spPr>
          <a:xfrm>
            <a:off x="475488" y="969264"/>
            <a:ext cx="384048" cy="384048"/>
          </a:xfrm>
          <a:prstGeom prst="rect">
            <a:avLst/>
          </a:prstGeom>
        </p:spPr>
      </p:pic>
      <p:sp>
        <p:nvSpPr>
          <p:cNvPr id="10" name="Text 7"/>
          <p:cNvSpPr/>
          <p:nvPr/>
        </p:nvSpPr>
        <p:spPr>
          <a:xfrm>
            <a:off x="1005840" y="914400"/>
            <a:ext cx="461772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L'IA apprend et s'adapte — elle va au-delà de la simple automatisation</a:t>
            </a:r>
            <a:endParaRPr lang="en-US" sz="1300" dirty="0"/>
          </a:p>
        </p:txBody>
      </p:sp>
      <p:sp>
        <p:nvSpPr>
          <p:cNvPr id="11" name="Shape 8"/>
          <p:cNvSpPr/>
          <p:nvPr/>
        </p:nvSpPr>
        <p:spPr>
          <a:xfrm>
            <a:off x="502920" y="1572768"/>
            <a:ext cx="5074920" cy="0"/>
          </a:xfrm>
          <a:prstGeom prst="line">
            <a:avLst/>
          </a:prstGeom>
          <a:noFill/>
          <a:ln w="12700">
            <a:solidFill>
              <a:srgbClr val="EAF0FB"/>
            </a:solidFill>
            <a:prstDash val="solid"/>
          </a:ln>
        </p:spPr>
        <p:txBody>
          <a:bodyPr/>
          <a:lstStyle/>
          <a:p>
            <a:endParaRPr lang="fr-FR"/>
          </a:p>
        </p:txBody>
      </p:sp>
      <p:pic>
        <p:nvPicPr>
          <p:cNvPr id="12" name="Image 1" descr="preencoded.png"/>
          <p:cNvPicPr>
            <a:picLocks noChangeAspect="1"/>
          </p:cNvPicPr>
          <p:nvPr/>
        </p:nvPicPr>
        <p:blipFill>
          <a:blip r:embed="rId3"/>
          <a:stretch>
            <a:fillRect/>
          </a:stretch>
        </p:blipFill>
        <p:spPr>
          <a:xfrm>
            <a:off x="475488" y="1719072"/>
            <a:ext cx="384048" cy="384048"/>
          </a:xfrm>
          <a:prstGeom prst="rect">
            <a:avLst/>
          </a:prstGeom>
        </p:spPr>
      </p:pic>
      <p:sp>
        <p:nvSpPr>
          <p:cNvPr id="13" name="Text 9"/>
          <p:cNvSpPr/>
          <p:nvPr/>
        </p:nvSpPr>
        <p:spPr>
          <a:xfrm>
            <a:off x="1005840" y="1664208"/>
            <a:ext cx="461772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3 types d'IA utiles en entreprise : générative, analytique, assistants</a:t>
            </a:r>
            <a:endParaRPr lang="en-US" sz="1300" dirty="0"/>
          </a:p>
        </p:txBody>
      </p:sp>
      <p:sp>
        <p:nvSpPr>
          <p:cNvPr id="14" name="Shape 10"/>
          <p:cNvSpPr/>
          <p:nvPr/>
        </p:nvSpPr>
        <p:spPr>
          <a:xfrm>
            <a:off x="502920" y="2322576"/>
            <a:ext cx="5074920" cy="0"/>
          </a:xfrm>
          <a:prstGeom prst="line">
            <a:avLst/>
          </a:prstGeom>
          <a:noFill/>
          <a:ln w="12700">
            <a:solidFill>
              <a:srgbClr val="EAF0FB"/>
            </a:solidFill>
            <a:prstDash val="solid"/>
          </a:ln>
        </p:spPr>
        <p:txBody>
          <a:bodyPr/>
          <a:lstStyle/>
          <a:p>
            <a:endParaRPr lang="fr-FR"/>
          </a:p>
        </p:txBody>
      </p:sp>
      <p:pic>
        <p:nvPicPr>
          <p:cNvPr id="15" name="Image 2" descr="preencoded.png"/>
          <p:cNvPicPr>
            <a:picLocks noChangeAspect="1"/>
          </p:cNvPicPr>
          <p:nvPr/>
        </p:nvPicPr>
        <p:blipFill>
          <a:blip r:embed="rId3"/>
          <a:stretch>
            <a:fillRect/>
          </a:stretch>
        </p:blipFill>
        <p:spPr>
          <a:xfrm>
            <a:off x="475488" y="2468880"/>
            <a:ext cx="384048" cy="384048"/>
          </a:xfrm>
          <a:prstGeom prst="rect">
            <a:avLst/>
          </a:prstGeom>
        </p:spPr>
      </p:pic>
      <p:sp>
        <p:nvSpPr>
          <p:cNvPr id="16" name="Text 11"/>
          <p:cNvSpPr/>
          <p:nvPr/>
        </p:nvSpPr>
        <p:spPr>
          <a:xfrm>
            <a:off x="1005840" y="2414016"/>
            <a:ext cx="461772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Des bénéfices concrets : gain de temps, réduction des coûts, moins d'erreurs</a:t>
            </a:r>
            <a:endParaRPr lang="en-US" sz="1300" dirty="0"/>
          </a:p>
        </p:txBody>
      </p:sp>
      <p:sp>
        <p:nvSpPr>
          <p:cNvPr id="17" name="Shape 12"/>
          <p:cNvSpPr/>
          <p:nvPr/>
        </p:nvSpPr>
        <p:spPr>
          <a:xfrm>
            <a:off x="502920" y="3072384"/>
            <a:ext cx="5074920" cy="0"/>
          </a:xfrm>
          <a:prstGeom prst="line">
            <a:avLst/>
          </a:prstGeom>
          <a:noFill/>
          <a:ln w="12700">
            <a:solidFill>
              <a:srgbClr val="EAF0FB"/>
            </a:solidFill>
            <a:prstDash val="solid"/>
          </a:ln>
        </p:spPr>
        <p:txBody>
          <a:bodyPr/>
          <a:lstStyle/>
          <a:p>
            <a:endParaRPr lang="fr-FR"/>
          </a:p>
        </p:txBody>
      </p:sp>
      <p:pic>
        <p:nvPicPr>
          <p:cNvPr id="18" name="Image 3" descr="preencoded.png"/>
          <p:cNvPicPr>
            <a:picLocks noChangeAspect="1"/>
          </p:cNvPicPr>
          <p:nvPr/>
        </p:nvPicPr>
        <p:blipFill>
          <a:blip r:embed="rId3"/>
          <a:stretch>
            <a:fillRect/>
          </a:stretch>
        </p:blipFill>
        <p:spPr>
          <a:xfrm>
            <a:off x="475488" y="3218688"/>
            <a:ext cx="384048" cy="384048"/>
          </a:xfrm>
          <a:prstGeom prst="rect">
            <a:avLst/>
          </a:prstGeom>
        </p:spPr>
      </p:pic>
      <p:sp>
        <p:nvSpPr>
          <p:cNvPr id="19" name="Text 13"/>
          <p:cNvSpPr/>
          <p:nvPr/>
        </p:nvSpPr>
        <p:spPr>
          <a:xfrm>
            <a:off x="1005840" y="3163824"/>
            <a:ext cx="461772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Des limites réelles : vérification humaine indispensable, vigilance sur les données</a:t>
            </a:r>
            <a:endParaRPr lang="en-US" sz="1300" dirty="0"/>
          </a:p>
        </p:txBody>
      </p:sp>
      <p:sp>
        <p:nvSpPr>
          <p:cNvPr id="20" name="Shape 14"/>
          <p:cNvSpPr/>
          <p:nvPr/>
        </p:nvSpPr>
        <p:spPr>
          <a:xfrm>
            <a:off x="502920" y="3822192"/>
            <a:ext cx="5074920" cy="0"/>
          </a:xfrm>
          <a:prstGeom prst="line">
            <a:avLst/>
          </a:prstGeom>
          <a:noFill/>
          <a:ln w="12700">
            <a:solidFill>
              <a:srgbClr val="EAF0FB"/>
            </a:solidFill>
            <a:prstDash val="solid"/>
          </a:ln>
        </p:spPr>
        <p:txBody>
          <a:bodyPr/>
          <a:lstStyle/>
          <a:p>
            <a:endParaRPr lang="fr-FR"/>
          </a:p>
        </p:txBody>
      </p:sp>
      <p:pic>
        <p:nvPicPr>
          <p:cNvPr id="21" name="Image 4" descr="preencoded.png"/>
          <p:cNvPicPr>
            <a:picLocks noChangeAspect="1"/>
          </p:cNvPicPr>
          <p:nvPr/>
        </p:nvPicPr>
        <p:blipFill>
          <a:blip r:embed="rId3"/>
          <a:stretch>
            <a:fillRect/>
          </a:stretch>
        </p:blipFill>
        <p:spPr>
          <a:xfrm>
            <a:off x="475488" y="3968496"/>
            <a:ext cx="384048" cy="384048"/>
          </a:xfrm>
          <a:prstGeom prst="rect">
            <a:avLst/>
          </a:prstGeom>
        </p:spPr>
      </p:pic>
      <p:sp>
        <p:nvSpPr>
          <p:cNvPr id="22" name="Text 15"/>
          <p:cNvSpPr/>
          <p:nvPr/>
        </p:nvSpPr>
        <p:spPr>
          <a:xfrm>
            <a:off x="1005840" y="3913632"/>
            <a:ext cx="4617720" cy="640080"/>
          </a:xfrm>
          <a:prstGeom prst="rect">
            <a:avLst/>
          </a:prstGeom>
          <a:noFill/>
          <a:ln/>
        </p:spPr>
        <p:txBody>
          <a:bodyPr wrap="square" rtlCol="0" anchor="ctr"/>
          <a:lstStyle/>
          <a:p>
            <a:pPr marL="0" indent="0">
              <a:buNone/>
            </a:pPr>
            <a:r>
              <a:rPr lang="en-US" sz="1300" dirty="0">
                <a:solidFill>
                  <a:srgbClr val="1A1A2E"/>
                </a:solidFill>
                <a:latin typeface="Calibri" pitchFamily="34" charset="0"/>
                <a:ea typeface="Calibri" pitchFamily="34" charset="-122"/>
                <a:cs typeface="Calibri" pitchFamily="34" charset="-120"/>
              </a:rPr>
              <a:t>Chaque collaborateur peut utiliser l'IA sans être développeur</a:t>
            </a:r>
            <a:endParaRPr lang="en-US" sz="1300" dirty="0"/>
          </a:p>
        </p:txBody>
      </p:sp>
      <p:sp>
        <p:nvSpPr>
          <p:cNvPr id="23" name="Shape 16"/>
          <p:cNvSpPr/>
          <p:nvPr/>
        </p:nvSpPr>
        <p:spPr>
          <a:xfrm>
            <a:off x="5989320" y="749808"/>
            <a:ext cx="2834640" cy="4023360"/>
          </a:xfrm>
          <a:prstGeom prst="rect">
            <a:avLst/>
          </a:prstGeom>
          <a:solidFill>
            <a:srgbClr val="1A4A8A"/>
          </a:solidFill>
          <a:ln w="12700">
            <a:solidFill>
              <a:srgbClr val="1A4A8A"/>
            </a:solidFill>
            <a:prstDash val="solid"/>
          </a:ln>
        </p:spPr>
        <p:txBody>
          <a:bodyPr/>
          <a:lstStyle/>
          <a:p>
            <a:endParaRPr lang="fr-FR"/>
          </a:p>
        </p:txBody>
      </p:sp>
      <p:sp>
        <p:nvSpPr>
          <p:cNvPr id="24" name="Shape 17"/>
          <p:cNvSpPr/>
          <p:nvPr/>
        </p:nvSpPr>
        <p:spPr>
          <a:xfrm>
            <a:off x="5989320" y="749808"/>
            <a:ext cx="2834640" cy="64008"/>
          </a:xfrm>
          <a:prstGeom prst="rect">
            <a:avLst/>
          </a:prstGeom>
          <a:solidFill>
            <a:srgbClr val="F47B20"/>
          </a:solidFill>
          <a:ln w="12700">
            <a:solidFill>
              <a:srgbClr val="F47B20"/>
            </a:solidFill>
            <a:prstDash val="solid"/>
          </a:ln>
        </p:spPr>
        <p:txBody>
          <a:bodyPr/>
          <a:lstStyle/>
          <a:p>
            <a:endParaRPr lang="fr-FR"/>
          </a:p>
        </p:txBody>
      </p:sp>
      <p:sp>
        <p:nvSpPr>
          <p:cNvPr id="25" name="Text 18"/>
          <p:cNvSpPr/>
          <p:nvPr/>
        </p:nvSpPr>
        <p:spPr>
          <a:xfrm>
            <a:off x="6080760" y="960120"/>
            <a:ext cx="2651760" cy="365760"/>
          </a:xfrm>
          <a:prstGeom prst="rect">
            <a:avLst/>
          </a:prstGeom>
          <a:noFill/>
          <a:ln/>
        </p:spPr>
        <p:txBody>
          <a:bodyPr wrap="square" rtlCol="0" anchor="ctr"/>
          <a:lstStyle/>
          <a:p>
            <a:pPr marL="0" indent="0" algn="ctr">
              <a:buNone/>
            </a:pPr>
            <a:r>
              <a:rPr lang="en-US" sz="1000" b="1" kern="0" spc="200" dirty="0">
                <a:solidFill>
                  <a:srgbClr val="F47B20"/>
                </a:solidFill>
                <a:latin typeface="Calibri" pitchFamily="34" charset="0"/>
                <a:ea typeface="Calibri" pitchFamily="34" charset="-122"/>
                <a:cs typeface="Calibri" pitchFamily="34" charset="-120"/>
              </a:rPr>
              <a:t>PROCHAIN MODULE</a:t>
            </a:r>
            <a:endParaRPr lang="en-US" sz="1000" dirty="0"/>
          </a:p>
        </p:txBody>
      </p:sp>
      <p:pic>
        <p:nvPicPr>
          <p:cNvPr id="26" name="Image 5" descr="preencoded.png"/>
          <p:cNvPicPr>
            <a:picLocks noChangeAspect="1"/>
          </p:cNvPicPr>
          <p:nvPr/>
        </p:nvPicPr>
        <p:blipFill>
          <a:blip r:embed="rId4"/>
          <a:stretch>
            <a:fillRect/>
          </a:stretch>
        </p:blipFill>
        <p:spPr>
          <a:xfrm>
            <a:off x="6903720" y="1463040"/>
            <a:ext cx="1005840" cy="1005840"/>
          </a:xfrm>
          <a:prstGeom prst="rect">
            <a:avLst/>
          </a:prstGeom>
        </p:spPr>
      </p:pic>
      <p:sp>
        <p:nvSpPr>
          <p:cNvPr id="27" name="Text 19"/>
          <p:cNvSpPr/>
          <p:nvPr/>
        </p:nvSpPr>
        <p:spPr>
          <a:xfrm>
            <a:off x="6080760" y="2606040"/>
            <a:ext cx="2651760" cy="50292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Module 2</a:t>
            </a:r>
            <a:endParaRPr lang="en-US" sz="2000" dirty="0"/>
          </a:p>
        </p:txBody>
      </p:sp>
      <p:sp>
        <p:nvSpPr>
          <p:cNvPr id="28" name="Text 20"/>
          <p:cNvSpPr/>
          <p:nvPr/>
        </p:nvSpPr>
        <p:spPr>
          <a:xfrm>
            <a:off x="6080760" y="3154680"/>
            <a:ext cx="2651760" cy="1188720"/>
          </a:xfrm>
          <a:prstGeom prst="rect">
            <a:avLst/>
          </a:prstGeom>
          <a:noFill/>
          <a:ln/>
        </p:spPr>
        <p:txBody>
          <a:bodyPr wrap="square" rtlCol="0" anchor="t"/>
          <a:lstStyle/>
          <a:p>
            <a:pPr marL="0" indent="0" algn="ctr">
              <a:buNone/>
            </a:pPr>
            <a:r>
              <a:rPr lang="en-US" sz="1300" i="1" dirty="0">
                <a:solidFill>
                  <a:srgbClr val="B0C4DE"/>
                </a:solidFill>
                <a:latin typeface="Calibri" pitchFamily="34" charset="0"/>
                <a:ea typeface="Calibri" pitchFamily="34" charset="-122"/>
                <a:cs typeface="Calibri" pitchFamily="34" charset="-120"/>
              </a:rPr>
              <a:t>Automatiser la</a:t>
            </a:r>
            <a:endParaRPr lang="en-US" sz="1300" dirty="0"/>
          </a:p>
          <a:p>
            <a:pPr marL="0" indent="0" algn="ctr">
              <a:buNone/>
            </a:pPr>
            <a:r>
              <a:rPr lang="en-US" sz="1300" i="1" dirty="0">
                <a:solidFill>
                  <a:srgbClr val="B0C4DE"/>
                </a:solidFill>
                <a:latin typeface="Calibri" pitchFamily="34" charset="0"/>
                <a:ea typeface="Calibri" pitchFamily="34" charset="-122"/>
                <a:cs typeface="Calibri" pitchFamily="34" charset="-120"/>
              </a:rPr>
              <a:t>production de contenu</a:t>
            </a:r>
            <a:endParaRPr lang="en-US" sz="1300" dirty="0"/>
          </a:p>
          <a:p>
            <a:pPr marL="0" indent="0" algn="ctr">
              <a:buNone/>
            </a:pPr>
            <a:r>
              <a:rPr lang="en-US" sz="1300" i="1" dirty="0">
                <a:solidFill>
                  <a:srgbClr val="B0C4DE"/>
                </a:solidFill>
                <a:latin typeface="Calibri" pitchFamily="34" charset="0"/>
                <a:ea typeface="Calibri" pitchFamily="34" charset="-122"/>
                <a:cs typeface="Calibri" pitchFamily="34" charset="-120"/>
              </a:rPr>
              <a:t>administratif</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D2B5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7B20"/>
          </a:solidFill>
          <a:ln w="12700">
            <a:solidFill>
              <a:srgbClr val="F47B20"/>
            </a:solidFill>
            <a:prstDash val="solid"/>
          </a:ln>
        </p:spPr>
        <p:txBody>
          <a:bodyPr/>
          <a:lstStyle/>
          <a:p>
            <a:endParaRPr lang="fr-FR"/>
          </a:p>
        </p:txBody>
      </p:sp>
      <p:sp>
        <p:nvSpPr>
          <p:cNvPr id="3" name="Shape 1"/>
          <p:cNvSpPr/>
          <p:nvPr/>
        </p:nvSpPr>
        <p:spPr>
          <a:xfrm>
            <a:off x="0" y="4389120"/>
            <a:ext cx="9144000" cy="754380"/>
          </a:xfrm>
          <a:prstGeom prst="rect">
            <a:avLst/>
          </a:prstGeom>
          <a:solidFill>
            <a:srgbClr val="061530"/>
          </a:solidFill>
          <a:ln w="12700">
            <a:solidFill>
              <a:srgbClr val="061530"/>
            </a:solidFill>
            <a:prstDash val="solid"/>
          </a:ln>
        </p:spPr>
        <p:txBody>
          <a:bodyPr/>
          <a:lstStyle/>
          <a:p>
            <a:endParaRPr lang="fr-FR"/>
          </a:p>
        </p:txBody>
      </p:sp>
      <p:sp>
        <p:nvSpPr>
          <p:cNvPr id="4" name="Shape 2"/>
          <p:cNvSpPr/>
          <p:nvPr/>
        </p:nvSpPr>
        <p:spPr>
          <a:xfrm>
            <a:off x="6400800" y="-731520"/>
            <a:ext cx="3657600" cy="3657600"/>
          </a:xfrm>
          <a:prstGeom prst="ellipse">
            <a:avLst/>
          </a:prstGeom>
          <a:solidFill>
            <a:srgbClr val="F47B20">
              <a:alpha val="20000"/>
            </a:srgbClr>
          </a:solidFill>
          <a:ln w="12700">
            <a:solidFill>
              <a:srgbClr val="F47B20">
                <a:alpha val="20000"/>
              </a:srgbClr>
            </a:solidFill>
            <a:prstDash val="solid"/>
          </a:ln>
        </p:spPr>
        <p:txBody>
          <a:bodyPr/>
          <a:lstStyle/>
          <a:p>
            <a:endParaRPr lang="fr-FR"/>
          </a:p>
        </p:txBody>
      </p:sp>
      <p:pic>
        <p:nvPicPr>
          <p:cNvPr id="5" name="Image 0" descr="preencoded.png"/>
          <p:cNvPicPr>
            <a:picLocks noChangeAspect="1"/>
          </p:cNvPicPr>
          <p:nvPr/>
        </p:nvPicPr>
        <p:blipFill>
          <a:blip r:embed="rId3"/>
          <a:stretch>
            <a:fillRect/>
          </a:stretch>
        </p:blipFill>
        <p:spPr>
          <a:xfrm>
            <a:off x="6583680" y="1188720"/>
            <a:ext cx="2011680" cy="2011680"/>
          </a:xfrm>
          <a:prstGeom prst="rect">
            <a:avLst/>
          </a:prstGeom>
        </p:spPr>
      </p:pic>
      <p:sp>
        <p:nvSpPr>
          <p:cNvPr id="6" name="Text 3"/>
          <p:cNvSpPr/>
          <p:nvPr/>
        </p:nvSpPr>
        <p:spPr>
          <a:xfrm>
            <a:off x="457200" y="640080"/>
            <a:ext cx="5943600" cy="475488"/>
          </a:xfrm>
          <a:prstGeom prst="rect">
            <a:avLst/>
          </a:prstGeom>
          <a:noFill/>
          <a:ln/>
        </p:spPr>
        <p:txBody>
          <a:bodyPr wrap="square" rtlCol="0" anchor="ctr"/>
          <a:lstStyle/>
          <a:p>
            <a:pPr marL="0" indent="0">
              <a:buNone/>
            </a:pPr>
            <a:r>
              <a:rPr lang="en-US" sz="1200" b="1" kern="0" spc="400" dirty="0">
                <a:solidFill>
                  <a:srgbClr val="F47B20"/>
                </a:solidFill>
                <a:latin typeface="Calibri" pitchFamily="34" charset="0"/>
                <a:ea typeface="Calibri" pitchFamily="34" charset="-122"/>
                <a:cs typeface="Calibri" pitchFamily="34" charset="-120"/>
              </a:rPr>
              <a:t>MODULE 2</a:t>
            </a:r>
            <a:endParaRPr lang="en-US" sz="1200" dirty="0"/>
          </a:p>
        </p:txBody>
      </p:sp>
      <p:sp>
        <p:nvSpPr>
          <p:cNvPr id="7" name="Text 4"/>
          <p:cNvSpPr/>
          <p:nvPr/>
        </p:nvSpPr>
        <p:spPr>
          <a:xfrm>
            <a:off x="457200" y="1143000"/>
            <a:ext cx="5852160" cy="237744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Utiliser l'IA pour</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automatiser la production</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de contenu administratif</a:t>
            </a:r>
            <a:endParaRPr lang="en-US" sz="2700" dirty="0"/>
          </a:p>
        </p:txBody>
      </p:sp>
      <p:sp>
        <p:nvSpPr>
          <p:cNvPr id="8" name="Text 5"/>
          <p:cNvSpPr/>
          <p:nvPr/>
        </p:nvSpPr>
        <p:spPr>
          <a:xfrm>
            <a:off x="457200" y="4434840"/>
            <a:ext cx="8229600" cy="365760"/>
          </a:xfrm>
          <a:prstGeom prst="rect">
            <a:avLst/>
          </a:prstGeom>
          <a:noFill/>
          <a:ln/>
        </p:spPr>
        <p:txBody>
          <a:bodyPr wrap="square" rtlCol="0" anchor="ctr"/>
          <a:lstStyle/>
          <a:p>
            <a:pPr marL="0" indent="0">
              <a:buNone/>
            </a:pPr>
            <a:r>
              <a:rPr lang="en-US" sz="1100" i="1" dirty="0">
                <a:solidFill>
                  <a:srgbClr val="9EC5F0"/>
                </a:solidFill>
                <a:latin typeface="Calibri" pitchFamily="34" charset="0"/>
                <a:ea typeface="Calibri" pitchFamily="34" charset="-122"/>
                <a:cs typeface="Calibri" pitchFamily="34" charset="-120"/>
              </a:rPr>
              <a:t>Durée estimée : 1h30  ·  10 slides  ·  1 atelier pratique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Les tâches administratives chronophages</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320040" y="749808"/>
            <a:ext cx="4114800" cy="4023360"/>
          </a:xfrm>
          <a:prstGeom prst="rect">
            <a:avLst/>
          </a:prstGeom>
          <a:solidFill>
            <a:srgbClr val="FFFFFF"/>
          </a:solidFill>
          <a:ln w="12700">
            <a:solidFill>
              <a:srgbClr val="D5E3F7"/>
            </a:solidFill>
            <a:prstDash val="solid"/>
          </a:ln>
          <a:effectLst>
            <a:outerShdw blurRad="101600" dist="25400" dir="8100000" algn="bl" rotWithShape="0">
              <a:srgbClr val="000000">
                <a:alpha val="9000"/>
              </a:srgbClr>
            </a:outerShdw>
          </a:effectLst>
        </p:spPr>
        <p:txBody>
          <a:bodyPr/>
          <a:lstStyle/>
          <a:p>
            <a:endParaRPr lang="fr-FR"/>
          </a:p>
        </p:txBody>
      </p:sp>
      <p:sp>
        <p:nvSpPr>
          <p:cNvPr id="9" name="Text 7"/>
          <p:cNvSpPr/>
          <p:nvPr/>
        </p:nvSpPr>
        <p:spPr>
          <a:xfrm>
            <a:off x="457200" y="841248"/>
            <a:ext cx="3749040" cy="594360"/>
          </a:xfrm>
          <a:prstGeom prst="rect">
            <a:avLst/>
          </a:prstGeom>
          <a:noFill/>
          <a:ln/>
        </p:spPr>
        <p:txBody>
          <a:bodyPr wrap="square" rtlCol="0" anchor="ctr"/>
          <a:lstStyle/>
          <a:p>
            <a:pPr marL="0" indent="0">
              <a:buNone/>
            </a:pPr>
            <a:r>
              <a:rPr lang="en-US" sz="1250" b="1" dirty="0">
                <a:solidFill>
                  <a:srgbClr val="1A4A8A"/>
                </a:solidFill>
                <a:latin typeface="Calibri" pitchFamily="34" charset="0"/>
                <a:ea typeface="Calibri" pitchFamily="34" charset="-122"/>
                <a:cs typeface="Calibri" pitchFamily="34" charset="-120"/>
              </a:rPr>
              <a:t>Temps hebdomadaire moyen</a:t>
            </a:r>
            <a:endParaRPr lang="en-US" sz="1250" dirty="0"/>
          </a:p>
          <a:p>
            <a:pPr marL="0" indent="0">
              <a:buNone/>
            </a:pPr>
            <a:r>
              <a:rPr lang="en-US" sz="1250" b="1" dirty="0">
                <a:solidFill>
                  <a:srgbClr val="1A4A8A"/>
                </a:solidFill>
                <a:latin typeface="Calibri" pitchFamily="34" charset="0"/>
                <a:ea typeface="Calibri" pitchFamily="34" charset="-122"/>
                <a:cs typeface="Calibri" pitchFamily="34" charset="-120"/>
              </a:rPr>
              <a:t>consacré aux tâches admin.</a:t>
            </a:r>
            <a:endParaRPr lang="en-US" sz="1250" dirty="0"/>
          </a:p>
        </p:txBody>
      </p:sp>
      <p:sp>
        <p:nvSpPr>
          <p:cNvPr id="10" name="Text 8"/>
          <p:cNvSpPr/>
          <p:nvPr/>
        </p:nvSpPr>
        <p:spPr>
          <a:xfrm>
            <a:off x="411480" y="1554480"/>
            <a:ext cx="1417320" cy="3474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Emails</a:t>
            </a:r>
            <a:endParaRPr lang="en-US" sz="1100" dirty="0"/>
          </a:p>
        </p:txBody>
      </p:sp>
      <p:sp>
        <p:nvSpPr>
          <p:cNvPr id="11" name="Shape 9"/>
          <p:cNvSpPr/>
          <p:nvPr/>
        </p:nvSpPr>
        <p:spPr>
          <a:xfrm>
            <a:off x="1874520" y="1627632"/>
            <a:ext cx="3017520" cy="256032"/>
          </a:xfrm>
          <a:prstGeom prst="rect">
            <a:avLst/>
          </a:prstGeom>
          <a:solidFill>
            <a:srgbClr val="EEF4FF"/>
          </a:solidFill>
          <a:ln w="12700">
            <a:solidFill>
              <a:srgbClr val="D5E3F7"/>
            </a:solidFill>
            <a:prstDash val="solid"/>
          </a:ln>
        </p:spPr>
        <p:txBody>
          <a:bodyPr/>
          <a:lstStyle/>
          <a:p>
            <a:endParaRPr lang="fr-FR"/>
          </a:p>
        </p:txBody>
      </p:sp>
      <p:sp>
        <p:nvSpPr>
          <p:cNvPr id="12" name="Shape 10"/>
          <p:cNvSpPr/>
          <p:nvPr/>
        </p:nvSpPr>
        <p:spPr>
          <a:xfrm>
            <a:off x="1874520" y="1627632"/>
            <a:ext cx="2715768" cy="256032"/>
          </a:xfrm>
          <a:prstGeom prst="rect">
            <a:avLst/>
          </a:prstGeom>
          <a:solidFill>
            <a:srgbClr val="1A4A8A"/>
          </a:solidFill>
          <a:ln w="12700">
            <a:solidFill>
              <a:srgbClr val="1A4A8A"/>
            </a:solidFill>
            <a:prstDash val="solid"/>
          </a:ln>
        </p:spPr>
        <p:txBody>
          <a:bodyPr/>
          <a:lstStyle/>
          <a:p>
            <a:endParaRPr lang="fr-FR"/>
          </a:p>
        </p:txBody>
      </p:sp>
      <p:sp>
        <p:nvSpPr>
          <p:cNvPr id="13" name="Text 11"/>
          <p:cNvSpPr/>
          <p:nvPr/>
        </p:nvSpPr>
        <p:spPr>
          <a:xfrm>
            <a:off x="4937760" y="1554480"/>
            <a:ext cx="822960" cy="347472"/>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6h/sem</a:t>
            </a:r>
            <a:endParaRPr lang="en-US" sz="1100" dirty="0"/>
          </a:p>
        </p:txBody>
      </p:sp>
      <p:sp>
        <p:nvSpPr>
          <p:cNvPr id="14" name="Text 12"/>
          <p:cNvSpPr/>
          <p:nvPr/>
        </p:nvSpPr>
        <p:spPr>
          <a:xfrm>
            <a:off x="411480" y="2157984"/>
            <a:ext cx="1417320" cy="3474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Comptes rendus</a:t>
            </a:r>
            <a:endParaRPr lang="en-US" sz="1100" dirty="0"/>
          </a:p>
        </p:txBody>
      </p:sp>
      <p:sp>
        <p:nvSpPr>
          <p:cNvPr id="15" name="Shape 13"/>
          <p:cNvSpPr/>
          <p:nvPr/>
        </p:nvSpPr>
        <p:spPr>
          <a:xfrm>
            <a:off x="1874520" y="2231136"/>
            <a:ext cx="3017520" cy="256032"/>
          </a:xfrm>
          <a:prstGeom prst="rect">
            <a:avLst/>
          </a:prstGeom>
          <a:solidFill>
            <a:srgbClr val="EEF4FF"/>
          </a:solidFill>
          <a:ln w="12700">
            <a:solidFill>
              <a:srgbClr val="D5E3F7"/>
            </a:solidFill>
            <a:prstDash val="solid"/>
          </a:ln>
        </p:spPr>
        <p:txBody>
          <a:bodyPr/>
          <a:lstStyle/>
          <a:p>
            <a:endParaRPr lang="fr-FR"/>
          </a:p>
        </p:txBody>
      </p:sp>
      <p:sp>
        <p:nvSpPr>
          <p:cNvPr id="16" name="Shape 14"/>
          <p:cNvSpPr/>
          <p:nvPr/>
        </p:nvSpPr>
        <p:spPr>
          <a:xfrm>
            <a:off x="1874520" y="2231136"/>
            <a:ext cx="1961388" cy="256032"/>
          </a:xfrm>
          <a:prstGeom prst="rect">
            <a:avLst/>
          </a:prstGeom>
          <a:solidFill>
            <a:srgbClr val="F47B20"/>
          </a:solidFill>
          <a:ln w="12700">
            <a:solidFill>
              <a:srgbClr val="F47B20"/>
            </a:solidFill>
            <a:prstDash val="solid"/>
          </a:ln>
        </p:spPr>
        <p:txBody>
          <a:bodyPr/>
          <a:lstStyle/>
          <a:p>
            <a:endParaRPr lang="fr-FR"/>
          </a:p>
        </p:txBody>
      </p:sp>
      <p:sp>
        <p:nvSpPr>
          <p:cNvPr id="17" name="Text 15"/>
          <p:cNvSpPr/>
          <p:nvPr/>
        </p:nvSpPr>
        <p:spPr>
          <a:xfrm>
            <a:off x="4937760" y="2157984"/>
            <a:ext cx="822960" cy="347472"/>
          </a:xfrm>
          <a:prstGeom prst="rect">
            <a:avLst/>
          </a:prstGeom>
          <a:noFill/>
          <a:ln/>
        </p:spPr>
        <p:txBody>
          <a:bodyPr wrap="square" rtlCol="0" anchor="ctr"/>
          <a:lstStyle/>
          <a:p>
            <a:pPr marL="0" indent="0">
              <a:buNone/>
            </a:pPr>
            <a:r>
              <a:rPr lang="en-US" sz="1100" b="1" dirty="0">
                <a:solidFill>
                  <a:srgbClr val="F47B20"/>
                </a:solidFill>
                <a:latin typeface="Calibri" pitchFamily="34" charset="0"/>
                <a:ea typeface="Calibri" pitchFamily="34" charset="-122"/>
                <a:cs typeface="Calibri" pitchFamily="34" charset="-120"/>
              </a:rPr>
              <a:t>4h/sem</a:t>
            </a:r>
            <a:endParaRPr lang="en-US" sz="1100" dirty="0"/>
          </a:p>
        </p:txBody>
      </p:sp>
      <p:sp>
        <p:nvSpPr>
          <p:cNvPr id="18" name="Text 16"/>
          <p:cNvSpPr/>
          <p:nvPr/>
        </p:nvSpPr>
        <p:spPr>
          <a:xfrm>
            <a:off x="411480" y="2761488"/>
            <a:ext cx="1417320" cy="3474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Rapports</a:t>
            </a:r>
            <a:endParaRPr lang="en-US" sz="1100" dirty="0"/>
          </a:p>
        </p:txBody>
      </p:sp>
      <p:sp>
        <p:nvSpPr>
          <p:cNvPr id="19" name="Shape 17"/>
          <p:cNvSpPr/>
          <p:nvPr/>
        </p:nvSpPr>
        <p:spPr>
          <a:xfrm>
            <a:off x="1874520" y="2834640"/>
            <a:ext cx="3017520" cy="256032"/>
          </a:xfrm>
          <a:prstGeom prst="rect">
            <a:avLst/>
          </a:prstGeom>
          <a:solidFill>
            <a:srgbClr val="EEF4FF"/>
          </a:solidFill>
          <a:ln w="12700">
            <a:solidFill>
              <a:srgbClr val="D5E3F7"/>
            </a:solidFill>
            <a:prstDash val="solid"/>
          </a:ln>
        </p:spPr>
        <p:txBody>
          <a:bodyPr/>
          <a:lstStyle/>
          <a:p>
            <a:endParaRPr lang="fr-FR"/>
          </a:p>
        </p:txBody>
      </p:sp>
      <p:sp>
        <p:nvSpPr>
          <p:cNvPr id="20" name="Shape 18"/>
          <p:cNvSpPr/>
          <p:nvPr/>
        </p:nvSpPr>
        <p:spPr>
          <a:xfrm>
            <a:off x="1874520" y="2834640"/>
            <a:ext cx="1659636" cy="256032"/>
          </a:xfrm>
          <a:prstGeom prst="rect">
            <a:avLst/>
          </a:prstGeom>
          <a:solidFill>
            <a:srgbClr val="2E7D32"/>
          </a:solidFill>
          <a:ln w="12700">
            <a:solidFill>
              <a:srgbClr val="2E7D32"/>
            </a:solidFill>
            <a:prstDash val="solid"/>
          </a:ln>
        </p:spPr>
        <p:txBody>
          <a:bodyPr/>
          <a:lstStyle/>
          <a:p>
            <a:endParaRPr lang="fr-FR"/>
          </a:p>
        </p:txBody>
      </p:sp>
      <p:sp>
        <p:nvSpPr>
          <p:cNvPr id="21" name="Text 19"/>
          <p:cNvSpPr/>
          <p:nvPr/>
        </p:nvSpPr>
        <p:spPr>
          <a:xfrm>
            <a:off x="4937760" y="2761488"/>
            <a:ext cx="822960" cy="347472"/>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3.5h/sem</a:t>
            </a:r>
            <a:endParaRPr lang="en-US" sz="1100" dirty="0"/>
          </a:p>
        </p:txBody>
      </p:sp>
      <p:sp>
        <p:nvSpPr>
          <p:cNvPr id="22" name="Text 20"/>
          <p:cNvSpPr/>
          <p:nvPr/>
        </p:nvSpPr>
        <p:spPr>
          <a:xfrm>
            <a:off x="411480" y="3364992"/>
            <a:ext cx="1417320" cy="3474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Documents admin.</a:t>
            </a:r>
            <a:endParaRPr lang="en-US" sz="1100" dirty="0"/>
          </a:p>
        </p:txBody>
      </p:sp>
      <p:sp>
        <p:nvSpPr>
          <p:cNvPr id="23" name="Shape 21"/>
          <p:cNvSpPr/>
          <p:nvPr/>
        </p:nvSpPr>
        <p:spPr>
          <a:xfrm>
            <a:off x="1874520" y="3438144"/>
            <a:ext cx="3017520" cy="256032"/>
          </a:xfrm>
          <a:prstGeom prst="rect">
            <a:avLst/>
          </a:prstGeom>
          <a:solidFill>
            <a:srgbClr val="EEF4FF"/>
          </a:solidFill>
          <a:ln w="12700">
            <a:solidFill>
              <a:srgbClr val="D5E3F7"/>
            </a:solidFill>
            <a:prstDash val="solid"/>
          </a:ln>
        </p:spPr>
        <p:txBody>
          <a:bodyPr/>
          <a:lstStyle/>
          <a:p>
            <a:endParaRPr lang="fr-FR"/>
          </a:p>
        </p:txBody>
      </p:sp>
      <p:sp>
        <p:nvSpPr>
          <p:cNvPr id="24" name="Shape 22"/>
          <p:cNvSpPr/>
          <p:nvPr/>
        </p:nvSpPr>
        <p:spPr>
          <a:xfrm>
            <a:off x="1874520" y="3438144"/>
            <a:ext cx="1357884" cy="256032"/>
          </a:xfrm>
          <a:prstGeom prst="rect">
            <a:avLst/>
          </a:prstGeom>
          <a:solidFill>
            <a:srgbClr val="7B3FA0"/>
          </a:solidFill>
          <a:ln w="12700">
            <a:solidFill>
              <a:srgbClr val="7B3FA0"/>
            </a:solidFill>
            <a:prstDash val="solid"/>
          </a:ln>
        </p:spPr>
        <p:txBody>
          <a:bodyPr/>
          <a:lstStyle/>
          <a:p>
            <a:endParaRPr lang="fr-FR"/>
          </a:p>
        </p:txBody>
      </p:sp>
      <p:sp>
        <p:nvSpPr>
          <p:cNvPr id="25" name="Text 23"/>
          <p:cNvSpPr/>
          <p:nvPr/>
        </p:nvSpPr>
        <p:spPr>
          <a:xfrm>
            <a:off x="4937760" y="3364992"/>
            <a:ext cx="822960" cy="347472"/>
          </a:xfrm>
          <a:prstGeom prst="rect">
            <a:avLst/>
          </a:prstGeom>
          <a:noFill/>
          <a:ln/>
        </p:spPr>
        <p:txBody>
          <a:bodyPr wrap="square" rtlCol="0" anchor="ctr"/>
          <a:lstStyle/>
          <a:p>
            <a:pPr marL="0" indent="0">
              <a:buNone/>
            </a:pPr>
            <a:r>
              <a:rPr lang="en-US" sz="1100" b="1" dirty="0">
                <a:solidFill>
                  <a:srgbClr val="7B3FA0"/>
                </a:solidFill>
                <a:latin typeface="Calibri" pitchFamily="34" charset="0"/>
                <a:ea typeface="Calibri" pitchFamily="34" charset="-122"/>
                <a:cs typeface="Calibri" pitchFamily="34" charset="-120"/>
              </a:rPr>
              <a:t>2.5h/sem</a:t>
            </a:r>
            <a:endParaRPr lang="en-US" sz="1100" dirty="0"/>
          </a:p>
        </p:txBody>
      </p:sp>
      <p:sp>
        <p:nvSpPr>
          <p:cNvPr id="26" name="Text 24"/>
          <p:cNvSpPr/>
          <p:nvPr/>
        </p:nvSpPr>
        <p:spPr>
          <a:xfrm>
            <a:off x="411480" y="3968496"/>
            <a:ext cx="1417320" cy="347472"/>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Recherche d'infos</a:t>
            </a:r>
            <a:endParaRPr lang="en-US" sz="1100" dirty="0"/>
          </a:p>
        </p:txBody>
      </p:sp>
      <p:sp>
        <p:nvSpPr>
          <p:cNvPr id="27" name="Shape 25"/>
          <p:cNvSpPr/>
          <p:nvPr/>
        </p:nvSpPr>
        <p:spPr>
          <a:xfrm>
            <a:off x="1874520" y="4041648"/>
            <a:ext cx="3017520" cy="256032"/>
          </a:xfrm>
          <a:prstGeom prst="rect">
            <a:avLst/>
          </a:prstGeom>
          <a:solidFill>
            <a:srgbClr val="EEF4FF"/>
          </a:solidFill>
          <a:ln w="12700">
            <a:solidFill>
              <a:srgbClr val="D5E3F7"/>
            </a:solidFill>
            <a:prstDash val="solid"/>
          </a:ln>
        </p:spPr>
        <p:txBody>
          <a:bodyPr/>
          <a:lstStyle/>
          <a:p>
            <a:endParaRPr lang="fr-FR"/>
          </a:p>
        </p:txBody>
      </p:sp>
      <p:sp>
        <p:nvSpPr>
          <p:cNvPr id="28" name="Shape 26"/>
          <p:cNvSpPr/>
          <p:nvPr/>
        </p:nvSpPr>
        <p:spPr>
          <a:xfrm>
            <a:off x="1874520" y="4041648"/>
            <a:ext cx="2112264" cy="256032"/>
          </a:xfrm>
          <a:prstGeom prst="rect">
            <a:avLst/>
          </a:prstGeom>
          <a:solidFill>
            <a:srgbClr val="C0392B"/>
          </a:solidFill>
          <a:ln w="12700">
            <a:solidFill>
              <a:srgbClr val="C0392B"/>
            </a:solidFill>
            <a:prstDash val="solid"/>
          </a:ln>
        </p:spPr>
        <p:txBody>
          <a:bodyPr/>
          <a:lstStyle/>
          <a:p>
            <a:endParaRPr lang="fr-FR"/>
          </a:p>
        </p:txBody>
      </p:sp>
      <p:sp>
        <p:nvSpPr>
          <p:cNvPr id="29" name="Text 27"/>
          <p:cNvSpPr/>
          <p:nvPr/>
        </p:nvSpPr>
        <p:spPr>
          <a:xfrm>
            <a:off x="4937760" y="3968496"/>
            <a:ext cx="822960" cy="347472"/>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4.5h/sem</a:t>
            </a:r>
            <a:endParaRPr lang="en-US" sz="1100" dirty="0"/>
          </a:p>
        </p:txBody>
      </p:sp>
      <p:sp>
        <p:nvSpPr>
          <p:cNvPr id="30" name="Shape 28"/>
          <p:cNvSpPr/>
          <p:nvPr/>
        </p:nvSpPr>
        <p:spPr>
          <a:xfrm>
            <a:off x="4617720" y="749808"/>
            <a:ext cx="4206240" cy="4023360"/>
          </a:xfrm>
          <a:prstGeom prst="rect">
            <a:avLst/>
          </a:prstGeom>
          <a:solidFill>
            <a:srgbClr val="FFFFFF"/>
          </a:solidFill>
          <a:ln w="12700">
            <a:solidFill>
              <a:srgbClr val="D5E3F7"/>
            </a:solidFill>
            <a:prstDash val="solid"/>
          </a:ln>
          <a:effectLst>
            <a:outerShdw blurRad="101600" dist="25400" dir="8100000" algn="bl" rotWithShape="0">
              <a:srgbClr val="000000">
                <a:alpha val="9000"/>
              </a:srgbClr>
            </a:outerShdw>
          </a:effectLst>
        </p:spPr>
        <p:txBody>
          <a:bodyPr/>
          <a:lstStyle/>
          <a:p>
            <a:endParaRPr lang="fr-FR"/>
          </a:p>
        </p:txBody>
      </p:sp>
      <p:sp>
        <p:nvSpPr>
          <p:cNvPr id="31" name="Shape 29"/>
          <p:cNvSpPr/>
          <p:nvPr/>
        </p:nvSpPr>
        <p:spPr>
          <a:xfrm>
            <a:off x="4617720" y="749808"/>
            <a:ext cx="4206240" cy="64008"/>
          </a:xfrm>
          <a:prstGeom prst="rect">
            <a:avLst/>
          </a:prstGeom>
          <a:solidFill>
            <a:srgbClr val="F47B20"/>
          </a:solidFill>
          <a:ln w="12700">
            <a:solidFill>
              <a:srgbClr val="F47B20"/>
            </a:solidFill>
            <a:prstDash val="solid"/>
          </a:ln>
        </p:spPr>
        <p:txBody>
          <a:bodyPr/>
          <a:lstStyle/>
          <a:p>
            <a:endParaRPr lang="fr-FR"/>
          </a:p>
        </p:txBody>
      </p:sp>
      <p:sp>
        <p:nvSpPr>
          <p:cNvPr id="32" name="Text 30"/>
          <p:cNvSpPr/>
          <p:nvPr/>
        </p:nvSpPr>
        <p:spPr>
          <a:xfrm>
            <a:off x="4754880" y="868680"/>
            <a:ext cx="3931920" cy="411480"/>
          </a:xfrm>
          <a:prstGeom prst="rect">
            <a:avLst/>
          </a:prstGeom>
          <a:noFill/>
          <a:ln/>
        </p:spPr>
        <p:txBody>
          <a:bodyPr wrap="square" rtlCol="0" anchor="ctr"/>
          <a:lstStyle/>
          <a:p>
            <a:pPr marL="0" indent="0">
              <a:buNone/>
            </a:pPr>
            <a:r>
              <a:rPr lang="en-US" sz="1400" b="1" dirty="0">
                <a:solidFill>
                  <a:srgbClr val="1A4A8A"/>
                </a:solidFill>
                <a:latin typeface="Calibri" pitchFamily="34" charset="0"/>
                <a:ea typeface="Calibri" pitchFamily="34" charset="-122"/>
                <a:cs typeface="Calibri" pitchFamily="34" charset="-120"/>
              </a:rPr>
              <a:t>Impact sur les professionnels</a:t>
            </a:r>
            <a:endParaRPr lang="en-US" sz="1400" dirty="0"/>
          </a:p>
        </p:txBody>
      </p:sp>
      <p:sp>
        <p:nvSpPr>
          <p:cNvPr id="33" name="Shape 31"/>
          <p:cNvSpPr/>
          <p:nvPr/>
        </p:nvSpPr>
        <p:spPr>
          <a:xfrm>
            <a:off x="4773168" y="1417320"/>
            <a:ext cx="457200" cy="457200"/>
          </a:xfrm>
          <a:prstGeom prst="ellipse">
            <a:avLst/>
          </a:prstGeom>
          <a:solidFill>
            <a:srgbClr val="C0392B"/>
          </a:solidFill>
          <a:ln w="12700">
            <a:solidFill>
              <a:srgbClr val="C0392B"/>
            </a:solidFill>
            <a:prstDash val="solid"/>
          </a:ln>
        </p:spPr>
        <p:txBody>
          <a:bodyPr/>
          <a:lstStyle/>
          <a:p>
            <a:endParaRPr lang="fr-FR"/>
          </a:p>
        </p:txBody>
      </p:sp>
      <p:pic>
        <p:nvPicPr>
          <p:cNvPr id="34" name="Image 0" descr="preencoded.png"/>
          <p:cNvPicPr>
            <a:picLocks noChangeAspect="1"/>
          </p:cNvPicPr>
          <p:nvPr/>
        </p:nvPicPr>
        <p:blipFill>
          <a:blip r:embed="rId3"/>
          <a:stretch>
            <a:fillRect/>
          </a:stretch>
        </p:blipFill>
        <p:spPr>
          <a:xfrm>
            <a:off x="4800600" y="1453896"/>
            <a:ext cx="384048" cy="384048"/>
          </a:xfrm>
          <a:prstGeom prst="rect">
            <a:avLst/>
          </a:prstGeom>
        </p:spPr>
      </p:pic>
      <p:sp>
        <p:nvSpPr>
          <p:cNvPr id="35" name="Text 32"/>
          <p:cNvSpPr/>
          <p:nvPr/>
        </p:nvSpPr>
        <p:spPr>
          <a:xfrm>
            <a:off x="5340096" y="1417320"/>
            <a:ext cx="3337560" cy="62179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20h/semaine perdues en tâches à faible valeur ajoutée</a:t>
            </a:r>
            <a:endParaRPr lang="en-US" sz="1200" dirty="0"/>
          </a:p>
        </p:txBody>
      </p:sp>
      <p:sp>
        <p:nvSpPr>
          <p:cNvPr id="36" name="Shape 33"/>
          <p:cNvSpPr/>
          <p:nvPr/>
        </p:nvSpPr>
        <p:spPr>
          <a:xfrm>
            <a:off x="4773168" y="2011680"/>
            <a:ext cx="3840480" cy="0"/>
          </a:xfrm>
          <a:prstGeom prst="line">
            <a:avLst/>
          </a:prstGeom>
          <a:noFill/>
          <a:ln w="12700">
            <a:solidFill>
              <a:srgbClr val="EAF0FB"/>
            </a:solidFill>
            <a:prstDash val="solid"/>
          </a:ln>
        </p:spPr>
        <p:txBody>
          <a:bodyPr/>
          <a:lstStyle/>
          <a:p>
            <a:endParaRPr lang="fr-FR"/>
          </a:p>
        </p:txBody>
      </p:sp>
      <p:sp>
        <p:nvSpPr>
          <p:cNvPr id="37" name="Shape 34"/>
          <p:cNvSpPr/>
          <p:nvPr/>
        </p:nvSpPr>
        <p:spPr>
          <a:xfrm>
            <a:off x="4773168" y="2258568"/>
            <a:ext cx="457200" cy="457200"/>
          </a:xfrm>
          <a:prstGeom prst="ellipse">
            <a:avLst/>
          </a:prstGeom>
          <a:solidFill>
            <a:srgbClr val="F47B20"/>
          </a:solidFill>
          <a:ln w="12700">
            <a:solidFill>
              <a:srgbClr val="F47B20"/>
            </a:solidFill>
            <a:prstDash val="solid"/>
          </a:ln>
        </p:spPr>
        <p:txBody>
          <a:bodyPr/>
          <a:lstStyle/>
          <a:p>
            <a:endParaRPr lang="fr-FR"/>
          </a:p>
        </p:txBody>
      </p:sp>
      <p:pic>
        <p:nvPicPr>
          <p:cNvPr id="38" name="Image 1" descr="preencoded.png"/>
          <p:cNvPicPr>
            <a:picLocks noChangeAspect="1"/>
          </p:cNvPicPr>
          <p:nvPr/>
        </p:nvPicPr>
        <p:blipFill>
          <a:blip r:embed="rId4"/>
          <a:stretch>
            <a:fillRect/>
          </a:stretch>
        </p:blipFill>
        <p:spPr>
          <a:xfrm>
            <a:off x="4800600" y="2295144"/>
            <a:ext cx="384048" cy="384048"/>
          </a:xfrm>
          <a:prstGeom prst="rect">
            <a:avLst/>
          </a:prstGeom>
        </p:spPr>
      </p:pic>
      <p:sp>
        <p:nvSpPr>
          <p:cNvPr id="39" name="Text 35"/>
          <p:cNvSpPr/>
          <p:nvPr/>
        </p:nvSpPr>
        <p:spPr>
          <a:xfrm>
            <a:off x="5340096" y="2258568"/>
            <a:ext cx="3337560" cy="62179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Épuisement professionnel lié aux tâches répétitives</a:t>
            </a:r>
            <a:endParaRPr lang="en-US" sz="1200" dirty="0"/>
          </a:p>
        </p:txBody>
      </p:sp>
      <p:sp>
        <p:nvSpPr>
          <p:cNvPr id="40" name="Shape 36"/>
          <p:cNvSpPr/>
          <p:nvPr/>
        </p:nvSpPr>
        <p:spPr>
          <a:xfrm>
            <a:off x="4773168" y="2852928"/>
            <a:ext cx="3840480" cy="0"/>
          </a:xfrm>
          <a:prstGeom prst="line">
            <a:avLst/>
          </a:prstGeom>
          <a:noFill/>
          <a:ln w="12700">
            <a:solidFill>
              <a:srgbClr val="EAF0FB"/>
            </a:solidFill>
            <a:prstDash val="solid"/>
          </a:ln>
        </p:spPr>
        <p:txBody>
          <a:bodyPr/>
          <a:lstStyle/>
          <a:p>
            <a:endParaRPr lang="fr-FR"/>
          </a:p>
        </p:txBody>
      </p:sp>
      <p:sp>
        <p:nvSpPr>
          <p:cNvPr id="41" name="Shape 37"/>
          <p:cNvSpPr/>
          <p:nvPr/>
        </p:nvSpPr>
        <p:spPr>
          <a:xfrm>
            <a:off x="4773168" y="3099816"/>
            <a:ext cx="457200" cy="457200"/>
          </a:xfrm>
          <a:prstGeom prst="ellipse">
            <a:avLst/>
          </a:prstGeom>
          <a:solidFill>
            <a:srgbClr val="1A4A8A"/>
          </a:solidFill>
          <a:ln w="12700">
            <a:solidFill>
              <a:srgbClr val="1A4A8A"/>
            </a:solidFill>
            <a:prstDash val="solid"/>
          </a:ln>
        </p:spPr>
        <p:txBody>
          <a:bodyPr/>
          <a:lstStyle/>
          <a:p>
            <a:endParaRPr lang="fr-FR"/>
          </a:p>
        </p:txBody>
      </p:sp>
      <p:pic>
        <p:nvPicPr>
          <p:cNvPr id="42" name="Image 2" descr="preencoded.png"/>
          <p:cNvPicPr>
            <a:picLocks noChangeAspect="1"/>
          </p:cNvPicPr>
          <p:nvPr/>
        </p:nvPicPr>
        <p:blipFill>
          <a:blip r:embed="rId5"/>
          <a:stretch>
            <a:fillRect/>
          </a:stretch>
        </p:blipFill>
        <p:spPr>
          <a:xfrm>
            <a:off x="4800600" y="3136392"/>
            <a:ext cx="384048" cy="384048"/>
          </a:xfrm>
          <a:prstGeom prst="rect">
            <a:avLst/>
          </a:prstGeom>
        </p:spPr>
      </p:pic>
      <p:sp>
        <p:nvSpPr>
          <p:cNvPr id="43" name="Text 38"/>
          <p:cNvSpPr/>
          <p:nvPr/>
        </p:nvSpPr>
        <p:spPr>
          <a:xfrm>
            <a:off x="5340096" y="3099816"/>
            <a:ext cx="3337560" cy="62179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Moins de temps pour le cœur de métier</a:t>
            </a:r>
            <a:endParaRPr lang="en-US" sz="1200" dirty="0"/>
          </a:p>
        </p:txBody>
      </p:sp>
      <p:sp>
        <p:nvSpPr>
          <p:cNvPr id="44" name="Shape 39"/>
          <p:cNvSpPr/>
          <p:nvPr/>
        </p:nvSpPr>
        <p:spPr>
          <a:xfrm>
            <a:off x="4773168" y="3694176"/>
            <a:ext cx="3840480" cy="0"/>
          </a:xfrm>
          <a:prstGeom prst="line">
            <a:avLst/>
          </a:prstGeom>
          <a:noFill/>
          <a:ln w="12700">
            <a:solidFill>
              <a:srgbClr val="EAF0FB"/>
            </a:solidFill>
            <a:prstDash val="solid"/>
          </a:ln>
        </p:spPr>
        <p:txBody>
          <a:bodyPr/>
          <a:lstStyle/>
          <a:p>
            <a:endParaRPr lang="fr-FR"/>
          </a:p>
        </p:txBody>
      </p:sp>
      <p:sp>
        <p:nvSpPr>
          <p:cNvPr id="45" name="Shape 40"/>
          <p:cNvSpPr/>
          <p:nvPr/>
        </p:nvSpPr>
        <p:spPr>
          <a:xfrm>
            <a:off x="4773168" y="3941064"/>
            <a:ext cx="457200" cy="457200"/>
          </a:xfrm>
          <a:prstGeom prst="ellipse">
            <a:avLst/>
          </a:prstGeom>
          <a:solidFill>
            <a:srgbClr val="2E7D32"/>
          </a:solidFill>
          <a:ln w="12700">
            <a:solidFill>
              <a:srgbClr val="2E7D32"/>
            </a:solidFill>
            <a:prstDash val="solid"/>
          </a:ln>
        </p:spPr>
        <p:txBody>
          <a:bodyPr/>
          <a:lstStyle/>
          <a:p>
            <a:endParaRPr lang="fr-FR"/>
          </a:p>
        </p:txBody>
      </p:sp>
      <p:pic>
        <p:nvPicPr>
          <p:cNvPr id="46" name="Image 3" descr="preencoded.png"/>
          <p:cNvPicPr>
            <a:picLocks noChangeAspect="1"/>
          </p:cNvPicPr>
          <p:nvPr/>
        </p:nvPicPr>
        <p:blipFill>
          <a:blip r:embed="rId6"/>
          <a:stretch>
            <a:fillRect/>
          </a:stretch>
        </p:blipFill>
        <p:spPr>
          <a:xfrm>
            <a:off x="4800600" y="3977640"/>
            <a:ext cx="384048" cy="384048"/>
          </a:xfrm>
          <a:prstGeom prst="rect">
            <a:avLst/>
          </a:prstGeom>
        </p:spPr>
      </p:pic>
      <p:sp>
        <p:nvSpPr>
          <p:cNvPr id="47" name="Text 41"/>
          <p:cNvSpPr/>
          <p:nvPr/>
        </p:nvSpPr>
        <p:spPr>
          <a:xfrm>
            <a:off x="5340096" y="3941064"/>
            <a:ext cx="3337560" cy="621792"/>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L'IA peut récupérer jusqu'à 50% de ce temps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Comment l'IA automatise les tâches administratives</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77240"/>
            <a:ext cx="1572768" cy="3246120"/>
          </a:xfrm>
          <a:prstGeom prst="rect">
            <a:avLst/>
          </a:prstGeom>
          <a:solidFill>
            <a:srgbClr val="FFFFFF"/>
          </a:solidFill>
          <a:ln w="12700">
            <a:solidFill>
              <a:srgbClr val="D5E3F7"/>
            </a:solidFill>
            <a:prstDash val="solid"/>
          </a:ln>
          <a:effectLst>
            <a:outerShdw blurRad="76200" dist="25400" dir="8100000" algn="bl" rotWithShape="0">
              <a:srgbClr val="000000">
                <a:alpha val="10000"/>
              </a:srgbClr>
            </a:outerShdw>
          </a:effectLst>
        </p:spPr>
        <p:txBody>
          <a:bodyPr/>
          <a:lstStyle/>
          <a:p>
            <a:endParaRPr lang="fr-FR"/>
          </a:p>
        </p:txBody>
      </p:sp>
      <p:sp>
        <p:nvSpPr>
          <p:cNvPr id="9" name="Shape 7"/>
          <p:cNvSpPr/>
          <p:nvPr/>
        </p:nvSpPr>
        <p:spPr>
          <a:xfrm>
            <a:off x="274320" y="777240"/>
            <a:ext cx="1572768" cy="594360"/>
          </a:xfrm>
          <a:prstGeom prst="rect">
            <a:avLst/>
          </a:prstGeom>
          <a:solidFill>
            <a:srgbClr val="1A4A8A"/>
          </a:solidFill>
          <a:ln w="12700">
            <a:solidFill>
              <a:srgbClr val="1A4A8A"/>
            </a:solidFill>
            <a:prstDash val="solid"/>
          </a:ln>
        </p:spPr>
        <p:txBody>
          <a:bodyPr/>
          <a:lstStyle/>
          <a:p>
            <a:endParaRPr lang="fr-FR"/>
          </a:p>
        </p:txBody>
      </p:sp>
      <p:sp>
        <p:nvSpPr>
          <p:cNvPr id="10" name="Text 8"/>
          <p:cNvSpPr/>
          <p:nvPr/>
        </p:nvSpPr>
        <p:spPr>
          <a:xfrm>
            <a:off x="274320" y="777240"/>
            <a:ext cx="1572768"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pic>
        <p:nvPicPr>
          <p:cNvPr id="11" name="Image 0" descr="preencoded.png"/>
          <p:cNvPicPr>
            <a:picLocks noChangeAspect="1"/>
          </p:cNvPicPr>
          <p:nvPr/>
        </p:nvPicPr>
        <p:blipFill>
          <a:blip r:embed="rId3"/>
          <a:stretch>
            <a:fillRect/>
          </a:stretch>
        </p:blipFill>
        <p:spPr>
          <a:xfrm>
            <a:off x="786384" y="1508760"/>
            <a:ext cx="548640" cy="548640"/>
          </a:xfrm>
          <a:prstGeom prst="rect">
            <a:avLst/>
          </a:prstGeom>
        </p:spPr>
      </p:pic>
      <p:sp>
        <p:nvSpPr>
          <p:cNvPr id="12" name="Text 9"/>
          <p:cNvSpPr/>
          <p:nvPr/>
        </p:nvSpPr>
        <p:spPr>
          <a:xfrm>
            <a:off x="329184" y="2148840"/>
            <a:ext cx="1463040" cy="685800"/>
          </a:xfrm>
          <a:prstGeom prst="rect">
            <a:avLst/>
          </a:prstGeom>
          <a:noFill/>
          <a:ln/>
        </p:spPr>
        <p:txBody>
          <a:bodyPr wrap="square" rtlCol="0" anchor="ctr"/>
          <a:lstStyle/>
          <a:p>
            <a:pPr marL="0" indent="0" algn="ctr">
              <a:buNone/>
            </a:pPr>
            <a:r>
              <a:rPr lang="en-US" sz="1200" b="1" dirty="0">
                <a:solidFill>
                  <a:srgbClr val="1A4A8A"/>
                </a:solidFill>
                <a:latin typeface="Calibri" pitchFamily="34" charset="0"/>
                <a:ea typeface="Calibri" pitchFamily="34" charset="-122"/>
                <a:cs typeface="Calibri" pitchFamily="34" charset="-120"/>
              </a:rPr>
              <a:t>Vous donnez</a:t>
            </a:r>
            <a:endParaRPr lang="en-US" sz="1200" dirty="0"/>
          </a:p>
          <a:p>
            <a:pPr marL="0" indent="0" algn="ctr">
              <a:buNone/>
            </a:pPr>
            <a:r>
              <a:rPr lang="en-US" sz="1200" b="1" dirty="0">
                <a:solidFill>
                  <a:srgbClr val="1A4A8A"/>
                </a:solidFill>
                <a:latin typeface="Calibri" pitchFamily="34" charset="0"/>
                <a:ea typeface="Calibri" pitchFamily="34" charset="-122"/>
                <a:cs typeface="Calibri" pitchFamily="34" charset="-120"/>
              </a:rPr>
              <a:t>une instruction</a:t>
            </a:r>
            <a:endParaRPr lang="en-US" sz="1200" dirty="0"/>
          </a:p>
        </p:txBody>
      </p:sp>
      <p:sp>
        <p:nvSpPr>
          <p:cNvPr id="13" name="Text 10"/>
          <p:cNvSpPr/>
          <p:nvPr/>
        </p:nvSpPr>
        <p:spPr>
          <a:xfrm>
            <a:off x="329184" y="2880360"/>
            <a:ext cx="1463040" cy="822960"/>
          </a:xfrm>
          <a:prstGeom prst="rect">
            <a:avLst/>
          </a:prstGeom>
          <a:noFill/>
          <a:ln/>
        </p:spPr>
        <p:txBody>
          <a:bodyPr wrap="square" rtlCol="0" anchor="t"/>
          <a:lstStyle/>
          <a:p>
            <a:pPr marL="0" indent="0" algn="ctr">
              <a:buNone/>
            </a:pPr>
            <a:r>
              <a:rPr lang="en-US" sz="1000" i="1" dirty="0">
                <a:solidFill>
                  <a:srgbClr val="5A6478"/>
                </a:solidFill>
                <a:latin typeface="Calibri" pitchFamily="34" charset="0"/>
                <a:ea typeface="Calibri" pitchFamily="34" charset="-122"/>
                <a:cs typeface="Calibri" pitchFamily="34" charset="-120"/>
              </a:rPr>
              <a:t>"Rédige un email de relance pour..."</a:t>
            </a:r>
            <a:endParaRPr lang="en-US" sz="1000" dirty="0"/>
          </a:p>
        </p:txBody>
      </p:sp>
      <p:sp>
        <p:nvSpPr>
          <p:cNvPr id="14" name="Shape 11"/>
          <p:cNvSpPr/>
          <p:nvPr/>
        </p:nvSpPr>
        <p:spPr>
          <a:xfrm>
            <a:off x="1874520" y="1920240"/>
            <a:ext cx="91440" cy="0"/>
          </a:xfrm>
          <a:prstGeom prst="line">
            <a:avLst/>
          </a:prstGeom>
          <a:noFill/>
          <a:ln w="25400">
            <a:solidFill>
              <a:srgbClr val="F47B20"/>
            </a:solidFill>
            <a:prstDash val="solid"/>
          </a:ln>
        </p:spPr>
        <p:txBody>
          <a:bodyPr/>
          <a:lstStyle/>
          <a:p>
            <a:endParaRPr lang="fr-FR"/>
          </a:p>
        </p:txBody>
      </p:sp>
      <p:sp>
        <p:nvSpPr>
          <p:cNvPr id="15" name="Text 12"/>
          <p:cNvSpPr/>
          <p:nvPr/>
        </p:nvSpPr>
        <p:spPr>
          <a:xfrm>
            <a:off x="1865376" y="1737360"/>
            <a:ext cx="201168" cy="365760"/>
          </a:xfrm>
          <a:prstGeom prst="rect">
            <a:avLst/>
          </a:prstGeom>
          <a:noFill/>
          <a:ln/>
        </p:spPr>
        <p:txBody>
          <a:bodyPr wrap="square" rtlCol="0" anchor="ctr"/>
          <a:lstStyle/>
          <a:p>
            <a:pPr marL="0" indent="0" algn="ctr">
              <a:buNone/>
            </a:pPr>
            <a:r>
              <a:rPr lang="en-US" sz="1600" b="1" dirty="0">
                <a:solidFill>
                  <a:srgbClr val="F47B20"/>
                </a:solidFill>
                <a:latin typeface="Calibri" pitchFamily="34" charset="0"/>
                <a:ea typeface="Calibri" pitchFamily="34" charset="-122"/>
                <a:cs typeface="Calibri" pitchFamily="34" charset="-120"/>
              </a:rPr>
              <a:t>→</a:t>
            </a:r>
            <a:endParaRPr lang="en-US" sz="1600" dirty="0"/>
          </a:p>
        </p:txBody>
      </p:sp>
      <p:sp>
        <p:nvSpPr>
          <p:cNvPr id="16" name="Shape 13"/>
          <p:cNvSpPr/>
          <p:nvPr/>
        </p:nvSpPr>
        <p:spPr>
          <a:xfrm>
            <a:off x="1993392" y="777240"/>
            <a:ext cx="1572768" cy="3246120"/>
          </a:xfrm>
          <a:prstGeom prst="rect">
            <a:avLst/>
          </a:prstGeom>
          <a:solidFill>
            <a:srgbClr val="FFFFFF"/>
          </a:solidFill>
          <a:ln w="12700">
            <a:solidFill>
              <a:srgbClr val="D5E3F7"/>
            </a:solidFill>
            <a:prstDash val="solid"/>
          </a:ln>
          <a:effectLst>
            <a:outerShdw blurRad="76200" dist="25400" dir="8100000" algn="bl" rotWithShape="0">
              <a:srgbClr val="000000">
                <a:alpha val="10000"/>
              </a:srgbClr>
            </a:outerShdw>
          </a:effectLst>
        </p:spPr>
        <p:txBody>
          <a:bodyPr/>
          <a:lstStyle/>
          <a:p>
            <a:endParaRPr lang="fr-FR"/>
          </a:p>
        </p:txBody>
      </p:sp>
      <p:sp>
        <p:nvSpPr>
          <p:cNvPr id="17" name="Shape 14"/>
          <p:cNvSpPr/>
          <p:nvPr/>
        </p:nvSpPr>
        <p:spPr>
          <a:xfrm>
            <a:off x="1993392" y="777240"/>
            <a:ext cx="1572768" cy="594360"/>
          </a:xfrm>
          <a:prstGeom prst="rect">
            <a:avLst/>
          </a:prstGeom>
          <a:solidFill>
            <a:srgbClr val="F47B20"/>
          </a:solidFill>
          <a:ln w="12700">
            <a:solidFill>
              <a:srgbClr val="F47B20"/>
            </a:solidFill>
            <a:prstDash val="solid"/>
          </a:ln>
        </p:spPr>
        <p:txBody>
          <a:bodyPr/>
          <a:lstStyle/>
          <a:p>
            <a:endParaRPr lang="fr-FR"/>
          </a:p>
        </p:txBody>
      </p:sp>
      <p:sp>
        <p:nvSpPr>
          <p:cNvPr id="18" name="Text 15"/>
          <p:cNvSpPr/>
          <p:nvPr/>
        </p:nvSpPr>
        <p:spPr>
          <a:xfrm>
            <a:off x="1993392" y="777240"/>
            <a:ext cx="1572768"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pic>
        <p:nvPicPr>
          <p:cNvPr id="19" name="Image 1" descr="preencoded.png"/>
          <p:cNvPicPr>
            <a:picLocks noChangeAspect="1"/>
          </p:cNvPicPr>
          <p:nvPr/>
        </p:nvPicPr>
        <p:blipFill>
          <a:blip r:embed="rId4"/>
          <a:stretch>
            <a:fillRect/>
          </a:stretch>
        </p:blipFill>
        <p:spPr>
          <a:xfrm>
            <a:off x="2505456" y="1508760"/>
            <a:ext cx="548640" cy="548640"/>
          </a:xfrm>
          <a:prstGeom prst="rect">
            <a:avLst/>
          </a:prstGeom>
        </p:spPr>
      </p:pic>
      <p:sp>
        <p:nvSpPr>
          <p:cNvPr id="20" name="Text 16"/>
          <p:cNvSpPr/>
          <p:nvPr/>
        </p:nvSpPr>
        <p:spPr>
          <a:xfrm>
            <a:off x="2048256" y="2148840"/>
            <a:ext cx="1463040" cy="685800"/>
          </a:xfrm>
          <a:prstGeom prst="rect">
            <a:avLst/>
          </a:prstGeom>
          <a:noFill/>
          <a:ln/>
        </p:spPr>
        <p:txBody>
          <a:bodyPr wrap="square" rtlCol="0" anchor="ctr"/>
          <a:lstStyle/>
          <a:p>
            <a:pPr marL="0" indent="0" algn="ctr">
              <a:buNone/>
            </a:pPr>
            <a:r>
              <a:rPr lang="en-US" sz="1200" b="1" dirty="0">
                <a:solidFill>
                  <a:srgbClr val="1A4A8A"/>
                </a:solidFill>
                <a:latin typeface="Calibri" pitchFamily="34" charset="0"/>
                <a:ea typeface="Calibri" pitchFamily="34" charset="-122"/>
                <a:cs typeface="Calibri" pitchFamily="34" charset="-120"/>
              </a:rPr>
              <a:t>L'IA comprend</a:t>
            </a:r>
            <a:endParaRPr lang="en-US" sz="1200" dirty="0"/>
          </a:p>
          <a:p>
            <a:pPr marL="0" indent="0" algn="ctr">
              <a:buNone/>
            </a:pPr>
            <a:r>
              <a:rPr lang="en-US" sz="1200" b="1" dirty="0">
                <a:solidFill>
                  <a:srgbClr val="1A4A8A"/>
                </a:solidFill>
                <a:latin typeface="Calibri" pitchFamily="34" charset="0"/>
                <a:ea typeface="Calibri" pitchFamily="34" charset="-122"/>
                <a:cs typeface="Calibri" pitchFamily="34" charset="-120"/>
              </a:rPr>
              <a:t>le contexte</a:t>
            </a:r>
            <a:endParaRPr lang="en-US" sz="1200" dirty="0"/>
          </a:p>
        </p:txBody>
      </p:sp>
      <p:sp>
        <p:nvSpPr>
          <p:cNvPr id="21" name="Text 17"/>
          <p:cNvSpPr/>
          <p:nvPr/>
        </p:nvSpPr>
        <p:spPr>
          <a:xfrm>
            <a:off x="2048256" y="2880360"/>
            <a:ext cx="1463040" cy="822960"/>
          </a:xfrm>
          <a:prstGeom prst="rect">
            <a:avLst/>
          </a:prstGeom>
          <a:noFill/>
          <a:ln/>
        </p:spPr>
        <p:txBody>
          <a:bodyPr wrap="square" rtlCol="0" anchor="t"/>
          <a:lstStyle/>
          <a:p>
            <a:pPr marL="0" indent="0" algn="ctr">
              <a:buNone/>
            </a:pPr>
            <a:r>
              <a:rPr lang="en-US" sz="1000" i="1" dirty="0">
                <a:solidFill>
                  <a:srgbClr val="5A6478"/>
                </a:solidFill>
                <a:latin typeface="Calibri" pitchFamily="34" charset="0"/>
                <a:ea typeface="Calibri" pitchFamily="34" charset="-122"/>
                <a:cs typeface="Calibri" pitchFamily="34" charset="-120"/>
              </a:rPr>
              <a:t>Analyse la demande et les données</a:t>
            </a:r>
            <a:endParaRPr lang="en-US" sz="1000" dirty="0"/>
          </a:p>
        </p:txBody>
      </p:sp>
      <p:sp>
        <p:nvSpPr>
          <p:cNvPr id="22" name="Shape 18"/>
          <p:cNvSpPr/>
          <p:nvPr/>
        </p:nvSpPr>
        <p:spPr>
          <a:xfrm>
            <a:off x="3593592" y="1920240"/>
            <a:ext cx="91440" cy="0"/>
          </a:xfrm>
          <a:prstGeom prst="line">
            <a:avLst/>
          </a:prstGeom>
          <a:noFill/>
          <a:ln w="25400">
            <a:solidFill>
              <a:srgbClr val="F47B20"/>
            </a:solidFill>
            <a:prstDash val="solid"/>
          </a:ln>
        </p:spPr>
        <p:txBody>
          <a:bodyPr/>
          <a:lstStyle/>
          <a:p>
            <a:endParaRPr lang="fr-FR"/>
          </a:p>
        </p:txBody>
      </p:sp>
      <p:sp>
        <p:nvSpPr>
          <p:cNvPr id="23" name="Text 19"/>
          <p:cNvSpPr/>
          <p:nvPr/>
        </p:nvSpPr>
        <p:spPr>
          <a:xfrm>
            <a:off x="3584448" y="1737360"/>
            <a:ext cx="201168" cy="365760"/>
          </a:xfrm>
          <a:prstGeom prst="rect">
            <a:avLst/>
          </a:prstGeom>
          <a:noFill/>
          <a:ln/>
        </p:spPr>
        <p:txBody>
          <a:bodyPr wrap="square" rtlCol="0" anchor="ctr"/>
          <a:lstStyle/>
          <a:p>
            <a:pPr marL="0" indent="0" algn="ctr">
              <a:buNone/>
            </a:pPr>
            <a:r>
              <a:rPr lang="en-US" sz="1600" b="1" dirty="0">
                <a:solidFill>
                  <a:srgbClr val="F47B20"/>
                </a:solidFill>
                <a:latin typeface="Calibri" pitchFamily="34" charset="0"/>
                <a:ea typeface="Calibri" pitchFamily="34" charset="-122"/>
                <a:cs typeface="Calibri" pitchFamily="34" charset="-120"/>
              </a:rPr>
              <a:t>→</a:t>
            </a:r>
            <a:endParaRPr lang="en-US" sz="1600" dirty="0"/>
          </a:p>
        </p:txBody>
      </p:sp>
      <p:sp>
        <p:nvSpPr>
          <p:cNvPr id="24" name="Shape 20"/>
          <p:cNvSpPr/>
          <p:nvPr/>
        </p:nvSpPr>
        <p:spPr>
          <a:xfrm>
            <a:off x="3712464" y="777240"/>
            <a:ext cx="1572768" cy="3246120"/>
          </a:xfrm>
          <a:prstGeom prst="rect">
            <a:avLst/>
          </a:prstGeom>
          <a:solidFill>
            <a:srgbClr val="FFFFFF"/>
          </a:solidFill>
          <a:ln w="12700">
            <a:solidFill>
              <a:srgbClr val="D5E3F7"/>
            </a:solidFill>
            <a:prstDash val="solid"/>
          </a:ln>
          <a:effectLst>
            <a:outerShdw blurRad="76200" dist="25400" dir="8100000" algn="bl" rotWithShape="0">
              <a:srgbClr val="000000">
                <a:alpha val="10000"/>
              </a:srgbClr>
            </a:outerShdw>
          </a:effectLst>
        </p:spPr>
        <p:txBody>
          <a:bodyPr/>
          <a:lstStyle/>
          <a:p>
            <a:endParaRPr lang="fr-FR"/>
          </a:p>
        </p:txBody>
      </p:sp>
      <p:sp>
        <p:nvSpPr>
          <p:cNvPr id="25" name="Shape 21"/>
          <p:cNvSpPr/>
          <p:nvPr/>
        </p:nvSpPr>
        <p:spPr>
          <a:xfrm>
            <a:off x="3712464" y="777240"/>
            <a:ext cx="1572768" cy="594360"/>
          </a:xfrm>
          <a:prstGeom prst="rect">
            <a:avLst/>
          </a:prstGeom>
          <a:solidFill>
            <a:srgbClr val="2E7D32"/>
          </a:solidFill>
          <a:ln w="12700">
            <a:solidFill>
              <a:srgbClr val="2E7D32"/>
            </a:solidFill>
            <a:prstDash val="solid"/>
          </a:ln>
        </p:spPr>
        <p:txBody>
          <a:bodyPr/>
          <a:lstStyle/>
          <a:p>
            <a:endParaRPr lang="fr-FR"/>
          </a:p>
        </p:txBody>
      </p:sp>
      <p:sp>
        <p:nvSpPr>
          <p:cNvPr id="26" name="Text 22"/>
          <p:cNvSpPr/>
          <p:nvPr/>
        </p:nvSpPr>
        <p:spPr>
          <a:xfrm>
            <a:off x="3712464" y="777240"/>
            <a:ext cx="1572768"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pic>
        <p:nvPicPr>
          <p:cNvPr id="27" name="Image 2" descr="preencoded.png"/>
          <p:cNvPicPr>
            <a:picLocks noChangeAspect="1"/>
          </p:cNvPicPr>
          <p:nvPr/>
        </p:nvPicPr>
        <p:blipFill>
          <a:blip r:embed="rId5"/>
          <a:stretch>
            <a:fillRect/>
          </a:stretch>
        </p:blipFill>
        <p:spPr>
          <a:xfrm>
            <a:off x="4224528" y="1508760"/>
            <a:ext cx="548640" cy="548640"/>
          </a:xfrm>
          <a:prstGeom prst="rect">
            <a:avLst/>
          </a:prstGeom>
        </p:spPr>
      </p:pic>
      <p:sp>
        <p:nvSpPr>
          <p:cNvPr id="28" name="Text 23"/>
          <p:cNvSpPr/>
          <p:nvPr/>
        </p:nvSpPr>
        <p:spPr>
          <a:xfrm>
            <a:off x="3767328" y="2148840"/>
            <a:ext cx="1463040" cy="685800"/>
          </a:xfrm>
          <a:prstGeom prst="rect">
            <a:avLst/>
          </a:prstGeom>
          <a:noFill/>
          <a:ln/>
        </p:spPr>
        <p:txBody>
          <a:bodyPr wrap="square" rtlCol="0" anchor="ctr"/>
          <a:lstStyle/>
          <a:p>
            <a:pPr marL="0" indent="0" algn="ctr">
              <a:buNone/>
            </a:pPr>
            <a:r>
              <a:rPr lang="en-US" sz="1200" b="1" dirty="0">
                <a:solidFill>
                  <a:srgbClr val="1A4A8A"/>
                </a:solidFill>
                <a:latin typeface="Calibri" pitchFamily="34" charset="0"/>
                <a:ea typeface="Calibri" pitchFamily="34" charset="-122"/>
                <a:cs typeface="Calibri" pitchFamily="34" charset="-120"/>
              </a:rPr>
              <a:t>L'IA génère</a:t>
            </a:r>
            <a:endParaRPr lang="en-US" sz="1200" dirty="0"/>
          </a:p>
          <a:p>
            <a:pPr marL="0" indent="0" algn="ctr">
              <a:buNone/>
            </a:pPr>
            <a:r>
              <a:rPr lang="en-US" sz="1200" b="1" dirty="0">
                <a:solidFill>
                  <a:srgbClr val="1A4A8A"/>
                </a:solidFill>
                <a:latin typeface="Calibri" pitchFamily="34" charset="0"/>
                <a:ea typeface="Calibri" pitchFamily="34" charset="-122"/>
                <a:cs typeface="Calibri" pitchFamily="34" charset="-120"/>
              </a:rPr>
              <a:t>le contenu</a:t>
            </a:r>
            <a:endParaRPr lang="en-US" sz="1200" dirty="0"/>
          </a:p>
        </p:txBody>
      </p:sp>
      <p:sp>
        <p:nvSpPr>
          <p:cNvPr id="29" name="Text 24"/>
          <p:cNvSpPr/>
          <p:nvPr/>
        </p:nvSpPr>
        <p:spPr>
          <a:xfrm>
            <a:off x="3767328" y="2880360"/>
            <a:ext cx="1463040" cy="822960"/>
          </a:xfrm>
          <a:prstGeom prst="rect">
            <a:avLst/>
          </a:prstGeom>
          <a:noFill/>
          <a:ln/>
        </p:spPr>
        <p:txBody>
          <a:bodyPr wrap="square" rtlCol="0" anchor="t"/>
          <a:lstStyle/>
          <a:p>
            <a:pPr marL="0" indent="0" algn="ctr">
              <a:buNone/>
            </a:pPr>
            <a:r>
              <a:rPr lang="en-US" sz="1000" i="1" dirty="0">
                <a:solidFill>
                  <a:srgbClr val="5A6478"/>
                </a:solidFill>
                <a:latin typeface="Calibri" pitchFamily="34" charset="0"/>
                <a:ea typeface="Calibri" pitchFamily="34" charset="-122"/>
                <a:cs typeface="Calibri" pitchFamily="34" charset="-120"/>
              </a:rPr>
              <a:t>En quelques secondes</a:t>
            </a:r>
            <a:endParaRPr lang="en-US" sz="1000" dirty="0"/>
          </a:p>
        </p:txBody>
      </p:sp>
      <p:sp>
        <p:nvSpPr>
          <p:cNvPr id="30" name="Shape 25"/>
          <p:cNvSpPr/>
          <p:nvPr/>
        </p:nvSpPr>
        <p:spPr>
          <a:xfrm>
            <a:off x="5312664" y="1920240"/>
            <a:ext cx="91440" cy="0"/>
          </a:xfrm>
          <a:prstGeom prst="line">
            <a:avLst/>
          </a:prstGeom>
          <a:noFill/>
          <a:ln w="25400">
            <a:solidFill>
              <a:srgbClr val="F47B20"/>
            </a:solidFill>
            <a:prstDash val="solid"/>
          </a:ln>
        </p:spPr>
        <p:txBody>
          <a:bodyPr/>
          <a:lstStyle/>
          <a:p>
            <a:endParaRPr lang="fr-FR"/>
          </a:p>
        </p:txBody>
      </p:sp>
      <p:sp>
        <p:nvSpPr>
          <p:cNvPr id="31" name="Text 26"/>
          <p:cNvSpPr/>
          <p:nvPr/>
        </p:nvSpPr>
        <p:spPr>
          <a:xfrm>
            <a:off x="5303520" y="1737360"/>
            <a:ext cx="201168" cy="365760"/>
          </a:xfrm>
          <a:prstGeom prst="rect">
            <a:avLst/>
          </a:prstGeom>
          <a:noFill/>
          <a:ln/>
        </p:spPr>
        <p:txBody>
          <a:bodyPr wrap="square" rtlCol="0" anchor="ctr"/>
          <a:lstStyle/>
          <a:p>
            <a:pPr marL="0" indent="0" algn="ctr">
              <a:buNone/>
            </a:pPr>
            <a:r>
              <a:rPr lang="en-US" sz="1600" b="1" dirty="0">
                <a:solidFill>
                  <a:srgbClr val="F47B20"/>
                </a:solidFill>
                <a:latin typeface="Calibri" pitchFamily="34" charset="0"/>
                <a:ea typeface="Calibri" pitchFamily="34" charset="-122"/>
                <a:cs typeface="Calibri" pitchFamily="34" charset="-120"/>
              </a:rPr>
              <a:t>→</a:t>
            </a:r>
            <a:endParaRPr lang="en-US" sz="1600" dirty="0"/>
          </a:p>
        </p:txBody>
      </p:sp>
      <p:sp>
        <p:nvSpPr>
          <p:cNvPr id="32" name="Shape 27"/>
          <p:cNvSpPr/>
          <p:nvPr/>
        </p:nvSpPr>
        <p:spPr>
          <a:xfrm>
            <a:off x="5431536" y="777240"/>
            <a:ext cx="1572768" cy="3246120"/>
          </a:xfrm>
          <a:prstGeom prst="rect">
            <a:avLst/>
          </a:prstGeom>
          <a:solidFill>
            <a:srgbClr val="FFFFFF"/>
          </a:solidFill>
          <a:ln w="12700">
            <a:solidFill>
              <a:srgbClr val="D5E3F7"/>
            </a:solidFill>
            <a:prstDash val="solid"/>
          </a:ln>
          <a:effectLst>
            <a:outerShdw blurRad="76200" dist="25400" dir="8100000" algn="bl" rotWithShape="0">
              <a:srgbClr val="000000">
                <a:alpha val="10000"/>
              </a:srgbClr>
            </a:outerShdw>
          </a:effectLst>
        </p:spPr>
        <p:txBody>
          <a:bodyPr/>
          <a:lstStyle/>
          <a:p>
            <a:endParaRPr lang="fr-FR"/>
          </a:p>
        </p:txBody>
      </p:sp>
      <p:sp>
        <p:nvSpPr>
          <p:cNvPr id="33" name="Shape 28"/>
          <p:cNvSpPr/>
          <p:nvPr/>
        </p:nvSpPr>
        <p:spPr>
          <a:xfrm>
            <a:off x="5431536" y="777240"/>
            <a:ext cx="1572768" cy="594360"/>
          </a:xfrm>
          <a:prstGeom prst="rect">
            <a:avLst/>
          </a:prstGeom>
          <a:solidFill>
            <a:srgbClr val="7B3FA0"/>
          </a:solidFill>
          <a:ln w="12700">
            <a:solidFill>
              <a:srgbClr val="7B3FA0"/>
            </a:solidFill>
            <a:prstDash val="solid"/>
          </a:ln>
        </p:spPr>
        <p:txBody>
          <a:bodyPr/>
          <a:lstStyle/>
          <a:p>
            <a:endParaRPr lang="fr-FR"/>
          </a:p>
        </p:txBody>
      </p:sp>
      <p:sp>
        <p:nvSpPr>
          <p:cNvPr id="34" name="Text 29"/>
          <p:cNvSpPr/>
          <p:nvPr/>
        </p:nvSpPr>
        <p:spPr>
          <a:xfrm>
            <a:off x="5431536" y="777240"/>
            <a:ext cx="1572768"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pic>
        <p:nvPicPr>
          <p:cNvPr id="35" name="Image 3" descr="preencoded.png"/>
          <p:cNvPicPr>
            <a:picLocks noChangeAspect="1"/>
          </p:cNvPicPr>
          <p:nvPr/>
        </p:nvPicPr>
        <p:blipFill>
          <a:blip r:embed="rId6"/>
          <a:stretch>
            <a:fillRect/>
          </a:stretch>
        </p:blipFill>
        <p:spPr>
          <a:xfrm>
            <a:off x="5943600" y="1508760"/>
            <a:ext cx="548640" cy="548640"/>
          </a:xfrm>
          <a:prstGeom prst="rect">
            <a:avLst/>
          </a:prstGeom>
        </p:spPr>
      </p:pic>
      <p:sp>
        <p:nvSpPr>
          <p:cNvPr id="36" name="Text 30"/>
          <p:cNvSpPr/>
          <p:nvPr/>
        </p:nvSpPr>
        <p:spPr>
          <a:xfrm>
            <a:off x="5486400" y="2148840"/>
            <a:ext cx="1463040" cy="685800"/>
          </a:xfrm>
          <a:prstGeom prst="rect">
            <a:avLst/>
          </a:prstGeom>
          <a:noFill/>
          <a:ln/>
        </p:spPr>
        <p:txBody>
          <a:bodyPr wrap="square" rtlCol="0" anchor="ctr"/>
          <a:lstStyle/>
          <a:p>
            <a:pPr marL="0" indent="0" algn="ctr">
              <a:buNone/>
            </a:pPr>
            <a:r>
              <a:rPr lang="en-US" sz="1200" b="1" dirty="0">
                <a:solidFill>
                  <a:srgbClr val="1A4A8A"/>
                </a:solidFill>
                <a:latin typeface="Calibri" pitchFamily="34" charset="0"/>
                <a:ea typeface="Calibri" pitchFamily="34" charset="-122"/>
                <a:cs typeface="Calibri" pitchFamily="34" charset="-120"/>
              </a:rPr>
              <a:t>Vous relisez</a:t>
            </a:r>
            <a:endParaRPr lang="en-US" sz="1200" dirty="0"/>
          </a:p>
          <a:p>
            <a:pPr marL="0" indent="0" algn="ctr">
              <a:buNone/>
            </a:pPr>
            <a:r>
              <a:rPr lang="en-US" sz="1200" b="1" dirty="0">
                <a:solidFill>
                  <a:srgbClr val="1A4A8A"/>
                </a:solidFill>
                <a:latin typeface="Calibri" pitchFamily="34" charset="0"/>
                <a:ea typeface="Calibri" pitchFamily="34" charset="-122"/>
                <a:cs typeface="Calibri" pitchFamily="34" charset="-120"/>
              </a:rPr>
              <a:t>et validez</a:t>
            </a:r>
            <a:endParaRPr lang="en-US" sz="1200" dirty="0"/>
          </a:p>
        </p:txBody>
      </p:sp>
      <p:sp>
        <p:nvSpPr>
          <p:cNvPr id="37" name="Text 31"/>
          <p:cNvSpPr/>
          <p:nvPr/>
        </p:nvSpPr>
        <p:spPr>
          <a:xfrm>
            <a:off x="5486400" y="2880360"/>
            <a:ext cx="1463040" cy="822960"/>
          </a:xfrm>
          <a:prstGeom prst="rect">
            <a:avLst/>
          </a:prstGeom>
          <a:noFill/>
          <a:ln/>
        </p:spPr>
        <p:txBody>
          <a:bodyPr wrap="square" rtlCol="0" anchor="t"/>
          <a:lstStyle/>
          <a:p>
            <a:pPr marL="0" indent="0" algn="ctr">
              <a:buNone/>
            </a:pPr>
            <a:r>
              <a:rPr lang="en-US" sz="1000" i="1" dirty="0">
                <a:solidFill>
                  <a:srgbClr val="5A6478"/>
                </a:solidFill>
                <a:latin typeface="Calibri" pitchFamily="34" charset="0"/>
                <a:ea typeface="Calibri" pitchFamily="34" charset="-122"/>
                <a:cs typeface="Calibri" pitchFamily="34" charset="-120"/>
              </a:rPr>
              <a:t>Ajustement si nécessaire</a:t>
            </a:r>
            <a:endParaRPr lang="en-US" sz="1000" dirty="0"/>
          </a:p>
        </p:txBody>
      </p:sp>
      <p:sp>
        <p:nvSpPr>
          <p:cNvPr id="38" name="Shape 32"/>
          <p:cNvSpPr/>
          <p:nvPr/>
        </p:nvSpPr>
        <p:spPr>
          <a:xfrm>
            <a:off x="7031736" y="1920240"/>
            <a:ext cx="91440" cy="0"/>
          </a:xfrm>
          <a:prstGeom prst="line">
            <a:avLst/>
          </a:prstGeom>
          <a:noFill/>
          <a:ln w="25400">
            <a:solidFill>
              <a:srgbClr val="F47B20"/>
            </a:solidFill>
            <a:prstDash val="solid"/>
          </a:ln>
        </p:spPr>
        <p:txBody>
          <a:bodyPr/>
          <a:lstStyle/>
          <a:p>
            <a:endParaRPr lang="fr-FR"/>
          </a:p>
        </p:txBody>
      </p:sp>
      <p:sp>
        <p:nvSpPr>
          <p:cNvPr id="39" name="Text 33"/>
          <p:cNvSpPr/>
          <p:nvPr/>
        </p:nvSpPr>
        <p:spPr>
          <a:xfrm>
            <a:off x="7022592" y="1737360"/>
            <a:ext cx="201168" cy="365760"/>
          </a:xfrm>
          <a:prstGeom prst="rect">
            <a:avLst/>
          </a:prstGeom>
          <a:noFill/>
          <a:ln/>
        </p:spPr>
        <p:txBody>
          <a:bodyPr wrap="square" rtlCol="0" anchor="ctr"/>
          <a:lstStyle/>
          <a:p>
            <a:pPr marL="0" indent="0" algn="ctr">
              <a:buNone/>
            </a:pPr>
            <a:r>
              <a:rPr lang="en-US" sz="1600" b="1" dirty="0">
                <a:solidFill>
                  <a:srgbClr val="F47B20"/>
                </a:solidFill>
                <a:latin typeface="Calibri" pitchFamily="34" charset="0"/>
                <a:ea typeface="Calibri" pitchFamily="34" charset="-122"/>
                <a:cs typeface="Calibri" pitchFamily="34" charset="-120"/>
              </a:rPr>
              <a:t>→</a:t>
            </a:r>
            <a:endParaRPr lang="en-US" sz="1600" dirty="0"/>
          </a:p>
        </p:txBody>
      </p:sp>
      <p:sp>
        <p:nvSpPr>
          <p:cNvPr id="40" name="Shape 34"/>
          <p:cNvSpPr/>
          <p:nvPr/>
        </p:nvSpPr>
        <p:spPr>
          <a:xfrm>
            <a:off x="7150608" y="777240"/>
            <a:ext cx="1572768" cy="3246120"/>
          </a:xfrm>
          <a:prstGeom prst="rect">
            <a:avLst/>
          </a:prstGeom>
          <a:solidFill>
            <a:srgbClr val="FFFFFF"/>
          </a:solidFill>
          <a:ln w="12700">
            <a:solidFill>
              <a:srgbClr val="D5E3F7"/>
            </a:solidFill>
            <a:prstDash val="solid"/>
          </a:ln>
          <a:effectLst>
            <a:outerShdw blurRad="76200" dist="25400" dir="8100000" algn="bl" rotWithShape="0">
              <a:srgbClr val="000000">
                <a:alpha val="10000"/>
              </a:srgbClr>
            </a:outerShdw>
          </a:effectLst>
        </p:spPr>
        <p:txBody>
          <a:bodyPr/>
          <a:lstStyle/>
          <a:p>
            <a:endParaRPr lang="fr-FR"/>
          </a:p>
        </p:txBody>
      </p:sp>
      <p:sp>
        <p:nvSpPr>
          <p:cNvPr id="41" name="Shape 35"/>
          <p:cNvSpPr/>
          <p:nvPr/>
        </p:nvSpPr>
        <p:spPr>
          <a:xfrm>
            <a:off x="7150608" y="777240"/>
            <a:ext cx="1572768" cy="594360"/>
          </a:xfrm>
          <a:prstGeom prst="rect">
            <a:avLst/>
          </a:prstGeom>
          <a:solidFill>
            <a:srgbClr val="1A4A8A"/>
          </a:solidFill>
          <a:ln w="12700">
            <a:solidFill>
              <a:srgbClr val="1A4A8A"/>
            </a:solidFill>
            <a:prstDash val="solid"/>
          </a:ln>
        </p:spPr>
        <p:txBody>
          <a:bodyPr/>
          <a:lstStyle/>
          <a:p>
            <a:endParaRPr lang="fr-FR"/>
          </a:p>
        </p:txBody>
      </p:sp>
      <p:sp>
        <p:nvSpPr>
          <p:cNvPr id="42" name="Text 36"/>
          <p:cNvSpPr/>
          <p:nvPr/>
        </p:nvSpPr>
        <p:spPr>
          <a:xfrm>
            <a:off x="7150608" y="777240"/>
            <a:ext cx="1572768"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pic>
        <p:nvPicPr>
          <p:cNvPr id="43" name="Image 4" descr="preencoded.png"/>
          <p:cNvPicPr>
            <a:picLocks noChangeAspect="1"/>
          </p:cNvPicPr>
          <p:nvPr/>
        </p:nvPicPr>
        <p:blipFill>
          <a:blip r:embed="rId7"/>
          <a:stretch>
            <a:fillRect/>
          </a:stretch>
        </p:blipFill>
        <p:spPr>
          <a:xfrm>
            <a:off x="7662672" y="1508760"/>
            <a:ext cx="548640" cy="548640"/>
          </a:xfrm>
          <a:prstGeom prst="rect">
            <a:avLst/>
          </a:prstGeom>
        </p:spPr>
      </p:pic>
      <p:sp>
        <p:nvSpPr>
          <p:cNvPr id="44" name="Text 37"/>
          <p:cNvSpPr/>
          <p:nvPr/>
        </p:nvSpPr>
        <p:spPr>
          <a:xfrm>
            <a:off x="7205472" y="2148840"/>
            <a:ext cx="1463040" cy="685800"/>
          </a:xfrm>
          <a:prstGeom prst="rect">
            <a:avLst/>
          </a:prstGeom>
          <a:noFill/>
          <a:ln/>
        </p:spPr>
        <p:txBody>
          <a:bodyPr wrap="square" rtlCol="0" anchor="ctr"/>
          <a:lstStyle/>
          <a:p>
            <a:pPr marL="0" indent="0" algn="ctr">
              <a:buNone/>
            </a:pPr>
            <a:r>
              <a:rPr lang="en-US" sz="1200" b="1" dirty="0">
                <a:solidFill>
                  <a:srgbClr val="1A4A8A"/>
                </a:solidFill>
                <a:latin typeface="Calibri" pitchFamily="34" charset="0"/>
                <a:ea typeface="Calibri" pitchFamily="34" charset="-122"/>
                <a:cs typeface="Calibri" pitchFamily="34" charset="-120"/>
              </a:rPr>
              <a:t>Publication</a:t>
            </a:r>
            <a:endParaRPr lang="en-US" sz="1200" dirty="0"/>
          </a:p>
          <a:p>
            <a:pPr marL="0" indent="0" algn="ctr">
              <a:buNone/>
            </a:pPr>
            <a:r>
              <a:rPr lang="en-US" sz="1200" b="1" dirty="0">
                <a:solidFill>
                  <a:srgbClr val="1A4A8A"/>
                </a:solidFill>
                <a:latin typeface="Calibri" pitchFamily="34" charset="0"/>
                <a:ea typeface="Calibri" pitchFamily="34" charset="-122"/>
                <a:cs typeface="Calibri" pitchFamily="34" charset="-120"/>
              </a:rPr>
              <a:t>ou envoi</a:t>
            </a:r>
            <a:endParaRPr lang="en-US" sz="1200" dirty="0"/>
          </a:p>
        </p:txBody>
      </p:sp>
      <p:sp>
        <p:nvSpPr>
          <p:cNvPr id="45" name="Text 38"/>
          <p:cNvSpPr/>
          <p:nvPr/>
        </p:nvSpPr>
        <p:spPr>
          <a:xfrm>
            <a:off x="7205472" y="2880360"/>
            <a:ext cx="1463040" cy="822960"/>
          </a:xfrm>
          <a:prstGeom prst="rect">
            <a:avLst/>
          </a:prstGeom>
          <a:noFill/>
          <a:ln/>
        </p:spPr>
        <p:txBody>
          <a:bodyPr wrap="square" rtlCol="0" anchor="t"/>
          <a:lstStyle/>
          <a:p>
            <a:pPr marL="0" indent="0" algn="ctr">
              <a:buNone/>
            </a:pPr>
            <a:r>
              <a:rPr lang="en-US" sz="1000" i="1" dirty="0">
                <a:solidFill>
                  <a:srgbClr val="5A6478"/>
                </a:solidFill>
                <a:latin typeface="Calibri" pitchFamily="34" charset="0"/>
                <a:ea typeface="Calibri" pitchFamily="34" charset="-122"/>
                <a:cs typeface="Calibri" pitchFamily="34" charset="-120"/>
              </a:rPr>
              <a:t>Tâche accomplie !</a:t>
            </a:r>
            <a:endParaRPr lang="en-US" sz="1000" dirty="0"/>
          </a:p>
        </p:txBody>
      </p:sp>
      <p:sp>
        <p:nvSpPr>
          <p:cNvPr id="46" name="Shape 39"/>
          <p:cNvSpPr/>
          <p:nvPr/>
        </p:nvSpPr>
        <p:spPr>
          <a:xfrm>
            <a:off x="274320" y="4133088"/>
            <a:ext cx="8595360" cy="566928"/>
          </a:xfrm>
          <a:prstGeom prst="rect">
            <a:avLst/>
          </a:prstGeom>
          <a:solidFill>
            <a:srgbClr val="1A4A8A"/>
          </a:solidFill>
          <a:ln w="12700">
            <a:solidFill>
              <a:srgbClr val="1A4A8A"/>
            </a:solidFill>
            <a:prstDash val="solid"/>
          </a:ln>
        </p:spPr>
        <p:txBody>
          <a:bodyPr/>
          <a:lstStyle/>
          <a:p>
            <a:endParaRPr lang="fr-FR"/>
          </a:p>
        </p:txBody>
      </p:sp>
      <p:sp>
        <p:nvSpPr>
          <p:cNvPr id="47" name="Text 40"/>
          <p:cNvSpPr/>
          <p:nvPr/>
        </p:nvSpPr>
        <p:spPr>
          <a:xfrm>
            <a:off x="411480" y="4151376"/>
            <a:ext cx="8321040" cy="53035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Règle d'or : L'IA fait le travail de rédaction brut — vous apportez le jugement, la personnalisation et la validation finale.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Les outils d'IA pour l'administration</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49808"/>
            <a:ext cx="425196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7"/>
          <p:cNvSpPr/>
          <p:nvPr/>
        </p:nvSpPr>
        <p:spPr>
          <a:xfrm>
            <a:off x="274320" y="749808"/>
            <a:ext cx="4251960" cy="64008"/>
          </a:xfrm>
          <a:prstGeom prst="rect">
            <a:avLst/>
          </a:prstGeom>
          <a:solidFill>
            <a:srgbClr val="10A37F"/>
          </a:solidFill>
          <a:ln w="12700">
            <a:solidFill>
              <a:srgbClr val="10A37F"/>
            </a:solidFill>
            <a:prstDash val="solid"/>
          </a:ln>
        </p:spPr>
        <p:txBody>
          <a:bodyPr/>
          <a:lstStyle/>
          <a:p>
            <a:endParaRPr lang="fr-FR"/>
          </a:p>
        </p:txBody>
      </p:sp>
      <p:sp>
        <p:nvSpPr>
          <p:cNvPr id="10" name="Shape 8"/>
          <p:cNvSpPr/>
          <p:nvPr/>
        </p:nvSpPr>
        <p:spPr>
          <a:xfrm>
            <a:off x="438912" y="914400"/>
            <a:ext cx="640080" cy="640080"/>
          </a:xfrm>
          <a:prstGeom prst="ellipse">
            <a:avLst/>
          </a:prstGeom>
          <a:solidFill>
            <a:srgbClr val="10A37F"/>
          </a:solidFill>
          <a:ln w="12700">
            <a:solidFill>
              <a:srgbClr val="10A37F"/>
            </a:solidFill>
            <a:prstDash val="solid"/>
          </a:ln>
        </p:spPr>
        <p:txBody>
          <a:bodyPr/>
          <a:lstStyle/>
          <a:p>
            <a:endParaRPr lang="fr-FR"/>
          </a:p>
        </p:txBody>
      </p:sp>
      <p:pic>
        <p:nvPicPr>
          <p:cNvPr id="11" name="Image 0" descr="preencoded.png"/>
          <p:cNvPicPr>
            <a:picLocks noChangeAspect="1"/>
          </p:cNvPicPr>
          <p:nvPr/>
        </p:nvPicPr>
        <p:blipFill>
          <a:blip r:embed="rId3"/>
          <a:stretch>
            <a:fillRect/>
          </a:stretch>
        </p:blipFill>
        <p:spPr>
          <a:xfrm>
            <a:off x="493776" y="950976"/>
            <a:ext cx="530352" cy="530352"/>
          </a:xfrm>
          <a:prstGeom prst="rect">
            <a:avLst/>
          </a:prstGeom>
        </p:spPr>
      </p:pic>
      <p:sp>
        <p:nvSpPr>
          <p:cNvPr id="12" name="Text 9"/>
          <p:cNvSpPr/>
          <p:nvPr/>
        </p:nvSpPr>
        <p:spPr>
          <a:xfrm>
            <a:off x="1207008" y="886968"/>
            <a:ext cx="2286000" cy="502920"/>
          </a:xfrm>
          <a:prstGeom prst="rect">
            <a:avLst/>
          </a:prstGeom>
          <a:noFill/>
          <a:ln/>
        </p:spPr>
        <p:txBody>
          <a:bodyPr wrap="square" rtlCol="0" anchor="ctr"/>
          <a:lstStyle/>
          <a:p>
            <a:pPr marL="0" indent="0">
              <a:buNone/>
            </a:pPr>
            <a:r>
              <a:rPr lang="en-US" sz="1500" b="1" dirty="0">
                <a:solidFill>
                  <a:srgbClr val="10A37F"/>
                </a:solidFill>
                <a:latin typeface="Calibri" pitchFamily="34" charset="0"/>
                <a:ea typeface="Calibri" pitchFamily="34" charset="-122"/>
                <a:cs typeface="Calibri" pitchFamily="34" charset="-120"/>
              </a:rPr>
              <a:t>ChatGPT</a:t>
            </a:r>
            <a:endParaRPr lang="en-US" sz="1500" dirty="0"/>
          </a:p>
        </p:txBody>
      </p:sp>
      <p:sp>
        <p:nvSpPr>
          <p:cNvPr id="13" name="Text 10"/>
          <p:cNvSpPr/>
          <p:nvPr/>
        </p:nvSpPr>
        <p:spPr>
          <a:xfrm>
            <a:off x="1207008" y="1371600"/>
            <a:ext cx="2377440" cy="274320"/>
          </a:xfrm>
          <a:prstGeom prst="rect">
            <a:avLst/>
          </a:prstGeom>
          <a:noFill/>
          <a:ln/>
        </p:spPr>
        <p:txBody>
          <a:bodyPr wrap="square" rtlCol="0" anchor="ctr"/>
          <a:lstStyle/>
          <a:p>
            <a:pPr marL="0" indent="0">
              <a:buNone/>
            </a:pPr>
            <a:r>
              <a:rPr lang="en-US" sz="1000" i="1" dirty="0">
                <a:solidFill>
                  <a:srgbClr val="5A6478"/>
                </a:solidFill>
                <a:latin typeface="Calibri" pitchFamily="34" charset="0"/>
                <a:ea typeface="Calibri" pitchFamily="34" charset="-122"/>
                <a:cs typeface="Calibri" pitchFamily="34" charset="-120"/>
              </a:rPr>
              <a:t>OpenAI</a:t>
            </a:r>
            <a:endParaRPr lang="en-US" sz="1000" dirty="0"/>
          </a:p>
        </p:txBody>
      </p:sp>
      <p:sp>
        <p:nvSpPr>
          <p:cNvPr id="14" name="Shape 11"/>
          <p:cNvSpPr/>
          <p:nvPr/>
        </p:nvSpPr>
        <p:spPr>
          <a:xfrm>
            <a:off x="3611880" y="914400"/>
            <a:ext cx="822960" cy="365760"/>
          </a:xfrm>
          <a:prstGeom prst="rect">
            <a:avLst/>
          </a:prstGeom>
          <a:solidFill>
            <a:srgbClr val="10A37F">
              <a:alpha val="85000"/>
            </a:srgbClr>
          </a:solidFill>
          <a:ln w="12700">
            <a:solidFill>
              <a:srgbClr val="10A37F"/>
            </a:solidFill>
            <a:prstDash val="solid"/>
          </a:ln>
        </p:spPr>
        <p:txBody>
          <a:bodyPr/>
          <a:lstStyle/>
          <a:p>
            <a:endParaRPr lang="fr-FR"/>
          </a:p>
        </p:txBody>
      </p:sp>
      <p:sp>
        <p:nvSpPr>
          <p:cNvPr id="15" name="Text 12"/>
          <p:cNvSpPr/>
          <p:nvPr/>
        </p:nvSpPr>
        <p:spPr>
          <a:xfrm>
            <a:off x="3611880" y="914400"/>
            <a:ext cx="82296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GRATUIT</a:t>
            </a:r>
            <a:endParaRPr lang="en-US" sz="900" dirty="0"/>
          </a:p>
        </p:txBody>
      </p:sp>
      <p:sp>
        <p:nvSpPr>
          <p:cNvPr id="16" name="Text 13"/>
          <p:cNvSpPr/>
          <p:nvPr/>
        </p:nvSpPr>
        <p:spPr>
          <a:xfrm>
            <a:off x="438912" y="1682496"/>
            <a:ext cx="3931920" cy="347472"/>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 Rédaction, résumé, traduction, brainstorming, Q&amp;A</a:t>
            </a:r>
            <a:endParaRPr lang="en-US" sz="1150" dirty="0"/>
          </a:p>
        </p:txBody>
      </p:sp>
      <p:sp>
        <p:nvSpPr>
          <p:cNvPr id="17" name="Text 14"/>
          <p:cNvSpPr/>
          <p:nvPr/>
        </p:nvSpPr>
        <p:spPr>
          <a:xfrm>
            <a:off x="438912" y="2075688"/>
            <a:ext cx="3931920" cy="438912"/>
          </a:xfrm>
          <a:prstGeom prst="rect">
            <a:avLst/>
          </a:prstGeom>
          <a:noFill/>
          <a:ln/>
        </p:spPr>
        <p:txBody>
          <a:bodyPr wrap="square" rtlCol="0" anchor="ctr"/>
          <a:lstStyle/>
          <a:p>
            <a:pPr marL="0" indent="0">
              <a:buNone/>
            </a:pPr>
            <a:r>
              <a:rPr lang="en-US" sz="1050" i="1" dirty="0">
                <a:solidFill>
                  <a:srgbClr val="5A6478"/>
                </a:solidFill>
                <a:latin typeface="Calibri" pitchFamily="34" charset="0"/>
                <a:ea typeface="Calibri" pitchFamily="34" charset="-122"/>
                <a:cs typeface="Calibri" pitchFamily="34" charset="-120"/>
              </a:rPr>
              <a:t>💡 Accès gratuit via chatgpt.com · Version Pro recommandée</a:t>
            </a:r>
            <a:endParaRPr lang="en-US" sz="1050" dirty="0"/>
          </a:p>
        </p:txBody>
      </p:sp>
      <p:sp>
        <p:nvSpPr>
          <p:cNvPr id="18" name="Shape 15"/>
          <p:cNvSpPr/>
          <p:nvPr/>
        </p:nvSpPr>
        <p:spPr>
          <a:xfrm>
            <a:off x="4709160" y="749808"/>
            <a:ext cx="425196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19" name="Shape 16"/>
          <p:cNvSpPr/>
          <p:nvPr/>
        </p:nvSpPr>
        <p:spPr>
          <a:xfrm>
            <a:off x="4709160" y="749808"/>
            <a:ext cx="4251960" cy="64008"/>
          </a:xfrm>
          <a:prstGeom prst="rect">
            <a:avLst/>
          </a:prstGeom>
          <a:solidFill>
            <a:srgbClr val="1A4A8A"/>
          </a:solidFill>
          <a:ln w="12700">
            <a:solidFill>
              <a:srgbClr val="1A4A8A"/>
            </a:solidFill>
            <a:prstDash val="solid"/>
          </a:ln>
        </p:spPr>
        <p:txBody>
          <a:bodyPr/>
          <a:lstStyle/>
          <a:p>
            <a:endParaRPr lang="fr-FR"/>
          </a:p>
        </p:txBody>
      </p:sp>
      <p:sp>
        <p:nvSpPr>
          <p:cNvPr id="20" name="Shape 17"/>
          <p:cNvSpPr/>
          <p:nvPr/>
        </p:nvSpPr>
        <p:spPr>
          <a:xfrm>
            <a:off x="4873752" y="914400"/>
            <a:ext cx="640080" cy="640080"/>
          </a:xfrm>
          <a:prstGeom prst="ellipse">
            <a:avLst/>
          </a:prstGeom>
          <a:solidFill>
            <a:srgbClr val="1A4A8A"/>
          </a:solidFill>
          <a:ln w="12700">
            <a:solidFill>
              <a:srgbClr val="1A4A8A"/>
            </a:solidFill>
            <a:prstDash val="solid"/>
          </a:ln>
        </p:spPr>
        <p:txBody>
          <a:bodyPr/>
          <a:lstStyle/>
          <a:p>
            <a:endParaRPr lang="fr-FR"/>
          </a:p>
        </p:txBody>
      </p:sp>
      <p:pic>
        <p:nvPicPr>
          <p:cNvPr id="21" name="Image 1" descr="preencoded.png"/>
          <p:cNvPicPr>
            <a:picLocks noChangeAspect="1"/>
          </p:cNvPicPr>
          <p:nvPr/>
        </p:nvPicPr>
        <p:blipFill>
          <a:blip r:embed="rId4"/>
          <a:stretch>
            <a:fillRect/>
          </a:stretch>
        </p:blipFill>
        <p:spPr>
          <a:xfrm>
            <a:off x="4928616" y="950976"/>
            <a:ext cx="530352" cy="530352"/>
          </a:xfrm>
          <a:prstGeom prst="rect">
            <a:avLst/>
          </a:prstGeom>
        </p:spPr>
      </p:pic>
      <p:sp>
        <p:nvSpPr>
          <p:cNvPr id="22" name="Text 18"/>
          <p:cNvSpPr/>
          <p:nvPr/>
        </p:nvSpPr>
        <p:spPr>
          <a:xfrm>
            <a:off x="5641848" y="886968"/>
            <a:ext cx="2286000" cy="502920"/>
          </a:xfrm>
          <a:prstGeom prst="rect">
            <a:avLst/>
          </a:prstGeom>
          <a:noFill/>
          <a:ln/>
        </p:spPr>
        <p:txBody>
          <a:bodyPr wrap="square" rtlCol="0" anchor="ctr"/>
          <a:lstStyle/>
          <a:p>
            <a:pPr marL="0" indent="0">
              <a:buNone/>
            </a:pPr>
            <a:r>
              <a:rPr lang="en-US" sz="1500" b="1" dirty="0">
                <a:solidFill>
                  <a:srgbClr val="1A4A8A"/>
                </a:solidFill>
                <a:latin typeface="Calibri" pitchFamily="34" charset="0"/>
                <a:ea typeface="Calibri" pitchFamily="34" charset="-122"/>
                <a:cs typeface="Calibri" pitchFamily="34" charset="-120"/>
              </a:rPr>
              <a:t>Microsoft</a:t>
            </a:r>
            <a:endParaRPr lang="en-US" sz="1500" dirty="0"/>
          </a:p>
          <a:p>
            <a:pPr marL="0" indent="0">
              <a:buNone/>
            </a:pPr>
            <a:r>
              <a:rPr lang="en-US" sz="1500" b="1" dirty="0">
                <a:solidFill>
                  <a:srgbClr val="1A4A8A"/>
                </a:solidFill>
                <a:latin typeface="Calibri" pitchFamily="34" charset="0"/>
                <a:ea typeface="Calibri" pitchFamily="34" charset="-122"/>
                <a:cs typeface="Calibri" pitchFamily="34" charset="-120"/>
              </a:rPr>
              <a:t>Copilot</a:t>
            </a:r>
            <a:endParaRPr lang="en-US" sz="1500" dirty="0"/>
          </a:p>
        </p:txBody>
      </p:sp>
      <p:sp>
        <p:nvSpPr>
          <p:cNvPr id="23" name="Text 19"/>
          <p:cNvSpPr/>
          <p:nvPr/>
        </p:nvSpPr>
        <p:spPr>
          <a:xfrm>
            <a:off x="5641848" y="1371600"/>
            <a:ext cx="2377440" cy="274320"/>
          </a:xfrm>
          <a:prstGeom prst="rect">
            <a:avLst/>
          </a:prstGeom>
          <a:noFill/>
          <a:ln/>
        </p:spPr>
        <p:txBody>
          <a:bodyPr wrap="square" rtlCol="0" anchor="ctr"/>
          <a:lstStyle/>
          <a:p>
            <a:pPr marL="0" indent="0">
              <a:buNone/>
            </a:pPr>
            <a:r>
              <a:rPr lang="en-US" sz="1000" i="1" dirty="0">
                <a:solidFill>
                  <a:srgbClr val="5A6478"/>
                </a:solidFill>
                <a:latin typeface="Calibri" pitchFamily="34" charset="0"/>
                <a:ea typeface="Calibri" pitchFamily="34" charset="-122"/>
                <a:cs typeface="Calibri" pitchFamily="34" charset="-120"/>
              </a:rPr>
              <a:t>Microsoft 365</a:t>
            </a:r>
            <a:endParaRPr lang="en-US" sz="1000" dirty="0"/>
          </a:p>
        </p:txBody>
      </p:sp>
      <p:sp>
        <p:nvSpPr>
          <p:cNvPr id="24" name="Shape 20"/>
          <p:cNvSpPr/>
          <p:nvPr/>
        </p:nvSpPr>
        <p:spPr>
          <a:xfrm>
            <a:off x="8046720" y="914400"/>
            <a:ext cx="822960" cy="365760"/>
          </a:xfrm>
          <a:prstGeom prst="rect">
            <a:avLst/>
          </a:prstGeom>
          <a:solidFill>
            <a:srgbClr val="1A4A8A">
              <a:alpha val="85000"/>
            </a:srgbClr>
          </a:solidFill>
          <a:ln w="12700">
            <a:solidFill>
              <a:srgbClr val="1A4A8A"/>
            </a:solidFill>
            <a:prstDash val="solid"/>
          </a:ln>
        </p:spPr>
        <p:txBody>
          <a:bodyPr/>
          <a:lstStyle/>
          <a:p>
            <a:endParaRPr lang="fr-FR"/>
          </a:p>
        </p:txBody>
      </p:sp>
      <p:sp>
        <p:nvSpPr>
          <p:cNvPr id="25" name="Text 21"/>
          <p:cNvSpPr/>
          <p:nvPr/>
        </p:nvSpPr>
        <p:spPr>
          <a:xfrm>
            <a:off x="8046720" y="914400"/>
            <a:ext cx="82296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GRATUIT</a:t>
            </a:r>
            <a:endParaRPr lang="en-US" sz="900" dirty="0"/>
          </a:p>
        </p:txBody>
      </p:sp>
      <p:sp>
        <p:nvSpPr>
          <p:cNvPr id="26" name="Text 22"/>
          <p:cNvSpPr/>
          <p:nvPr/>
        </p:nvSpPr>
        <p:spPr>
          <a:xfrm>
            <a:off x="4873752" y="1682496"/>
            <a:ext cx="3931920" cy="347472"/>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 Intégré à Word, Excel, Outlook, Teams</a:t>
            </a:r>
            <a:endParaRPr lang="en-US" sz="1150" dirty="0"/>
          </a:p>
        </p:txBody>
      </p:sp>
      <p:sp>
        <p:nvSpPr>
          <p:cNvPr id="27" name="Text 23"/>
          <p:cNvSpPr/>
          <p:nvPr/>
        </p:nvSpPr>
        <p:spPr>
          <a:xfrm>
            <a:off x="4873752" y="2075688"/>
            <a:ext cx="3931920" cy="438912"/>
          </a:xfrm>
          <a:prstGeom prst="rect">
            <a:avLst/>
          </a:prstGeom>
          <a:noFill/>
          <a:ln/>
        </p:spPr>
        <p:txBody>
          <a:bodyPr wrap="square" rtlCol="0" anchor="ctr"/>
          <a:lstStyle/>
          <a:p>
            <a:pPr marL="0" indent="0">
              <a:buNone/>
            </a:pPr>
            <a:r>
              <a:rPr lang="en-US" sz="1050" i="1" dirty="0">
                <a:solidFill>
                  <a:srgbClr val="5A6478"/>
                </a:solidFill>
                <a:latin typeface="Calibri" pitchFamily="34" charset="0"/>
                <a:ea typeface="Calibri" pitchFamily="34" charset="-122"/>
                <a:cs typeface="Calibri" pitchFamily="34" charset="-120"/>
              </a:rPr>
              <a:t>💡 Idéal si votre entreprise utilise déjà Microsoft 365</a:t>
            </a:r>
            <a:endParaRPr lang="en-US" sz="1050" dirty="0"/>
          </a:p>
        </p:txBody>
      </p:sp>
      <p:sp>
        <p:nvSpPr>
          <p:cNvPr id="28" name="Shape 24"/>
          <p:cNvSpPr/>
          <p:nvPr/>
        </p:nvSpPr>
        <p:spPr>
          <a:xfrm>
            <a:off x="274320" y="2852928"/>
            <a:ext cx="425196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29" name="Shape 25"/>
          <p:cNvSpPr/>
          <p:nvPr/>
        </p:nvSpPr>
        <p:spPr>
          <a:xfrm>
            <a:off x="274320" y="2852928"/>
            <a:ext cx="4251960" cy="64008"/>
          </a:xfrm>
          <a:prstGeom prst="rect">
            <a:avLst/>
          </a:prstGeom>
          <a:solidFill>
            <a:srgbClr val="3D3D3D"/>
          </a:solidFill>
          <a:ln w="12700">
            <a:solidFill>
              <a:srgbClr val="3D3D3D"/>
            </a:solidFill>
            <a:prstDash val="solid"/>
          </a:ln>
        </p:spPr>
        <p:txBody>
          <a:bodyPr/>
          <a:lstStyle/>
          <a:p>
            <a:endParaRPr lang="fr-FR"/>
          </a:p>
        </p:txBody>
      </p:sp>
      <p:sp>
        <p:nvSpPr>
          <p:cNvPr id="30" name="Shape 26"/>
          <p:cNvSpPr/>
          <p:nvPr/>
        </p:nvSpPr>
        <p:spPr>
          <a:xfrm>
            <a:off x="438912" y="3017520"/>
            <a:ext cx="640080" cy="640080"/>
          </a:xfrm>
          <a:prstGeom prst="ellipse">
            <a:avLst/>
          </a:prstGeom>
          <a:solidFill>
            <a:srgbClr val="3D3D3D"/>
          </a:solidFill>
          <a:ln w="12700">
            <a:solidFill>
              <a:srgbClr val="3D3D3D"/>
            </a:solidFill>
            <a:prstDash val="solid"/>
          </a:ln>
        </p:spPr>
        <p:txBody>
          <a:bodyPr/>
          <a:lstStyle/>
          <a:p>
            <a:endParaRPr lang="fr-FR"/>
          </a:p>
        </p:txBody>
      </p:sp>
      <p:pic>
        <p:nvPicPr>
          <p:cNvPr id="31" name="Image 2" descr="preencoded.png"/>
          <p:cNvPicPr>
            <a:picLocks noChangeAspect="1"/>
          </p:cNvPicPr>
          <p:nvPr/>
        </p:nvPicPr>
        <p:blipFill>
          <a:blip r:embed="rId5"/>
          <a:stretch>
            <a:fillRect/>
          </a:stretch>
        </p:blipFill>
        <p:spPr>
          <a:xfrm>
            <a:off x="493776" y="3054096"/>
            <a:ext cx="530352" cy="530352"/>
          </a:xfrm>
          <a:prstGeom prst="rect">
            <a:avLst/>
          </a:prstGeom>
        </p:spPr>
      </p:pic>
      <p:sp>
        <p:nvSpPr>
          <p:cNvPr id="32" name="Text 27"/>
          <p:cNvSpPr/>
          <p:nvPr/>
        </p:nvSpPr>
        <p:spPr>
          <a:xfrm>
            <a:off x="1207008" y="2990088"/>
            <a:ext cx="2286000" cy="502920"/>
          </a:xfrm>
          <a:prstGeom prst="rect">
            <a:avLst/>
          </a:prstGeom>
          <a:noFill/>
          <a:ln/>
        </p:spPr>
        <p:txBody>
          <a:bodyPr wrap="square" rtlCol="0" anchor="ctr"/>
          <a:lstStyle/>
          <a:p>
            <a:pPr marL="0" indent="0">
              <a:buNone/>
            </a:pPr>
            <a:r>
              <a:rPr lang="en-US" sz="1500" b="1" dirty="0">
                <a:solidFill>
                  <a:srgbClr val="3D3D3D"/>
                </a:solidFill>
                <a:latin typeface="Calibri" pitchFamily="34" charset="0"/>
                <a:ea typeface="Calibri" pitchFamily="34" charset="-122"/>
                <a:cs typeface="Calibri" pitchFamily="34" charset="-120"/>
              </a:rPr>
              <a:t>Notion AI</a:t>
            </a:r>
            <a:endParaRPr lang="en-US" sz="1500" dirty="0"/>
          </a:p>
        </p:txBody>
      </p:sp>
      <p:sp>
        <p:nvSpPr>
          <p:cNvPr id="33" name="Text 28"/>
          <p:cNvSpPr/>
          <p:nvPr/>
        </p:nvSpPr>
        <p:spPr>
          <a:xfrm>
            <a:off x="1207008" y="3474720"/>
            <a:ext cx="2377440" cy="274320"/>
          </a:xfrm>
          <a:prstGeom prst="rect">
            <a:avLst/>
          </a:prstGeom>
          <a:noFill/>
          <a:ln/>
        </p:spPr>
        <p:txBody>
          <a:bodyPr wrap="square" rtlCol="0" anchor="ctr"/>
          <a:lstStyle/>
          <a:p>
            <a:pPr marL="0" indent="0">
              <a:buNone/>
            </a:pPr>
            <a:r>
              <a:rPr lang="en-US" sz="1000" i="1" dirty="0">
                <a:solidFill>
                  <a:srgbClr val="5A6478"/>
                </a:solidFill>
                <a:latin typeface="Calibri" pitchFamily="34" charset="0"/>
                <a:ea typeface="Calibri" pitchFamily="34" charset="-122"/>
                <a:cs typeface="Calibri" pitchFamily="34" charset="-120"/>
              </a:rPr>
              <a:t>Notion</a:t>
            </a:r>
            <a:endParaRPr lang="en-US" sz="1000" dirty="0"/>
          </a:p>
        </p:txBody>
      </p:sp>
      <p:sp>
        <p:nvSpPr>
          <p:cNvPr id="34" name="Shape 29"/>
          <p:cNvSpPr/>
          <p:nvPr/>
        </p:nvSpPr>
        <p:spPr>
          <a:xfrm>
            <a:off x="3611880" y="3017520"/>
            <a:ext cx="822960" cy="365760"/>
          </a:xfrm>
          <a:prstGeom prst="rect">
            <a:avLst/>
          </a:prstGeom>
          <a:solidFill>
            <a:srgbClr val="3D3D3D">
              <a:alpha val="85000"/>
            </a:srgbClr>
          </a:solidFill>
          <a:ln w="12700">
            <a:solidFill>
              <a:srgbClr val="3D3D3D"/>
            </a:solidFill>
            <a:prstDash val="solid"/>
          </a:ln>
        </p:spPr>
        <p:txBody>
          <a:bodyPr/>
          <a:lstStyle/>
          <a:p>
            <a:endParaRPr lang="fr-FR"/>
          </a:p>
        </p:txBody>
      </p:sp>
      <p:sp>
        <p:nvSpPr>
          <p:cNvPr id="35" name="Text 30"/>
          <p:cNvSpPr/>
          <p:nvPr/>
        </p:nvSpPr>
        <p:spPr>
          <a:xfrm>
            <a:off x="3611880" y="3017520"/>
            <a:ext cx="82296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GRATUIT</a:t>
            </a:r>
            <a:endParaRPr lang="en-US" sz="900" dirty="0"/>
          </a:p>
        </p:txBody>
      </p:sp>
      <p:sp>
        <p:nvSpPr>
          <p:cNvPr id="36" name="Text 31"/>
          <p:cNvSpPr/>
          <p:nvPr/>
        </p:nvSpPr>
        <p:spPr>
          <a:xfrm>
            <a:off x="438912" y="3785616"/>
            <a:ext cx="3931920" cy="347472"/>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 Notes, bases de connaissances, wikis d'équipe</a:t>
            </a:r>
            <a:endParaRPr lang="en-US" sz="1150" dirty="0"/>
          </a:p>
        </p:txBody>
      </p:sp>
      <p:sp>
        <p:nvSpPr>
          <p:cNvPr id="37" name="Text 32"/>
          <p:cNvSpPr/>
          <p:nvPr/>
        </p:nvSpPr>
        <p:spPr>
          <a:xfrm>
            <a:off x="438912" y="4178808"/>
            <a:ext cx="3931920" cy="438912"/>
          </a:xfrm>
          <a:prstGeom prst="rect">
            <a:avLst/>
          </a:prstGeom>
          <a:noFill/>
          <a:ln/>
        </p:spPr>
        <p:txBody>
          <a:bodyPr wrap="square" rtlCol="0" anchor="ctr"/>
          <a:lstStyle/>
          <a:p>
            <a:pPr marL="0" indent="0">
              <a:buNone/>
            </a:pPr>
            <a:r>
              <a:rPr lang="en-US" sz="1050" i="1" dirty="0">
                <a:solidFill>
                  <a:srgbClr val="5A6478"/>
                </a:solidFill>
                <a:latin typeface="Calibri" pitchFamily="34" charset="0"/>
                <a:ea typeface="Calibri" pitchFamily="34" charset="-122"/>
                <a:cs typeface="Calibri" pitchFamily="34" charset="-120"/>
              </a:rPr>
              <a:t>💡 Parfait pour les comptes rendus et la documentation</a:t>
            </a:r>
            <a:endParaRPr lang="en-US" sz="1050" dirty="0"/>
          </a:p>
        </p:txBody>
      </p:sp>
      <p:sp>
        <p:nvSpPr>
          <p:cNvPr id="38" name="Shape 33"/>
          <p:cNvSpPr/>
          <p:nvPr/>
        </p:nvSpPr>
        <p:spPr>
          <a:xfrm>
            <a:off x="4709160" y="2852928"/>
            <a:ext cx="4251960" cy="192024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39" name="Shape 34"/>
          <p:cNvSpPr/>
          <p:nvPr/>
        </p:nvSpPr>
        <p:spPr>
          <a:xfrm>
            <a:off x="4709160" y="2852928"/>
            <a:ext cx="4251960" cy="64008"/>
          </a:xfrm>
          <a:prstGeom prst="rect">
            <a:avLst/>
          </a:prstGeom>
          <a:solidFill>
            <a:srgbClr val="15C39A"/>
          </a:solidFill>
          <a:ln w="12700">
            <a:solidFill>
              <a:srgbClr val="15C39A"/>
            </a:solidFill>
            <a:prstDash val="solid"/>
          </a:ln>
        </p:spPr>
        <p:txBody>
          <a:bodyPr/>
          <a:lstStyle/>
          <a:p>
            <a:endParaRPr lang="fr-FR"/>
          </a:p>
        </p:txBody>
      </p:sp>
      <p:sp>
        <p:nvSpPr>
          <p:cNvPr id="40" name="Shape 35"/>
          <p:cNvSpPr/>
          <p:nvPr/>
        </p:nvSpPr>
        <p:spPr>
          <a:xfrm>
            <a:off x="4873752" y="3017520"/>
            <a:ext cx="640080" cy="640080"/>
          </a:xfrm>
          <a:prstGeom prst="ellipse">
            <a:avLst/>
          </a:prstGeom>
          <a:solidFill>
            <a:srgbClr val="15C39A"/>
          </a:solidFill>
          <a:ln w="12700">
            <a:solidFill>
              <a:srgbClr val="15C39A"/>
            </a:solidFill>
            <a:prstDash val="solid"/>
          </a:ln>
        </p:spPr>
        <p:txBody>
          <a:bodyPr/>
          <a:lstStyle/>
          <a:p>
            <a:endParaRPr lang="fr-FR"/>
          </a:p>
        </p:txBody>
      </p:sp>
      <p:pic>
        <p:nvPicPr>
          <p:cNvPr id="41" name="Image 3" descr="preencoded.png"/>
          <p:cNvPicPr>
            <a:picLocks noChangeAspect="1"/>
          </p:cNvPicPr>
          <p:nvPr/>
        </p:nvPicPr>
        <p:blipFill>
          <a:blip r:embed="rId6"/>
          <a:stretch>
            <a:fillRect/>
          </a:stretch>
        </p:blipFill>
        <p:spPr>
          <a:xfrm>
            <a:off x="4928616" y="3054096"/>
            <a:ext cx="530352" cy="530352"/>
          </a:xfrm>
          <a:prstGeom prst="rect">
            <a:avLst/>
          </a:prstGeom>
        </p:spPr>
      </p:pic>
      <p:sp>
        <p:nvSpPr>
          <p:cNvPr id="42" name="Text 36"/>
          <p:cNvSpPr/>
          <p:nvPr/>
        </p:nvSpPr>
        <p:spPr>
          <a:xfrm>
            <a:off x="5641848" y="2990088"/>
            <a:ext cx="2286000" cy="502920"/>
          </a:xfrm>
          <a:prstGeom prst="rect">
            <a:avLst/>
          </a:prstGeom>
          <a:noFill/>
          <a:ln/>
        </p:spPr>
        <p:txBody>
          <a:bodyPr wrap="square" rtlCol="0" anchor="ctr"/>
          <a:lstStyle/>
          <a:p>
            <a:pPr marL="0" indent="0">
              <a:buNone/>
            </a:pPr>
            <a:r>
              <a:rPr lang="en-US" sz="1500" b="1" dirty="0">
                <a:solidFill>
                  <a:srgbClr val="15C39A"/>
                </a:solidFill>
                <a:latin typeface="Calibri" pitchFamily="34" charset="0"/>
                <a:ea typeface="Calibri" pitchFamily="34" charset="-122"/>
                <a:cs typeface="Calibri" pitchFamily="34" charset="-120"/>
              </a:rPr>
              <a:t>Grammarly</a:t>
            </a:r>
            <a:endParaRPr lang="en-US" sz="1500" dirty="0"/>
          </a:p>
        </p:txBody>
      </p:sp>
      <p:sp>
        <p:nvSpPr>
          <p:cNvPr id="43" name="Text 37"/>
          <p:cNvSpPr/>
          <p:nvPr/>
        </p:nvSpPr>
        <p:spPr>
          <a:xfrm>
            <a:off x="5641848" y="3474720"/>
            <a:ext cx="2377440" cy="274320"/>
          </a:xfrm>
          <a:prstGeom prst="rect">
            <a:avLst/>
          </a:prstGeom>
          <a:noFill/>
          <a:ln/>
        </p:spPr>
        <p:txBody>
          <a:bodyPr wrap="square" rtlCol="0" anchor="ctr"/>
          <a:lstStyle/>
          <a:p>
            <a:pPr marL="0" indent="0">
              <a:buNone/>
            </a:pPr>
            <a:r>
              <a:rPr lang="en-US" sz="1000" i="1" dirty="0">
                <a:solidFill>
                  <a:srgbClr val="5A6478"/>
                </a:solidFill>
                <a:latin typeface="Calibri" pitchFamily="34" charset="0"/>
                <a:ea typeface="Calibri" pitchFamily="34" charset="-122"/>
                <a:cs typeface="Calibri" pitchFamily="34" charset="-120"/>
              </a:rPr>
              <a:t>Grammarly Inc.</a:t>
            </a:r>
            <a:endParaRPr lang="en-US" sz="1000" dirty="0"/>
          </a:p>
        </p:txBody>
      </p:sp>
      <p:sp>
        <p:nvSpPr>
          <p:cNvPr id="44" name="Shape 38"/>
          <p:cNvSpPr/>
          <p:nvPr/>
        </p:nvSpPr>
        <p:spPr>
          <a:xfrm>
            <a:off x="8046720" y="3017520"/>
            <a:ext cx="822960" cy="365760"/>
          </a:xfrm>
          <a:prstGeom prst="rect">
            <a:avLst/>
          </a:prstGeom>
          <a:solidFill>
            <a:srgbClr val="15C39A">
              <a:alpha val="85000"/>
            </a:srgbClr>
          </a:solidFill>
          <a:ln w="12700">
            <a:solidFill>
              <a:srgbClr val="15C39A"/>
            </a:solidFill>
            <a:prstDash val="solid"/>
          </a:ln>
        </p:spPr>
        <p:txBody>
          <a:bodyPr/>
          <a:lstStyle/>
          <a:p>
            <a:endParaRPr lang="fr-FR"/>
          </a:p>
        </p:txBody>
      </p:sp>
      <p:sp>
        <p:nvSpPr>
          <p:cNvPr id="45" name="Text 39"/>
          <p:cNvSpPr/>
          <p:nvPr/>
        </p:nvSpPr>
        <p:spPr>
          <a:xfrm>
            <a:off x="8046720" y="3017520"/>
            <a:ext cx="822960" cy="36576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GRATUIT</a:t>
            </a:r>
            <a:endParaRPr lang="en-US" sz="900" dirty="0"/>
          </a:p>
        </p:txBody>
      </p:sp>
      <p:sp>
        <p:nvSpPr>
          <p:cNvPr id="46" name="Text 40"/>
          <p:cNvSpPr/>
          <p:nvPr/>
        </p:nvSpPr>
        <p:spPr>
          <a:xfrm>
            <a:off x="4873752" y="3785616"/>
            <a:ext cx="3931920" cy="347472"/>
          </a:xfrm>
          <a:prstGeom prst="rect">
            <a:avLst/>
          </a:prstGeom>
          <a:noFill/>
          <a:ln/>
        </p:spPr>
        <p:txBody>
          <a:bodyPr wrap="square" rtlCol="0" anchor="ctr"/>
          <a:lstStyle/>
          <a:p>
            <a:pPr marL="0" indent="0">
              <a:buNone/>
            </a:pPr>
            <a:r>
              <a:rPr lang="en-US" sz="1150" dirty="0">
                <a:solidFill>
                  <a:srgbClr val="1A1A2E"/>
                </a:solidFill>
                <a:latin typeface="Calibri" pitchFamily="34" charset="0"/>
                <a:ea typeface="Calibri" pitchFamily="34" charset="-122"/>
                <a:cs typeface="Calibri" pitchFamily="34" charset="-120"/>
              </a:rPr>
              <a:t>✦ Correction, amélioration du style, ton professionnel</a:t>
            </a:r>
            <a:endParaRPr lang="en-US" sz="1150" dirty="0"/>
          </a:p>
        </p:txBody>
      </p:sp>
      <p:sp>
        <p:nvSpPr>
          <p:cNvPr id="47" name="Text 41"/>
          <p:cNvSpPr/>
          <p:nvPr/>
        </p:nvSpPr>
        <p:spPr>
          <a:xfrm>
            <a:off x="4873752" y="4178808"/>
            <a:ext cx="3931920" cy="438912"/>
          </a:xfrm>
          <a:prstGeom prst="rect">
            <a:avLst/>
          </a:prstGeom>
          <a:noFill/>
          <a:ln/>
        </p:spPr>
        <p:txBody>
          <a:bodyPr wrap="square" rtlCol="0" anchor="ctr"/>
          <a:lstStyle/>
          <a:p>
            <a:pPr marL="0" indent="0">
              <a:buNone/>
            </a:pPr>
            <a:r>
              <a:rPr lang="en-US" sz="1050" i="1" dirty="0">
                <a:solidFill>
                  <a:srgbClr val="5A6478"/>
                </a:solidFill>
                <a:latin typeface="Calibri" pitchFamily="34" charset="0"/>
                <a:ea typeface="Calibri" pitchFamily="34" charset="-122"/>
                <a:cs typeface="Calibri" pitchFamily="34" charset="-120"/>
              </a:rPr>
              <a:t>💡 Extension navigateur pratique pour les emails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Cas pratique — Automatiser la rédaction d'un email professionnel</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77240"/>
            <a:ext cx="4023360" cy="4005072"/>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9" name="Shape 7"/>
          <p:cNvSpPr/>
          <p:nvPr/>
        </p:nvSpPr>
        <p:spPr>
          <a:xfrm>
            <a:off x="274320" y="777240"/>
            <a:ext cx="4023360" cy="502920"/>
          </a:xfrm>
          <a:prstGeom prst="rect">
            <a:avLst/>
          </a:prstGeom>
          <a:solidFill>
            <a:srgbClr val="C0392B"/>
          </a:solidFill>
          <a:ln w="12700">
            <a:solidFill>
              <a:srgbClr val="C0392B"/>
            </a:solidFill>
            <a:prstDash val="solid"/>
          </a:ln>
        </p:spPr>
        <p:txBody>
          <a:bodyPr/>
          <a:lstStyle/>
          <a:p>
            <a:endParaRPr lang="fr-FR"/>
          </a:p>
        </p:txBody>
      </p:sp>
      <p:sp>
        <p:nvSpPr>
          <p:cNvPr id="10" name="Text 8"/>
          <p:cNvSpPr/>
          <p:nvPr/>
        </p:nvSpPr>
        <p:spPr>
          <a:xfrm>
            <a:off x="347472" y="795528"/>
            <a:ext cx="384048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Sans IA — Processus manuel</a:t>
            </a:r>
            <a:endParaRPr lang="en-US" sz="1300" dirty="0"/>
          </a:p>
        </p:txBody>
      </p:sp>
      <p:sp>
        <p:nvSpPr>
          <p:cNvPr id="11" name="Text 9"/>
          <p:cNvSpPr/>
          <p:nvPr/>
        </p:nvSpPr>
        <p:spPr>
          <a:xfrm>
            <a:off x="438912" y="1417320"/>
            <a:ext cx="3749040" cy="2560320"/>
          </a:xfrm>
          <a:prstGeom prst="rect">
            <a:avLst/>
          </a:prstGeom>
          <a:noFill/>
          <a:ln/>
        </p:spPr>
        <p:txBody>
          <a:bodyPr wrap="square" rtlCol="0" anchor="t"/>
          <a:lstStyle/>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1. Ouvrir sa boîte mail</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2. Chercher le précédent email de référence</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3. Réfléchir à la structure et au ton</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4. Rédiger (15-20 minutes)</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5. Relire et corriger</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6. Envoyer</a:t>
            </a:r>
            <a:endParaRPr lang="en-US" sz="1250" dirty="0"/>
          </a:p>
        </p:txBody>
      </p:sp>
      <p:sp>
        <p:nvSpPr>
          <p:cNvPr id="12" name="Shape 10"/>
          <p:cNvSpPr/>
          <p:nvPr/>
        </p:nvSpPr>
        <p:spPr>
          <a:xfrm>
            <a:off x="347472" y="4005072"/>
            <a:ext cx="3803904" cy="566928"/>
          </a:xfrm>
          <a:prstGeom prst="rect">
            <a:avLst/>
          </a:prstGeom>
          <a:solidFill>
            <a:srgbClr val="FEF0EE"/>
          </a:solidFill>
          <a:ln w="6350">
            <a:solidFill>
              <a:srgbClr val="F5B7B1"/>
            </a:solidFill>
            <a:prstDash val="solid"/>
          </a:ln>
        </p:spPr>
        <p:txBody>
          <a:bodyPr/>
          <a:lstStyle/>
          <a:p>
            <a:endParaRPr lang="fr-FR"/>
          </a:p>
        </p:txBody>
      </p:sp>
      <p:sp>
        <p:nvSpPr>
          <p:cNvPr id="13" name="Text 11"/>
          <p:cNvSpPr/>
          <p:nvPr/>
        </p:nvSpPr>
        <p:spPr>
          <a:xfrm>
            <a:off x="438912" y="4041648"/>
            <a:ext cx="3566160" cy="475488"/>
          </a:xfrm>
          <a:prstGeom prst="rect">
            <a:avLst/>
          </a:prstGeom>
          <a:noFill/>
          <a:ln/>
        </p:spPr>
        <p:txBody>
          <a:bodyPr wrap="square" rtlCol="0" anchor="ctr"/>
          <a:lstStyle/>
          <a:p>
            <a:pPr marL="0" indent="0">
              <a:buNone/>
            </a:pPr>
            <a:r>
              <a:rPr lang="en-US" sz="1250" b="1" dirty="0">
                <a:solidFill>
                  <a:srgbClr val="C0392B"/>
                </a:solidFill>
                <a:latin typeface="Calibri" pitchFamily="34" charset="0"/>
                <a:ea typeface="Calibri" pitchFamily="34" charset="-122"/>
                <a:cs typeface="Calibri" pitchFamily="34" charset="-120"/>
              </a:rPr>
              <a:t>⏱ Durée : 20 à 30 minutes</a:t>
            </a:r>
            <a:endParaRPr lang="en-US" sz="1250" dirty="0"/>
          </a:p>
        </p:txBody>
      </p:sp>
      <p:sp>
        <p:nvSpPr>
          <p:cNvPr id="14" name="Shape 12"/>
          <p:cNvSpPr/>
          <p:nvPr/>
        </p:nvSpPr>
        <p:spPr>
          <a:xfrm>
            <a:off x="4526280" y="777240"/>
            <a:ext cx="4297680" cy="4005072"/>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15" name="Shape 13"/>
          <p:cNvSpPr/>
          <p:nvPr/>
        </p:nvSpPr>
        <p:spPr>
          <a:xfrm>
            <a:off x="4526280" y="777240"/>
            <a:ext cx="4297680" cy="502920"/>
          </a:xfrm>
          <a:prstGeom prst="rect">
            <a:avLst/>
          </a:prstGeom>
          <a:solidFill>
            <a:srgbClr val="2E7D32"/>
          </a:solidFill>
          <a:ln w="12700">
            <a:solidFill>
              <a:srgbClr val="2E7D32"/>
            </a:solidFill>
            <a:prstDash val="solid"/>
          </a:ln>
        </p:spPr>
        <p:txBody>
          <a:bodyPr/>
          <a:lstStyle/>
          <a:p>
            <a:endParaRPr lang="fr-FR"/>
          </a:p>
        </p:txBody>
      </p:sp>
      <p:sp>
        <p:nvSpPr>
          <p:cNvPr id="16" name="Text 14"/>
          <p:cNvSpPr/>
          <p:nvPr/>
        </p:nvSpPr>
        <p:spPr>
          <a:xfrm>
            <a:off x="4617720" y="795528"/>
            <a:ext cx="411480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Avec IA — Processus optimisé</a:t>
            </a:r>
            <a:endParaRPr lang="en-US" sz="1300" dirty="0"/>
          </a:p>
        </p:txBody>
      </p:sp>
      <p:sp>
        <p:nvSpPr>
          <p:cNvPr id="17" name="Shape 15"/>
          <p:cNvSpPr/>
          <p:nvPr/>
        </p:nvSpPr>
        <p:spPr>
          <a:xfrm>
            <a:off x="4617720" y="1371600"/>
            <a:ext cx="4114800" cy="1371600"/>
          </a:xfrm>
          <a:prstGeom prst="rect">
            <a:avLst/>
          </a:prstGeom>
          <a:solidFill>
            <a:srgbClr val="F0F8F0"/>
          </a:solidFill>
          <a:ln w="12700">
            <a:solidFill>
              <a:srgbClr val="A8D5A2"/>
            </a:solidFill>
            <a:prstDash val="solid"/>
          </a:ln>
        </p:spPr>
        <p:txBody>
          <a:bodyPr/>
          <a:lstStyle/>
          <a:p>
            <a:endParaRPr lang="fr-FR"/>
          </a:p>
        </p:txBody>
      </p:sp>
      <p:sp>
        <p:nvSpPr>
          <p:cNvPr id="18" name="Text 16"/>
          <p:cNvSpPr/>
          <p:nvPr/>
        </p:nvSpPr>
        <p:spPr>
          <a:xfrm>
            <a:off x="4709160" y="1417320"/>
            <a:ext cx="3931920" cy="32004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Prompt :</a:t>
            </a:r>
            <a:endParaRPr lang="en-US" sz="1100" dirty="0"/>
          </a:p>
        </p:txBody>
      </p:sp>
      <p:sp>
        <p:nvSpPr>
          <p:cNvPr id="19" name="Text 17"/>
          <p:cNvSpPr/>
          <p:nvPr/>
        </p:nvSpPr>
        <p:spPr>
          <a:xfrm>
            <a:off x="4709160" y="1737360"/>
            <a:ext cx="3931920" cy="914400"/>
          </a:xfrm>
          <a:prstGeom prst="rect">
            <a:avLst/>
          </a:prstGeom>
          <a:noFill/>
          <a:ln/>
        </p:spPr>
        <p:txBody>
          <a:bodyPr wrap="square" rtlCol="0" anchor="ctr"/>
          <a:lstStyle/>
          <a:p>
            <a:pPr marL="0" indent="0">
              <a:buNone/>
            </a:pPr>
            <a:r>
              <a:rPr lang="en-US" sz="1050" i="1" dirty="0">
                <a:solidFill>
                  <a:srgbClr val="1A1A2E"/>
                </a:solidFill>
                <a:latin typeface="Calibri" pitchFamily="34" charset="0"/>
                <a:ea typeface="Calibri" pitchFamily="34" charset="-122"/>
                <a:cs typeface="Calibri" pitchFamily="34" charset="-120"/>
              </a:rPr>
              <a:t>"Rédige un email professionnel de relance à destination d'un client qui n'a pas répondu à notre devis depuis 10 jours. Ton courtois mais direct. 5 lignes maximum."</a:t>
            </a:r>
            <a:endParaRPr lang="en-US" sz="1050" dirty="0"/>
          </a:p>
        </p:txBody>
      </p:sp>
      <p:sp>
        <p:nvSpPr>
          <p:cNvPr id="20" name="Text 18"/>
          <p:cNvSpPr/>
          <p:nvPr/>
        </p:nvSpPr>
        <p:spPr>
          <a:xfrm>
            <a:off x="4617720" y="2852928"/>
            <a:ext cx="4114800" cy="960120"/>
          </a:xfrm>
          <a:prstGeom prst="rect">
            <a:avLst/>
          </a:prstGeom>
          <a:noFill/>
          <a:ln/>
        </p:spPr>
        <p:txBody>
          <a:bodyPr wrap="square" rtlCol="0" anchor="t"/>
          <a:lstStyle/>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1. Saisir le prompt (30 secondes)</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2. L'IA génère l'email (3 secondes)</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3. Relire et personnaliser si besoin</a:t>
            </a:r>
            <a:endParaRPr lang="en-US" sz="1250" dirty="0"/>
          </a:p>
          <a:p>
            <a:pPr marL="0" indent="0">
              <a:spcAft>
                <a:spcPts val="500"/>
              </a:spcAft>
              <a:buNone/>
            </a:pPr>
            <a:r>
              <a:rPr lang="en-US" sz="1250" dirty="0">
                <a:solidFill>
                  <a:srgbClr val="1A1A2E"/>
                </a:solidFill>
                <a:latin typeface="Calibri" pitchFamily="34" charset="0"/>
                <a:ea typeface="Calibri" pitchFamily="34" charset="-122"/>
                <a:cs typeface="Calibri" pitchFamily="34" charset="-120"/>
              </a:rPr>
              <a:t>4. Copier-coller et envoyer</a:t>
            </a:r>
            <a:endParaRPr lang="en-US" sz="1250" dirty="0"/>
          </a:p>
        </p:txBody>
      </p:sp>
      <p:sp>
        <p:nvSpPr>
          <p:cNvPr id="21" name="Shape 19"/>
          <p:cNvSpPr/>
          <p:nvPr/>
        </p:nvSpPr>
        <p:spPr>
          <a:xfrm>
            <a:off x="4617720" y="4005072"/>
            <a:ext cx="4133088" cy="566928"/>
          </a:xfrm>
          <a:prstGeom prst="rect">
            <a:avLst/>
          </a:prstGeom>
          <a:solidFill>
            <a:srgbClr val="EAFAEC"/>
          </a:solidFill>
          <a:ln w="6350">
            <a:solidFill>
              <a:srgbClr val="A8D5A2"/>
            </a:solidFill>
            <a:prstDash val="solid"/>
          </a:ln>
        </p:spPr>
        <p:txBody>
          <a:bodyPr/>
          <a:lstStyle/>
          <a:p>
            <a:endParaRPr lang="fr-FR"/>
          </a:p>
        </p:txBody>
      </p:sp>
      <p:sp>
        <p:nvSpPr>
          <p:cNvPr id="22" name="Text 20"/>
          <p:cNvSpPr/>
          <p:nvPr/>
        </p:nvSpPr>
        <p:spPr>
          <a:xfrm>
            <a:off x="4709160" y="4041648"/>
            <a:ext cx="3931920" cy="475488"/>
          </a:xfrm>
          <a:prstGeom prst="rect">
            <a:avLst/>
          </a:prstGeom>
          <a:noFill/>
          <a:ln/>
        </p:spPr>
        <p:txBody>
          <a:bodyPr wrap="square" rtlCol="0" anchor="ctr"/>
          <a:lstStyle/>
          <a:p>
            <a:pPr marL="0" indent="0">
              <a:buNone/>
            </a:pPr>
            <a:r>
              <a:rPr lang="en-US" sz="1250" b="1" dirty="0">
                <a:solidFill>
                  <a:srgbClr val="2E7D32"/>
                </a:solidFill>
                <a:latin typeface="Calibri" pitchFamily="34" charset="0"/>
                <a:ea typeface="Calibri" pitchFamily="34" charset="-122"/>
                <a:cs typeface="Calibri" pitchFamily="34" charset="-120"/>
              </a:rPr>
              <a:t>⚡ Durée : 2 à 3 minutes — Gain : 90% de temps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Cas pratique — Générer un rapport administratif avec l'IA</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804672"/>
            <a:ext cx="1554480" cy="1508760"/>
          </a:xfrm>
          <a:prstGeom prst="rect">
            <a:avLst/>
          </a:prstGeom>
          <a:solidFill>
            <a:srgbClr val="1A4A8A"/>
          </a:solidFill>
          <a:ln w="12700">
            <a:solidFill>
              <a:srgbClr val="1A4A8A"/>
            </a:solidFill>
            <a:prstDash val="solid"/>
          </a:ln>
          <a:effectLst>
            <a:outerShdw blurRad="76200" dist="12700" dir="8100000" algn="bl" rotWithShape="0">
              <a:srgbClr val="000000">
                <a:alpha val="10000"/>
              </a:srgbClr>
            </a:outerShdw>
          </a:effectLst>
        </p:spPr>
        <p:txBody>
          <a:bodyPr/>
          <a:lstStyle/>
          <a:p>
            <a:endParaRPr lang="fr-FR"/>
          </a:p>
        </p:txBody>
      </p:sp>
      <p:pic>
        <p:nvPicPr>
          <p:cNvPr id="9" name="Image 0" descr="preencoded.png"/>
          <p:cNvPicPr>
            <a:picLocks noChangeAspect="1"/>
          </p:cNvPicPr>
          <p:nvPr/>
        </p:nvPicPr>
        <p:blipFill>
          <a:blip r:embed="rId3"/>
          <a:stretch>
            <a:fillRect/>
          </a:stretch>
        </p:blipFill>
        <p:spPr>
          <a:xfrm>
            <a:off x="777240" y="896112"/>
            <a:ext cx="548640" cy="548640"/>
          </a:xfrm>
          <a:prstGeom prst="rect">
            <a:avLst/>
          </a:prstGeom>
        </p:spPr>
      </p:pic>
      <p:sp>
        <p:nvSpPr>
          <p:cNvPr id="10" name="Text 7"/>
          <p:cNvSpPr/>
          <p:nvPr/>
        </p:nvSpPr>
        <p:spPr>
          <a:xfrm>
            <a:off x="320040" y="1508760"/>
            <a:ext cx="146304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Données brutes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(notes, chiffres)</a:t>
            </a:r>
            <a:endParaRPr lang="en-US" sz="1100" dirty="0"/>
          </a:p>
        </p:txBody>
      </p:sp>
      <p:sp>
        <p:nvSpPr>
          <p:cNvPr id="11" name="Text 8"/>
          <p:cNvSpPr/>
          <p:nvPr/>
        </p:nvSpPr>
        <p:spPr>
          <a:xfrm>
            <a:off x="2359152" y="1188720"/>
            <a:ext cx="1097280" cy="640080"/>
          </a:xfrm>
          <a:prstGeom prst="rect">
            <a:avLst/>
          </a:prstGeom>
          <a:noFill/>
          <a:ln/>
        </p:spPr>
        <p:txBody>
          <a:bodyPr wrap="square" rtlCol="0" anchor="ctr"/>
          <a:lstStyle/>
          <a:p>
            <a:pPr marL="0" indent="0" algn="ctr">
              <a:buNone/>
            </a:pPr>
            <a:r>
              <a:rPr lang="en-US" sz="2800" b="1" dirty="0">
                <a:solidFill>
                  <a:srgbClr val="F47B20"/>
                </a:solidFill>
                <a:latin typeface="Calibri" pitchFamily="34" charset="0"/>
                <a:ea typeface="Calibri" pitchFamily="34" charset="-122"/>
                <a:cs typeface="Calibri" pitchFamily="34" charset="-120"/>
              </a:rPr>
              <a:t>→</a:t>
            </a:r>
            <a:endParaRPr lang="en-US" sz="2800" dirty="0"/>
          </a:p>
        </p:txBody>
      </p:sp>
      <p:sp>
        <p:nvSpPr>
          <p:cNvPr id="12" name="Shape 9"/>
          <p:cNvSpPr/>
          <p:nvPr/>
        </p:nvSpPr>
        <p:spPr>
          <a:xfrm>
            <a:off x="3712464" y="804672"/>
            <a:ext cx="1554480" cy="1508760"/>
          </a:xfrm>
          <a:prstGeom prst="rect">
            <a:avLst/>
          </a:prstGeom>
          <a:solidFill>
            <a:srgbClr val="F47B20"/>
          </a:solidFill>
          <a:ln w="12700">
            <a:solidFill>
              <a:srgbClr val="F47B20"/>
            </a:solidFill>
            <a:prstDash val="solid"/>
          </a:ln>
          <a:effectLst>
            <a:outerShdw blurRad="76200" dist="12700" dir="8100000" algn="bl" rotWithShape="0">
              <a:srgbClr val="000000">
                <a:alpha val="10000"/>
              </a:srgbClr>
            </a:outerShdw>
          </a:effectLst>
        </p:spPr>
        <p:txBody>
          <a:bodyPr/>
          <a:lstStyle/>
          <a:p>
            <a:endParaRPr lang="fr-FR"/>
          </a:p>
        </p:txBody>
      </p:sp>
      <p:pic>
        <p:nvPicPr>
          <p:cNvPr id="13" name="Image 1" descr="preencoded.png"/>
          <p:cNvPicPr>
            <a:picLocks noChangeAspect="1"/>
          </p:cNvPicPr>
          <p:nvPr/>
        </p:nvPicPr>
        <p:blipFill>
          <a:blip r:embed="rId4"/>
          <a:stretch>
            <a:fillRect/>
          </a:stretch>
        </p:blipFill>
        <p:spPr>
          <a:xfrm>
            <a:off x="4215384" y="896112"/>
            <a:ext cx="548640" cy="548640"/>
          </a:xfrm>
          <a:prstGeom prst="rect">
            <a:avLst/>
          </a:prstGeom>
        </p:spPr>
      </p:pic>
      <p:sp>
        <p:nvSpPr>
          <p:cNvPr id="14" name="Text 10"/>
          <p:cNvSpPr/>
          <p:nvPr/>
        </p:nvSpPr>
        <p:spPr>
          <a:xfrm>
            <a:off x="3758184" y="1508760"/>
            <a:ext cx="146304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Prompt à l'IA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(structure + ton)</a:t>
            </a:r>
            <a:endParaRPr lang="en-US" sz="1100" dirty="0"/>
          </a:p>
        </p:txBody>
      </p:sp>
      <p:sp>
        <p:nvSpPr>
          <p:cNvPr id="15" name="Text 11"/>
          <p:cNvSpPr/>
          <p:nvPr/>
        </p:nvSpPr>
        <p:spPr>
          <a:xfrm>
            <a:off x="5797296" y="1188720"/>
            <a:ext cx="1097280" cy="640080"/>
          </a:xfrm>
          <a:prstGeom prst="rect">
            <a:avLst/>
          </a:prstGeom>
          <a:noFill/>
          <a:ln/>
        </p:spPr>
        <p:txBody>
          <a:bodyPr wrap="square" rtlCol="0" anchor="ctr"/>
          <a:lstStyle/>
          <a:p>
            <a:pPr marL="0" indent="0" algn="ctr">
              <a:buNone/>
            </a:pPr>
            <a:r>
              <a:rPr lang="en-US" sz="2800" b="1" dirty="0">
                <a:solidFill>
                  <a:srgbClr val="F47B20"/>
                </a:solidFill>
                <a:latin typeface="Calibri" pitchFamily="34" charset="0"/>
                <a:ea typeface="Calibri" pitchFamily="34" charset="-122"/>
                <a:cs typeface="Calibri" pitchFamily="34" charset="-120"/>
              </a:rPr>
              <a:t>→</a:t>
            </a:r>
            <a:endParaRPr lang="en-US" sz="2800" dirty="0"/>
          </a:p>
        </p:txBody>
      </p:sp>
      <p:sp>
        <p:nvSpPr>
          <p:cNvPr id="16" name="Shape 12"/>
          <p:cNvSpPr/>
          <p:nvPr/>
        </p:nvSpPr>
        <p:spPr>
          <a:xfrm>
            <a:off x="7150608" y="804672"/>
            <a:ext cx="1554480" cy="1508760"/>
          </a:xfrm>
          <a:prstGeom prst="rect">
            <a:avLst/>
          </a:prstGeom>
          <a:solidFill>
            <a:srgbClr val="2E7D32"/>
          </a:solidFill>
          <a:ln w="12700">
            <a:solidFill>
              <a:srgbClr val="2E7D32"/>
            </a:solidFill>
            <a:prstDash val="solid"/>
          </a:ln>
          <a:effectLst>
            <a:outerShdw blurRad="76200" dist="12700" dir="8100000" algn="bl" rotWithShape="0">
              <a:srgbClr val="000000">
                <a:alpha val="10000"/>
              </a:srgbClr>
            </a:outerShdw>
          </a:effectLst>
        </p:spPr>
        <p:txBody>
          <a:bodyPr/>
          <a:lstStyle/>
          <a:p>
            <a:endParaRPr lang="fr-FR"/>
          </a:p>
        </p:txBody>
      </p:sp>
      <p:pic>
        <p:nvPicPr>
          <p:cNvPr id="17" name="Image 2" descr="preencoded.png"/>
          <p:cNvPicPr>
            <a:picLocks noChangeAspect="1"/>
          </p:cNvPicPr>
          <p:nvPr/>
        </p:nvPicPr>
        <p:blipFill>
          <a:blip r:embed="rId5"/>
          <a:stretch>
            <a:fillRect/>
          </a:stretch>
        </p:blipFill>
        <p:spPr>
          <a:xfrm>
            <a:off x="7653528" y="896112"/>
            <a:ext cx="548640" cy="548640"/>
          </a:xfrm>
          <a:prstGeom prst="rect">
            <a:avLst/>
          </a:prstGeom>
        </p:spPr>
      </p:pic>
      <p:sp>
        <p:nvSpPr>
          <p:cNvPr id="18" name="Text 13"/>
          <p:cNvSpPr/>
          <p:nvPr/>
        </p:nvSpPr>
        <p:spPr>
          <a:xfrm>
            <a:off x="7196328" y="1508760"/>
            <a:ext cx="1463040" cy="6858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Rapport structuré</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généré</a:t>
            </a:r>
            <a:endParaRPr lang="en-US" sz="1100" dirty="0"/>
          </a:p>
        </p:txBody>
      </p:sp>
      <p:sp>
        <p:nvSpPr>
          <p:cNvPr id="19" name="Shape 14"/>
          <p:cNvSpPr/>
          <p:nvPr/>
        </p:nvSpPr>
        <p:spPr>
          <a:xfrm>
            <a:off x="274320" y="2514600"/>
            <a:ext cx="4114800" cy="214884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0" name="Shape 15"/>
          <p:cNvSpPr/>
          <p:nvPr/>
        </p:nvSpPr>
        <p:spPr>
          <a:xfrm>
            <a:off x="274320" y="2514600"/>
            <a:ext cx="4114800" cy="64008"/>
          </a:xfrm>
          <a:prstGeom prst="rect">
            <a:avLst/>
          </a:prstGeom>
          <a:solidFill>
            <a:srgbClr val="1A4A8A"/>
          </a:solidFill>
          <a:ln w="12700">
            <a:solidFill>
              <a:srgbClr val="1A4A8A"/>
            </a:solidFill>
            <a:prstDash val="solid"/>
          </a:ln>
        </p:spPr>
        <p:txBody>
          <a:bodyPr/>
          <a:lstStyle/>
          <a:p>
            <a:endParaRPr lang="fr-FR"/>
          </a:p>
        </p:txBody>
      </p:sp>
      <p:sp>
        <p:nvSpPr>
          <p:cNvPr id="21" name="Text 16"/>
          <p:cNvSpPr/>
          <p:nvPr/>
        </p:nvSpPr>
        <p:spPr>
          <a:xfrm>
            <a:off x="384048" y="2606040"/>
            <a:ext cx="3840480" cy="384048"/>
          </a:xfrm>
          <a:prstGeom prst="rect">
            <a:avLst/>
          </a:prstGeom>
          <a:noFill/>
          <a:ln/>
        </p:spPr>
        <p:txBody>
          <a:bodyPr wrap="square" rtlCol="0" anchor="ctr"/>
          <a:lstStyle/>
          <a:p>
            <a:pPr marL="0" indent="0">
              <a:buNone/>
            </a:pPr>
            <a:r>
              <a:rPr lang="en-US" sz="1300" b="1" dirty="0">
                <a:solidFill>
                  <a:srgbClr val="1A4A8A"/>
                </a:solidFill>
                <a:latin typeface="Calibri" pitchFamily="34" charset="0"/>
                <a:ea typeface="Calibri" pitchFamily="34" charset="-122"/>
                <a:cs typeface="Calibri" pitchFamily="34" charset="-120"/>
              </a:rPr>
              <a:t>📝 Exemple de Prompt</a:t>
            </a:r>
            <a:endParaRPr lang="en-US" sz="1300" dirty="0"/>
          </a:p>
        </p:txBody>
      </p:sp>
      <p:sp>
        <p:nvSpPr>
          <p:cNvPr id="22" name="Text 17"/>
          <p:cNvSpPr/>
          <p:nvPr/>
        </p:nvSpPr>
        <p:spPr>
          <a:xfrm>
            <a:off x="384048" y="3063240"/>
            <a:ext cx="3886200" cy="1417320"/>
          </a:xfrm>
          <a:prstGeom prst="rect">
            <a:avLst/>
          </a:prstGeom>
          <a:noFill/>
          <a:ln/>
        </p:spPr>
        <p:txBody>
          <a:bodyPr wrap="square" rtlCol="0" anchor="t"/>
          <a:lstStyle/>
          <a:p>
            <a:pPr marL="0" indent="0">
              <a:buNone/>
            </a:pPr>
            <a:r>
              <a:rPr lang="en-US" sz="1100" i="1" dirty="0">
                <a:solidFill>
                  <a:srgbClr val="1A1A2E"/>
                </a:solidFill>
                <a:latin typeface="Calibri" pitchFamily="34" charset="0"/>
                <a:ea typeface="Calibri" pitchFamily="34" charset="-122"/>
                <a:cs typeface="Calibri" pitchFamily="34" charset="-120"/>
              </a:rPr>
              <a:t>"Génère un rapport mensuel d'activité à partir des données suivantes : [coller vos données]. Structure : Introduction, Résultats clés, Analyse, Recommandations. Ton professionnel et concis."</a:t>
            </a:r>
            <a:endParaRPr lang="en-US" sz="1100" dirty="0"/>
          </a:p>
        </p:txBody>
      </p:sp>
      <p:sp>
        <p:nvSpPr>
          <p:cNvPr id="23" name="Shape 18"/>
          <p:cNvSpPr/>
          <p:nvPr/>
        </p:nvSpPr>
        <p:spPr>
          <a:xfrm>
            <a:off x="4617720" y="2514600"/>
            <a:ext cx="4206240" cy="2148840"/>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4" name="Shape 19"/>
          <p:cNvSpPr/>
          <p:nvPr/>
        </p:nvSpPr>
        <p:spPr>
          <a:xfrm>
            <a:off x="4617720" y="2514600"/>
            <a:ext cx="4206240" cy="64008"/>
          </a:xfrm>
          <a:prstGeom prst="rect">
            <a:avLst/>
          </a:prstGeom>
          <a:solidFill>
            <a:srgbClr val="2E7D32"/>
          </a:solidFill>
          <a:ln w="12700">
            <a:solidFill>
              <a:srgbClr val="2E7D32"/>
            </a:solidFill>
            <a:prstDash val="solid"/>
          </a:ln>
        </p:spPr>
        <p:txBody>
          <a:bodyPr/>
          <a:lstStyle/>
          <a:p>
            <a:endParaRPr lang="fr-FR"/>
          </a:p>
        </p:txBody>
      </p:sp>
      <p:sp>
        <p:nvSpPr>
          <p:cNvPr id="25" name="Text 20"/>
          <p:cNvSpPr/>
          <p:nvPr/>
        </p:nvSpPr>
        <p:spPr>
          <a:xfrm>
            <a:off x="4736592" y="2606040"/>
            <a:ext cx="3931920" cy="384048"/>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 Ce que vous obtenez</a:t>
            </a:r>
            <a:endParaRPr lang="en-US" sz="1300" dirty="0"/>
          </a:p>
        </p:txBody>
      </p:sp>
      <p:sp>
        <p:nvSpPr>
          <p:cNvPr id="26" name="Text 21"/>
          <p:cNvSpPr/>
          <p:nvPr/>
        </p:nvSpPr>
        <p:spPr>
          <a:xfrm>
            <a:off x="4736592" y="3063240"/>
            <a:ext cx="3931920" cy="1463040"/>
          </a:xfrm>
          <a:prstGeom prst="rect">
            <a:avLst/>
          </a:prstGeom>
          <a:noFill/>
          <a:ln/>
        </p:spPr>
        <p:txBody>
          <a:bodyPr wrap="square" rtlCol="0" anchor="t"/>
          <a:lstStyle/>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Structure professionnelle automatique</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Introduction et conclusion rédigées</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Titres et sections mis en forme</a:t>
            </a:r>
            <a:endParaRPr lang="en-US" sz="1200" dirty="0"/>
          </a:p>
          <a:p>
            <a:pPr marL="342900" indent="-342900">
              <a:spcAft>
                <a:spcPts val="400"/>
              </a:spcAft>
              <a:buSzPct val="100000"/>
              <a:buChar char="•"/>
            </a:pPr>
            <a:r>
              <a:rPr lang="en-US" sz="1200" dirty="0">
                <a:solidFill>
                  <a:srgbClr val="1A1A2E"/>
                </a:solidFill>
                <a:latin typeface="Calibri" pitchFamily="34" charset="0"/>
                <a:ea typeface="Calibri" pitchFamily="34" charset="-122"/>
                <a:cs typeface="Calibri" pitchFamily="34" charset="-120"/>
              </a:rPr>
              <a:t>Prêt à personnaliser et envoyer</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Cas pratique — Générer un compte rendu de réunion avec l'IA</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49808"/>
            <a:ext cx="2816352" cy="402336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9" name="Shape 7"/>
          <p:cNvSpPr/>
          <p:nvPr/>
        </p:nvSpPr>
        <p:spPr>
          <a:xfrm>
            <a:off x="274320" y="749808"/>
            <a:ext cx="2816352" cy="548640"/>
          </a:xfrm>
          <a:prstGeom prst="rect">
            <a:avLst/>
          </a:prstGeom>
          <a:solidFill>
            <a:srgbClr val="1A4A8A"/>
          </a:solidFill>
          <a:ln w="12700">
            <a:solidFill>
              <a:srgbClr val="1A4A8A"/>
            </a:solidFill>
            <a:prstDash val="solid"/>
          </a:ln>
        </p:spPr>
        <p:txBody>
          <a:bodyPr/>
          <a:lstStyle/>
          <a:p>
            <a:endParaRPr lang="fr-FR"/>
          </a:p>
        </p:txBody>
      </p:sp>
      <p:pic>
        <p:nvPicPr>
          <p:cNvPr id="10" name="Image 0" descr="preencoded.png"/>
          <p:cNvPicPr>
            <a:picLocks noChangeAspect="1"/>
          </p:cNvPicPr>
          <p:nvPr/>
        </p:nvPicPr>
        <p:blipFill>
          <a:blip r:embed="rId3"/>
          <a:stretch>
            <a:fillRect/>
          </a:stretch>
        </p:blipFill>
        <p:spPr>
          <a:xfrm>
            <a:off x="384048" y="813816"/>
            <a:ext cx="420624" cy="420624"/>
          </a:xfrm>
          <a:prstGeom prst="rect">
            <a:avLst/>
          </a:prstGeom>
        </p:spPr>
      </p:pic>
      <p:sp>
        <p:nvSpPr>
          <p:cNvPr id="11" name="Text 8"/>
          <p:cNvSpPr/>
          <p:nvPr/>
        </p:nvSpPr>
        <p:spPr>
          <a:xfrm>
            <a:off x="896112" y="822960"/>
            <a:ext cx="2084832"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Méthode 1 — Transcription</a:t>
            </a:r>
            <a:endParaRPr lang="en-US" sz="1150" dirty="0"/>
          </a:p>
        </p:txBody>
      </p:sp>
      <p:sp>
        <p:nvSpPr>
          <p:cNvPr id="12" name="Text 9"/>
          <p:cNvSpPr/>
          <p:nvPr/>
        </p:nvSpPr>
        <p:spPr>
          <a:xfrm>
            <a:off x="411480" y="1417320"/>
            <a:ext cx="2578608" cy="2606040"/>
          </a:xfrm>
          <a:prstGeom prst="rect">
            <a:avLst/>
          </a:prstGeom>
          <a:noFill/>
          <a:ln/>
        </p:spPr>
        <p:txBody>
          <a:bodyPr wrap="square" rtlCol="0" anchor="t"/>
          <a:lstStyle/>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Enregistrer la réunion (Teams, Zoom)</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Utiliser Whisper ou Otter.ai pour transcrire</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Coller la transcription dans ChatGPT</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"Génère un CR structuré à partir de cette transcription"</a:t>
            </a:r>
            <a:endParaRPr lang="en-US" sz="1150" dirty="0"/>
          </a:p>
        </p:txBody>
      </p:sp>
      <p:sp>
        <p:nvSpPr>
          <p:cNvPr id="13" name="Shape 10"/>
          <p:cNvSpPr/>
          <p:nvPr/>
        </p:nvSpPr>
        <p:spPr>
          <a:xfrm>
            <a:off x="384048" y="4041648"/>
            <a:ext cx="2615184" cy="475488"/>
          </a:xfrm>
          <a:prstGeom prst="rect">
            <a:avLst/>
          </a:prstGeom>
          <a:solidFill>
            <a:srgbClr val="EEF4FF"/>
          </a:solidFill>
          <a:ln w="6350">
            <a:solidFill>
              <a:srgbClr val="C5D8F0"/>
            </a:solidFill>
            <a:prstDash val="solid"/>
          </a:ln>
        </p:spPr>
        <p:txBody>
          <a:bodyPr/>
          <a:lstStyle/>
          <a:p>
            <a:endParaRPr lang="fr-FR"/>
          </a:p>
        </p:txBody>
      </p:sp>
      <p:sp>
        <p:nvSpPr>
          <p:cNvPr id="14" name="Text 11"/>
          <p:cNvSpPr/>
          <p:nvPr/>
        </p:nvSpPr>
        <p:spPr>
          <a:xfrm>
            <a:off x="438912" y="4059936"/>
            <a:ext cx="2505456" cy="420624"/>
          </a:xfrm>
          <a:prstGeom prst="rect">
            <a:avLst/>
          </a:prstGeom>
          <a:noFill/>
          <a:ln/>
        </p:spPr>
        <p:txBody>
          <a:bodyPr wrap="square" rtlCol="0" anchor="ctr"/>
          <a:lstStyle/>
          <a:p>
            <a:pPr marL="0" indent="0">
              <a:buNone/>
            </a:pPr>
            <a:r>
              <a:rPr lang="en-US" sz="1100" b="1" dirty="0">
                <a:solidFill>
                  <a:srgbClr val="1A4A8A"/>
                </a:solidFill>
                <a:latin typeface="Calibri" pitchFamily="34" charset="0"/>
                <a:ea typeface="Calibri" pitchFamily="34" charset="-122"/>
                <a:cs typeface="Calibri" pitchFamily="34" charset="-120"/>
              </a:rPr>
              <a:t>⚡ 5 minutes après la réunion</a:t>
            </a:r>
            <a:endParaRPr lang="en-US" sz="1100" dirty="0"/>
          </a:p>
        </p:txBody>
      </p:sp>
      <p:sp>
        <p:nvSpPr>
          <p:cNvPr id="15" name="Shape 12"/>
          <p:cNvSpPr/>
          <p:nvPr/>
        </p:nvSpPr>
        <p:spPr>
          <a:xfrm>
            <a:off x="3218688" y="749808"/>
            <a:ext cx="2816352" cy="402336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16" name="Shape 13"/>
          <p:cNvSpPr/>
          <p:nvPr/>
        </p:nvSpPr>
        <p:spPr>
          <a:xfrm>
            <a:off x="3218688" y="749808"/>
            <a:ext cx="2816352" cy="548640"/>
          </a:xfrm>
          <a:prstGeom prst="rect">
            <a:avLst/>
          </a:prstGeom>
          <a:solidFill>
            <a:srgbClr val="F47B20"/>
          </a:solidFill>
          <a:ln w="12700">
            <a:solidFill>
              <a:srgbClr val="F47B20"/>
            </a:solidFill>
            <a:prstDash val="solid"/>
          </a:ln>
        </p:spPr>
        <p:txBody>
          <a:bodyPr/>
          <a:lstStyle/>
          <a:p>
            <a:endParaRPr lang="fr-FR"/>
          </a:p>
        </p:txBody>
      </p:sp>
      <p:pic>
        <p:nvPicPr>
          <p:cNvPr id="17" name="Image 1" descr="preencoded.png"/>
          <p:cNvPicPr>
            <a:picLocks noChangeAspect="1"/>
          </p:cNvPicPr>
          <p:nvPr/>
        </p:nvPicPr>
        <p:blipFill>
          <a:blip r:embed="rId4"/>
          <a:stretch>
            <a:fillRect/>
          </a:stretch>
        </p:blipFill>
        <p:spPr>
          <a:xfrm>
            <a:off x="3328416" y="813816"/>
            <a:ext cx="420624" cy="420624"/>
          </a:xfrm>
          <a:prstGeom prst="rect">
            <a:avLst/>
          </a:prstGeom>
        </p:spPr>
      </p:pic>
      <p:sp>
        <p:nvSpPr>
          <p:cNvPr id="18" name="Text 14"/>
          <p:cNvSpPr/>
          <p:nvPr/>
        </p:nvSpPr>
        <p:spPr>
          <a:xfrm>
            <a:off x="3840480" y="822960"/>
            <a:ext cx="2084832"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Méthode 2 — Notes brutes</a:t>
            </a:r>
            <a:endParaRPr lang="en-US" sz="1150" dirty="0"/>
          </a:p>
        </p:txBody>
      </p:sp>
      <p:sp>
        <p:nvSpPr>
          <p:cNvPr id="19" name="Text 15"/>
          <p:cNvSpPr/>
          <p:nvPr/>
        </p:nvSpPr>
        <p:spPr>
          <a:xfrm>
            <a:off x="3355848" y="1417320"/>
            <a:ext cx="2578608" cy="2606040"/>
          </a:xfrm>
          <a:prstGeom prst="rect">
            <a:avLst/>
          </a:prstGeom>
          <a:noFill/>
          <a:ln/>
        </p:spPr>
        <p:txBody>
          <a:bodyPr wrap="square" rtlCol="0" anchor="t"/>
          <a:lstStyle/>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Prendre des notes pendant la réunion</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Coller vos notes dans ChatGPT</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"Transforme ces notes en compte rendu professionnel"</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Ajouter : participants, date, actions à suivre</a:t>
            </a:r>
            <a:endParaRPr lang="en-US" sz="1150" dirty="0"/>
          </a:p>
        </p:txBody>
      </p:sp>
      <p:sp>
        <p:nvSpPr>
          <p:cNvPr id="20" name="Shape 16"/>
          <p:cNvSpPr/>
          <p:nvPr/>
        </p:nvSpPr>
        <p:spPr>
          <a:xfrm>
            <a:off x="3328416" y="4041648"/>
            <a:ext cx="2615184" cy="475488"/>
          </a:xfrm>
          <a:prstGeom prst="rect">
            <a:avLst/>
          </a:prstGeom>
          <a:solidFill>
            <a:srgbClr val="FFF0E6"/>
          </a:solidFill>
          <a:ln w="6350">
            <a:solidFill>
              <a:srgbClr val="C5D8F0"/>
            </a:solidFill>
            <a:prstDash val="solid"/>
          </a:ln>
        </p:spPr>
        <p:txBody>
          <a:bodyPr/>
          <a:lstStyle/>
          <a:p>
            <a:endParaRPr lang="fr-FR"/>
          </a:p>
        </p:txBody>
      </p:sp>
      <p:sp>
        <p:nvSpPr>
          <p:cNvPr id="21" name="Text 17"/>
          <p:cNvSpPr/>
          <p:nvPr/>
        </p:nvSpPr>
        <p:spPr>
          <a:xfrm>
            <a:off x="3383280" y="4059936"/>
            <a:ext cx="2505456" cy="420624"/>
          </a:xfrm>
          <a:prstGeom prst="rect">
            <a:avLst/>
          </a:prstGeom>
          <a:noFill/>
          <a:ln/>
        </p:spPr>
        <p:txBody>
          <a:bodyPr wrap="square" rtlCol="0" anchor="ctr"/>
          <a:lstStyle/>
          <a:p>
            <a:pPr marL="0" indent="0">
              <a:buNone/>
            </a:pPr>
            <a:r>
              <a:rPr lang="en-US" sz="1100" b="1" dirty="0">
                <a:solidFill>
                  <a:srgbClr val="F47B20"/>
                </a:solidFill>
                <a:latin typeface="Calibri" pitchFamily="34" charset="0"/>
                <a:ea typeface="Calibri" pitchFamily="34" charset="-122"/>
                <a:cs typeface="Calibri" pitchFamily="34" charset="-120"/>
              </a:rPr>
              <a:t>⚡ 3 minutes de traitement</a:t>
            </a:r>
            <a:endParaRPr lang="en-US" sz="1100" dirty="0"/>
          </a:p>
        </p:txBody>
      </p:sp>
      <p:sp>
        <p:nvSpPr>
          <p:cNvPr id="22" name="Shape 18"/>
          <p:cNvSpPr/>
          <p:nvPr/>
        </p:nvSpPr>
        <p:spPr>
          <a:xfrm>
            <a:off x="6163056" y="749808"/>
            <a:ext cx="2816352" cy="4023360"/>
          </a:xfrm>
          <a:prstGeom prst="rect">
            <a:avLst/>
          </a:prstGeom>
          <a:solidFill>
            <a:srgbClr val="FFFFFF"/>
          </a:solidFill>
          <a:ln w="12700">
            <a:solidFill>
              <a:srgbClr val="D5E3F7"/>
            </a:solidFill>
            <a:prstDash val="solid"/>
          </a:ln>
          <a:effectLst>
            <a:outerShdw blurRad="101600" dist="25400" dir="8100000" algn="bl" rotWithShape="0">
              <a:srgbClr val="000000">
                <a:alpha val="10000"/>
              </a:srgbClr>
            </a:outerShdw>
          </a:effectLst>
        </p:spPr>
        <p:txBody>
          <a:bodyPr/>
          <a:lstStyle/>
          <a:p>
            <a:endParaRPr lang="fr-FR"/>
          </a:p>
        </p:txBody>
      </p:sp>
      <p:sp>
        <p:nvSpPr>
          <p:cNvPr id="23" name="Shape 19"/>
          <p:cNvSpPr/>
          <p:nvPr/>
        </p:nvSpPr>
        <p:spPr>
          <a:xfrm>
            <a:off x="6163056" y="749808"/>
            <a:ext cx="2816352" cy="548640"/>
          </a:xfrm>
          <a:prstGeom prst="rect">
            <a:avLst/>
          </a:prstGeom>
          <a:solidFill>
            <a:srgbClr val="2E7D32"/>
          </a:solidFill>
          <a:ln w="12700">
            <a:solidFill>
              <a:srgbClr val="2E7D32"/>
            </a:solidFill>
            <a:prstDash val="solid"/>
          </a:ln>
        </p:spPr>
        <p:txBody>
          <a:bodyPr/>
          <a:lstStyle/>
          <a:p>
            <a:endParaRPr lang="fr-FR"/>
          </a:p>
        </p:txBody>
      </p:sp>
      <p:pic>
        <p:nvPicPr>
          <p:cNvPr id="24" name="Image 2" descr="preencoded.png"/>
          <p:cNvPicPr>
            <a:picLocks noChangeAspect="1"/>
          </p:cNvPicPr>
          <p:nvPr/>
        </p:nvPicPr>
        <p:blipFill>
          <a:blip r:embed="rId5"/>
          <a:stretch>
            <a:fillRect/>
          </a:stretch>
        </p:blipFill>
        <p:spPr>
          <a:xfrm>
            <a:off x="6272784" y="813816"/>
            <a:ext cx="420624" cy="420624"/>
          </a:xfrm>
          <a:prstGeom prst="rect">
            <a:avLst/>
          </a:prstGeom>
        </p:spPr>
      </p:pic>
      <p:sp>
        <p:nvSpPr>
          <p:cNvPr id="25" name="Text 20"/>
          <p:cNvSpPr/>
          <p:nvPr/>
        </p:nvSpPr>
        <p:spPr>
          <a:xfrm>
            <a:off x="6784848" y="822960"/>
            <a:ext cx="2084832" cy="47548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Méthode 3 — Copilot 365</a:t>
            </a:r>
            <a:endParaRPr lang="en-US" sz="1150" dirty="0"/>
          </a:p>
        </p:txBody>
      </p:sp>
      <p:sp>
        <p:nvSpPr>
          <p:cNvPr id="26" name="Text 21"/>
          <p:cNvSpPr/>
          <p:nvPr/>
        </p:nvSpPr>
        <p:spPr>
          <a:xfrm>
            <a:off x="6300216" y="1417320"/>
            <a:ext cx="2578608" cy="2606040"/>
          </a:xfrm>
          <a:prstGeom prst="rect">
            <a:avLst/>
          </a:prstGeom>
          <a:noFill/>
          <a:ln/>
        </p:spPr>
        <p:txBody>
          <a:bodyPr wrap="square" rtlCol="0" anchor="t"/>
          <a:lstStyle/>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Activer Copilot dans Teams</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Copilot transcrit et résume en temps réel</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Génère automatiquement les actions à suivre</a:t>
            </a:r>
            <a:endParaRPr lang="en-US" sz="1150" dirty="0"/>
          </a:p>
          <a:p>
            <a:pPr marL="342900" indent="-342900">
              <a:spcAft>
                <a:spcPts val="500"/>
              </a:spcAft>
              <a:buSzPct val="100000"/>
              <a:buChar char="•"/>
            </a:pPr>
            <a:r>
              <a:rPr lang="en-US" sz="1150" dirty="0">
                <a:solidFill>
                  <a:srgbClr val="1A1A2E"/>
                </a:solidFill>
                <a:latin typeface="Calibri" pitchFamily="34" charset="0"/>
                <a:ea typeface="Calibri" pitchFamily="34" charset="-122"/>
                <a:cs typeface="Calibri" pitchFamily="34" charset="-120"/>
              </a:rPr>
              <a:t>Partage direct dans les canaux Teams</a:t>
            </a:r>
            <a:endParaRPr lang="en-US" sz="1150" dirty="0"/>
          </a:p>
        </p:txBody>
      </p:sp>
      <p:sp>
        <p:nvSpPr>
          <p:cNvPr id="27" name="Shape 22"/>
          <p:cNvSpPr/>
          <p:nvPr/>
        </p:nvSpPr>
        <p:spPr>
          <a:xfrm>
            <a:off x="6272784" y="4041648"/>
            <a:ext cx="2615184" cy="475488"/>
          </a:xfrm>
          <a:prstGeom prst="rect">
            <a:avLst/>
          </a:prstGeom>
          <a:solidFill>
            <a:srgbClr val="EAFAEC"/>
          </a:solidFill>
          <a:ln w="6350">
            <a:solidFill>
              <a:srgbClr val="C5D8F0"/>
            </a:solidFill>
            <a:prstDash val="solid"/>
          </a:ln>
        </p:spPr>
        <p:txBody>
          <a:bodyPr/>
          <a:lstStyle/>
          <a:p>
            <a:endParaRPr lang="fr-FR"/>
          </a:p>
        </p:txBody>
      </p:sp>
      <p:sp>
        <p:nvSpPr>
          <p:cNvPr id="28" name="Text 23"/>
          <p:cNvSpPr/>
          <p:nvPr/>
        </p:nvSpPr>
        <p:spPr>
          <a:xfrm>
            <a:off x="6327648" y="4059936"/>
            <a:ext cx="2505456" cy="420624"/>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 Automatique si Copilot activé</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Méthode — La technique du Prompt</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77240"/>
            <a:ext cx="8595360" cy="658368"/>
          </a:xfrm>
          <a:prstGeom prst="rect">
            <a:avLst/>
          </a:prstGeom>
          <a:solidFill>
            <a:srgbClr val="FFFFFF"/>
          </a:solidFill>
          <a:ln w="12700">
            <a:solidFill>
              <a:srgbClr val="D5E3F7"/>
            </a:solidFill>
            <a:prstDash val="solid"/>
          </a:ln>
          <a:effectLst>
            <a:outerShdw blurRad="63500" dist="12700" dir="8100000" algn="bl" rotWithShape="0">
              <a:srgbClr val="000000">
                <a:alpha val="8000"/>
              </a:srgbClr>
            </a:outerShdw>
          </a:effectLst>
        </p:spPr>
        <p:txBody>
          <a:bodyPr/>
          <a:lstStyle/>
          <a:p>
            <a:endParaRPr lang="fr-FR"/>
          </a:p>
        </p:txBody>
      </p:sp>
      <p:sp>
        <p:nvSpPr>
          <p:cNvPr id="9" name="Shape 7"/>
          <p:cNvSpPr/>
          <p:nvPr/>
        </p:nvSpPr>
        <p:spPr>
          <a:xfrm>
            <a:off x="274320" y="777240"/>
            <a:ext cx="566928" cy="658368"/>
          </a:xfrm>
          <a:prstGeom prst="rect">
            <a:avLst/>
          </a:prstGeom>
          <a:solidFill>
            <a:srgbClr val="1A4A8A"/>
          </a:solidFill>
          <a:ln w="12700">
            <a:solidFill>
              <a:srgbClr val="1A4A8A"/>
            </a:solidFill>
            <a:prstDash val="solid"/>
          </a:ln>
        </p:spPr>
        <p:txBody>
          <a:bodyPr/>
          <a:lstStyle/>
          <a:p>
            <a:endParaRPr lang="fr-FR"/>
          </a:p>
        </p:txBody>
      </p:sp>
      <p:sp>
        <p:nvSpPr>
          <p:cNvPr id="10" name="Text 8"/>
          <p:cNvSpPr/>
          <p:nvPr/>
        </p:nvSpPr>
        <p:spPr>
          <a:xfrm>
            <a:off x="274320" y="777240"/>
            <a:ext cx="56692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C</a:t>
            </a:r>
            <a:endParaRPr lang="en-US" sz="2400" dirty="0"/>
          </a:p>
        </p:txBody>
      </p:sp>
      <p:sp>
        <p:nvSpPr>
          <p:cNvPr id="11" name="Text 9"/>
          <p:cNvSpPr/>
          <p:nvPr/>
        </p:nvSpPr>
        <p:spPr>
          <a:xfrm>
            <a:off x="960120" y="868680"/>
            <a:ext cx="1234440" cy="475488"/>
          </a:xfrm>
          <a:prstGeom prst="rect">
            <a:avLst/>
          </a:prstGeom>
          <a:noFill/>
          <a:ln/>
        </p:spPr>
        <p:txBody>
          <a:bodyPr wrap="square" rtlCol="0" anchor="ctr"/>
          <a:lstStyle/>
          <a:p>
            <a:pPr marL="0" indent="0">
              <a:buNone/>
            </a:pPr>
            <a:r>
              <a:rPr lang="en-US" sz="1400" b="1" dirty="0">
                <a:solidFill>
                  <a:srgbClr val="1A4A8A"/>
                </a:solidFill>
                <a:latin typeface="Calibri" pitchFamily="34" charset="0"/>
                <a:ea typeface="Calibri" pitchFamily="34" charset="-122"/>
                <a:cs typeface="Calibri" pitchFamily="34" charset="-120"/>
              </a:rPr>
              <a:t>Contexte</a:t>
            </a:r>
            <a:endParaRPr lang="en-US" sz="1400" dirty="0"/>
          </a:p>
        </p:txBody>
      </p:sp>
      <p:sp>
        <p:nvSpPr>
          <p:cNvPr id="12" name="Text 10"/>
          <p:cNvSpPr/>
          <p:nvPr/>
        </p:nvSpPr>
        <p:spPr>
          <a:xfrm>
            <a:off x="2286000" y="868680"/>
            <a:ext cx="3429000" cy="47548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Qui vous êtes, votre rôle, le contexte de la demande</a:t>
            </a:r>
            <a:endParaRPr lang="en-US" sz="1200" dirty="0"/>
          </a:p>
        </p:txBody>
      </p:sp>
      <p:sp>
        <p:nvSpPr>
          <p:cNvPr id="13" name="Shape 11"/>
          <p:cNvSpPr/>
          <p:nvPr/>
        </p:nvSpPr>
        <p:spPr>
          <a:xfrm>
            <a:off x="5806440" y="868680"/>
            <a:ext cx="2926080" cy="475488"/>
          </a:xfrm>
          <a:prstGeom prst="rect">
            <a:avLst/>
          </a:prstGeom>
          <a:solidFill>
            <a:srgbClr val="EEF4FF"/>
          </a:solidFill>
          <a:ln w="6350">
            <a:solidFill>
              <a:srgbClr val="C5D8F0"/>
            </a:solidFill>
            <a:prstDash val="solid"/>
          </a:ln>
        </p:spPr>
        <p:txBody>
          <a:bodyPr/>
          <a:lstStyle/>
          <a:p>
            <a:endParaRPr lang="fr-FR"/>
          </a:p>
        </p:txBody>
      </p:sp>
      <p:sp>
        <p:nvSpPr>
          <p:cNvPr id="14" name="Text 12"/>
          <p:cNvSpPr/>
          <p:nvPr/>
        </p:nvSpPr>
        <p:spPr>
          <a:xfrm>
            <a:off x="5870448" y="868680"/>
            <a:ext cx="2798064" cy="475488"/>
          </a:xfrm>
          <a:prstGeom prst="rect">
            <a:avLst/>
          </a:prstGeom>
          <a:noFill/>
          <a:ln/>
        </p:spPr>
        <p:txBody>
          <a:bodyPr wrap="square" rtlCol="0" anchor="ctr"/>
          <a:lstStyle/>
          <a:p>
            <a:pPr marL="0" indent="0">
              <a:buNone/>
            </a:pPr>
            <a:r>
              <a:rPr lang="en-US" sz="1050" i="1" dirty="0">
                <a:solidFill>
                  <a:srgbClr val="1A4A8A"/>
                </a:solidFill>
                <a:latin typeface="Calibri" pitchFamily="34" charset="0"/>
                <a:ea typeface="Calibri" pitchFamily="34" charset="-122"/>
                <a:cs typeface="Calibri" pitchFamily="34" charset="-120"/>
              </a:rPr>
              <a:t>"En tant qu'assistante dans une PME..."</a:t>
            </a:r>
            <a:endParaRPr lang="en-US" sz="1050" dirty="0"/>
          </a:p>
        </p:txBody>
      </p:sp>
      <p:sp>
        <p:nvSpPr>
          <p:cNvPr id="15" name="Shape 13"/>
          <p:cNvSpPr/>
          <p:nvPr/>
        </p:nvSpPr>
        <p:spPr>
          <a:xfrm>
            <a:off x="274320" y="1554480"/>
            <a:ext cx="8595360" cy="658368"/>
          </a:xfrm>
          <a:prstGeom prst="rect">
            <a:avLst/>
          </a:prstGeom>
          <a:solidFill>
            <a:srgbClr val="FFFFFF"/>
          </a:solidFill>
          <a:ln w="12700">
            <a:solidFill>
              <a:srgbClr val="D5E3F7"/>
            </a:solidFill>
            <a:prstDash val="solid"/>
          </a:ln>
          <a:effectLst>
            <a:outerShdw blurRad="63500" dist="12700" dir="8100000" algn="bl" rotWithShape="0">
              <a:srgbClr val="000000">
                <a:alpha val="8000"/>
              </a:srgbClr>
            </a:outerShdw>
          </a:effectLst>
        </p:spPr>
        <p:txBody>
          <a:bodyPr/>
          <a:lstStyle/>
          <a:p>
            <a:endParaRPr lang="fr-FR"/>
          </a:p>
        </p:txBody>
      </p:sp>
      <p:sp>
        <p:nvSpPr>
          <p:cNvPr id="16" name="Shape 14"/>
          <p:cNvSpPr/>
          <p:nvPr/>
        </p:nvSpPr>
        <p:spPr>
          <a:xfrm>
            <a:off x="274320" y="1554480"/>
            <a:ext cx="566928" cy="658368"/>
          </a:xfrm>
          <a:prstGeom prst="rect">
            <a:avLst/>
          </a:prstGeom>
          <a:solidFill>
            <a:srgbClr val="F47B20"/>
          </a:solidFill>
          <a:ln w="12700">
            <a:solidFill>
              <a:srgbClr val="F47B20"/>
            </a:solidFill>
            <a:prstDash val="solid"/>
          </a:ln>
        </p:spPr>
        <p:txBody>
          <a:bodyPr/>
          <a:lstStyle/>
          <a:p>
            <a:endParaRPr lang="fr-FR"/>
          </a:p>
        </p:txBody>
      </p:sp>
      <p:sp>
        <p:nvSpPr>
          <p:cNvPr id="17" name="Text 15"/>
          <p:cNvSpPr/>
          <p:nvPr/>
        </p:nvSpPr>
        <p:spPr>
          <a:xfrm>
            <a:off x="274320" y="1554480"/>
            <a:ext cx="56692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R</a:t>
            </a:r>
            <a:endParaRPr lang="en-US" sz="2400" dirty="0"/>
          </a:p>
        </p:txBody>
      </p:sp>
      <p:sp>
        <p:nvSpPr>
          <p:cNvPr id="18" name="Text 16"/>
          <p:cNvSpPr/>
          <p:nvPr/>
        </p:nvSpPr>
        <p:spPr>
          <a:xfrm>
            <a:off x="960120" y="1645920"/>
            <a:ext cx="1234440" cy="475488"/>
          </a:xfrm>
          <a:prstGeom prst="rect">
            <a:avLst/>
          </a:prstGeom>
          <a:noFill/>
          <a:ln/>
        </p:spPr>
        <p:txBody>
          <a:bodyPr wrap="square" rtlCol="0" anchor="ctr"/>
          <a:lstStyle/>
          <a:p>
            <a:pPr marL="0" indent="0">
              <a:buNone/>
            </a:pPr>
            <a:r>
              <a:rPr lang="en-US" sz="1400" b="1" dirty="0">
                <a:solidFill>
                  <a:srgbClr val="F47B20"/>
                </a:solidFill>
                <a:latin typeface="Calibri" pitchFamily="34" charset="0"/>
                <a:ea typeface="Calibri" pitchFamily="34" charset="-122"/>
                <a:cs typeface="Calibri" pitchFamily="34" charset="-120"/>
              </a:rPr>
              <a:t>Rôle</a:t>
            </a:r>
            <a:endParaRPr lang="en-US" sz="1400" dirty="0"/>
          </a:p>
        </p:txBody>
      </p:sp>
      <p:sp>
        <p:nvSpPr>
          <p:cNvPr id="19" name="Text 17"/>
          <p:cNvSpPr/>
          <p:nvPr/>
        </p:nvSpPr>
        <p:spPr>
          <a:xfrm>
            <a:off x="2286000" y="1645920"/>
            <a:ext cx="3429000" cy="47548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Le rôle que doit jouer l'IA</a:t>
            </a:r>
            <a:endParaRPr lang="en-US" sz="1200" dirty="0"/>
          </a:p>
        </p:txBody>
      </p:sp>
      <p:sp>
        <p:nvSpPr>
          <p:cNvPr id="20" name="Shape 18"/>
          <p:cNvSpPr/>
          <p:nvPr/>
        </p:nvSpPr>
        <p:spPr>
          <a:xfrm>
            <a:off x="5806440" y="1645920"/>
            <a:ext cx="2926080" cy="475488"/>
          </a:xfrm>
          <a:prstGeom prst="rect">
            <a:avLst/>
          </a:prstGeom>
          <a:solidFill>
            <a:srgbClr val="EEF4FF"/>
          </a:solidFill>
          <a:ln w="6350">
            <a:solidFill>
              <a:srgbClr val="C5D8F0"/>
            </a:solidFill>
            <a:prstDash val="solid"/>
          </a:ln>
        </p:spPr>
        <p:txBody>
          <a:bodyPr/>
          <a:lstStyle/>
          <a:p>
            <a:endParaRPr lang="fr-FR"/>
          </a:p>
        </p:txBody>
      </p:sp>
      <p:sp>
        <p:nvSpPr>
          <p:cNvPr id="21" name="Text 19"/>
          <p:cNvSpPr/>
          <p:nvPr/>
        </p:nvSpPr>
        <p:spPr>
          <a:xfrm>
            <a:off x="5870448" y="1645920"/>
            <a:ext cx="2798064" cy="475488"/>
          </a:xfrm>
          <a:prstGeom prst="rect">
            <a:avLst/>
          </a:prstGeom>
          <a:noFill/>
          <a:ln/>
        </p:spPr>
        <p:txBody>
          <a:bodyPr wrap="square" rtlCol="0" anchor="ctr"/>
          <a:lstStyle/>
          <a:p>
            <a:pPr marL="0" indent="0">
              <a:buNone/>
            </a:pPr>
            <a:r>
              <a:rPr lang="en-US" sz="1050" i="1" dirty="0">
                <a:solidFill>
                  <a:srgbClr val="F47B20"/>
                </a:solidFill>
                <a:latin typeface="Calibri" pitchFamily="34" charset="0"/>
                <a:ea typeface="Calibri" pitchFamily="34" charset="-122"/>
                <a:cs typeface="Calibri" pitchFamily="34" charset="-120"/>
              </a:rPr>
              <a:t>"Tu es un expert en communication B2B..."</a:t>
            </a:r>
            <a:endParaRPr lang="en-US" sz="1050" dirty="0"/>
          </a:p>
        </p:txBody>
      </p:sp>
      <p:sp>
        <p:nvSpPr>
          <p:cNvPr id="22" name="Shape 20"/>
          <p:cNvSpPr/>
          <p:nvPr/>
        </p:nvSpPr>
        <p:spPr>
          <a:xfrm>
            <a:off x="274320" y="2331720"/>
            <a:ext cx="8595360" cy="658368"/>
          </a:xfrm>
          <a:prstGeom prst="rect">
            <a:avLst/>
          </a:prstGeom>
          <a:solidFill>
            <a:srgbClr val="FFFFFF"/>
          </a:solidFill>
          <a:ln w="12700">
            <a:solidFill>
              <a:srgbClr val="D5E3F7"/>
            </a:solidFill>
            <a:prstDash val="solid"/>
          </a:ln>
          <a:effectLst>
            <a:outerShdw blurRad="63500" dist="12700" dir="8100000" algn="bl" rotWithShape="0">
              <a:srgbClr val="000000">
                <a:alpha val="8000"/>
              </a:srgbClr>
            </a:outerShdw>
          </a:effectLst>
        </p:spPr>
        <p:txBody>
          <a:bodyPr/>
          <a:lstStyle/>
          <a:p>
            <a:endParaRPr lang="fr-FR"/>
          </a:p>
        </p:txBody>
      </p:sp>
      <p:sp>
        <p:nvSpPr>
          <p:cNvPr id="23" name="Shape 21"/>
          <p:cNvSpPr/>
          <p:nvPr/>
        </p:nvSpPr>
        <p:spPr>
          <a:xfrm>
            <a:off x="274320" y="2331720"/>
            <a:ext cx="566928" cy="658368"/>
          </a:xfrm>
          <a:prstGeom prst="rect">
            <a:avLst/>
          </a:prstGeom>
          <a:solidFill>
            <a:srgbClr val="2E7D32"/>
          </a:solidFill>
          <a:ln w="12700">
            <a:solidFill>
              <a:srgbClr val="2E7D32"/>
            </a:solidFill>
            <a:prstDash val="solid"/>
          </a:ln>
        </p:spPr>
        <p:txBody>
          <a:bodyPr/>
          <a:lstStyle/>
          <a:p>
            <a:endParaRPr lang="fr-FR"/>
          </a:p>
        </p:txBody>
      </p:sp>
      <p:sp>
        <p:nvSpPr>
          <p:cNvPr id="24" name="Text 22"/>
          <p:cNvSpPr/>
          <p:nvPr/>
        </p:nvSpPr>
        <p:spPr>
          <a:xfrm>
            <a:off x="274320" y="2331720"/>
            <a:ext cx="56692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a:t>
            </a:r>
            <a:endParaRPr lang="en-US" sz="2400" dirty="0"/>
          </a:p>
        </p:txBody>
      </p:sp>
      <p:sp>
        <p:nvSpPr>
          <p:cNvPr id="25" name="Text 23"/>
          <p:cNvSpPr/>
          <p:nvPr/>
        </p:nvSpPr>
        <p:spPr>
          <a:xfrm>
            <a:off x="960120" y="2423160"/>
            <a:ext cx="1234440" cy="475488"/>
          </a:xfrm>
          <a:prstGeom prst="rect">
            <a:avLst/>
          </a:prstGeom>
          <a:noFill/>
          <a:ln/>
        </p:spPr>
        <p:txBody>
          <a:bodyPr wrap="square" rtlCol="0" anchor="ctr"/>
          <a:lstStyle/>
          <a:p>
            <a:pPr marL="0" indent="0">
              <a:buNone/>
            </a:pPr>
            <a:r>
              <a:rPr lang="en-US" sz="1400" b="1" dirty="0">
                <a:solidFill>
                  <a:srgbClr val="2E7D32"/>
                </a:solidFill>
                <a:latin typeface="Calibri" pitchFamily="34" charset="0"/>
                <a:ea typeface="Calibri" pitchFamily="34" charset="-122"/>
                <a:cs typeface="Calibri" pitchFamily="34" charset="-120"/>
              </a:rPr>
              <a:t>Action</a:t>
            </a:r>
            <a:endParaRPr lang="en-US" sz="1400" dirty="0"/>
          </a:p>
        </p:txBody>
      </p:sp>
      <p:sp>
        <p:nvSpPr>
          <p:cNvPr id="26" name="Text 24"/>
          <p:cNvSpPr/>
          <p:nvPr/>
        </p:nvSpPr>
        <p:spPr>
          <a:xfrm>
            <a:off x="2286000" y="2423160"/>
            <a:ext cx="3429000" cy="47548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La tâche précise à accomplir</a:t>
            </a:r>
            <a:endParaRPr lang="en-US" sz="1200" dirty="0"/>
          </a:p>
        </p:txBody>
      </p:sp>
      <p:sp>
        <p:nvSpPr>
          <p:cNvPr id="27" name="Shape 25"/>
          <p:cNvSpPr/>
          <p:nvPr/>
        </p:nvSpPr>
        <p:spPr>
          <a:xfrm>
            <a:off x="5806440" y="2423160"/>
            <a:ext cx="2926080" cy="475488"/>
          </a:xfrm>
          <a:prstGeom prst="rect">
            <a:avLst/>
          </a:prstGeom>
          <a:solidFill>
            <a:srgbClr val="EEF4FF"/>
          </a:solidFill>
          <a:ln w="6350">
            <a:solidFill>
              <a:srgbClr val="C5D8F0"/>
            </a:solidFill>
            <a:prstDash val="solid"/>
          </a:ln>
        </p:spPr>
        <p:txBody>
          <a:bodyPr/>
          <a:lstStyle/>
          <a:p>
            <a:endParaRPr lang="fr-FR"/>
          </a:p>
        </p:txBody>
      </p:sp>
      <p:sp>
        <p:nvSpPr>
          <p:cNvPr id="28" name="Text 26"/>
          <p:cNvSpPr/>
          <p:nvPr/>
        </p:nvSpPr>
        <p:spPr>
          <a:xfrm>
            <a:off x="5870448" y="2423160"/>
            <a:ext cx="2798064" cy="475488"/>
          </a:xfrm>
          <a:prstGeom prst="rect">
            <a:avLst/>
          </a:prstGeom>
          <a:noFill/>
          <a:ln/>
        </p:spPr>
        <p:txBody>
          <a:bodyPr wrap="square"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"Rédige un email de relance..."</a:t>
            </a:r>
            <a:endParaRPr lang="en-US" sz="1050" dirty="0"/>
          </a:p>
        </p:txBody>
      </p:sp>
      <p:sp>
        <p:nvSpPr>
          <p:cNvPr id="29" name="Shape 27"/>
          <p:cNvSpPr/>
          <p:nvPr/>
        </p:nvSpPr>
        <p:spPr>
          <a:xfrm>
            <a:off x="274320" y="3108960"/>
            <a:ext cx="8595360" cy="658368"/>
          </a:xfrm>
          <a:prstGeom prst="rect">
            <a:avLst/>
          </a:prstGeom>
          <a:solidFill>
            <a:srgbClr val="FFFFFF"/>
          </a:solidFill>
          <a:ln w="12700">
            <a:solidFill>
              <a:srgbClr val="D5E3F7"/>
            </a:solidFill>
            <a:prstDash val="solid"/>
          </a:ln>
          <a:effectLst>
            <a:outerShdw blurRad="63500" dist="12700" dir="8100000" algn="bl" rotWithShape="0">
              <a:srgbClr val="000000">
                <a:alpha val="8000"/>
              </a:srgbClr>
            </a:outerShdw>
          </a:effectLst>
        </p:spPr>
        <p:txBody>
          <a:bodyPr/>
          <a:lstStyle/>
          <a:p>
            <a:endParaRPr lang="fr-FR"/>
          </a:p>
        </p:txBody>
      </p:sp>
      <p:sp>
        <p:nvSpPr>
          <p:cNvPr id="30" name="Shape 28"/>
          <p:cNvSpPr/>
          <p:nvPr/>
        </p:nvSpPr>
        <p:spPr>
          <a:xfrm>
            <a:off x="274320" y="3108960"/>
            <a:ext cx="566928" cy="658368"/>
          </a:xfrm>
          <a:prstGeom prst="rect">
            <a:avLst/>
          </a:prstGeom>
          <a:solidFill>
            <a:srgbClr val="7B3FA0"/>
          </a:solidFill>
          <a:ln w="12700">
            <a:solidFill>
              <a:srgbClr val="7B3FA0"/>
            </a:solidFill>
            <a:prstDash val="solid"/>
          </a:ln>
        </p:spPr>
        <p:txBody>
          <a:bodyPr/>
          <a:lstStyle/>
          <a:p>
            <a:endParaRPr lang="fr-FR"/>
          </a:p>
        </p:txBody>
      </p:sp>
      <p:sp>
        <p:nvSpPr>
          <p:cNvPr id="31" name="Text 29"/>
          <p:cNvSpPr/>
          <p:nvPr/>
        </p:nvSpPr>
        <p:spPr>
          <a:xfrm>
            <a:off x="274320" y="3108960"/>
            <a:ext cx="56692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F</a:t>
            </a:r>
            <a:endParaRPr lang="en-US" sz="2400" dirty="0"/>
          </a:p>
        </p:txBody>
      </p:sp>
      <p:sp>
        <p:nvSpPr>
          <p:cNvPr id="32" name="Text 30"/>
          <p:cNvSpPr/>
          <p:nvPr/>
        </p:nvSpPr>
        <p:spPr>
          <a:xfrm>
            <a:off x="960120" y="3200400"/>
            <a:ext cx="1234440" cy="475488"/>
          </a:xfrm>
          <a:prstGeom prst="rect">
            <a:avLst/>
          </a:prstGeom>
          <a:noFill/>
          <a:ln/>
        </p:spPr>
        <p:txBody>
          <a:bodyPr wrap="square" rtlCol="0" anchor="ctr"/>
          <a:lstStyle/>
          <a:p>
            <a:pPr marL="0" indent="0">
              <a:buNone/>
            </a:pPr>
            <a:r>
              <a:rPr lang="en-US" sz="1400" b="1" dirty="0">
                <a:solidFill>
                  <a:srgbClr val="7B3FA0"/>
                </a:solidFill>
                <a:latin typeface="Calibri" pitchFamily="34" charset="0"/>
                <a:ea typeface="Calibri" pitchFamily="34" charset="-122"/>
                <a:cs typeface="Calibri" pitchFamily="34" charset="-120"/>
              </a:rPr>
              <a:t>Format</a:t>
            </a:r>
            <a:endParaRPr lang="en-US" sz="1400" dirty="0"/>
          </a:p>
        </p:txBody>
      </p:sp>
      <p:sp>
        <p:nvSpPr>
          <p:cNvPr id="33" name="Text 31"/>
          <p:cNvSpPr/>
          <p:nvPr/>
        </p:nvSpPr>
        <p:spPr>
          <a:xfrm>
            <a:off x="2286000" y="3200400"/>
            <a:ext cx="3429000" cy="47548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Longueur, structure, ton souhaité</a:t>
            </a:r>
            <a:endParaRPr lang="en-US" sz="1200" dirty="0"/>
          </a:p>
        </p:txBody>
      </p:sp>
      <p:sp>
        <p:nvSpPr>
          <p:cNvPr id="34" name="Shape 32"/>
          <p:cNvSpPr/>
          <p:nvPr/>
        </p:nvSpPr>
        <p:spPr>
          <a:xfrm>
            <a:off x="5806440" y="3200400"/>
            <a:ext cx="2926080" cy="475488"/>
          </a:xfrm>
          <a:prstGeom prst="rect">
            <a:avLst/>
          </a:prstGeom>
          <a:solidFill>
            <a:srgbClr val="EEF4FF"/>
          </a:solidFill>
          <a:ln w="6350">
            <a:solidFill>
              <a:srgbClr val="C5D8F0"/>
            </a:solidFill>
            <a:prstDash val="solid"/>
          </a:ln>
        </p:spPr>
        <p:txBody>
          <a:bodyPr/>
          <a:lstStyle/>
          <a:p>
            <a:endParaRPr lang="fr-FR"/>
          </a:p>
        </p:txBody>
      </p:sp>
      <p:sp>
        <p:nvSpPr>
          <p:cNvPr id="35" name="Text 33"/>
          <p:cNvSpPr/>
          <p:nvPr/>
        </p:nvSpPr>
        <p:spPr>
          <a:xfrm>
            <a:off x="5870448" y="3200400"/>
            <a:ext cx="2798064" cy="475488"/>
          </a:xfrm>
          <a:prstGeom prst="rect">
            <a:avLst/>
          </a:prstGeom>
          <a:noFill/>
          <a:ln/>
        </p:spPr>
        <p:txBody>
          <a:bodyPr wrap="square" rtlCol="0" anchor="ctr"/>
          <a:lstStyle/>
          <a:p>
            <a:pPr marL="0" indent="0">
              <a:buNone/>
            </a:pPr>
            <a:r>
              <a:rPr lang="en-US" sz="1050" i="1" dirty="0">
                <a:solidFill>
                  <a:srgbClr val="7B3FA0"/>
                </a:solidFill>
                <a:latin typeface="Calibri" pitchFamily="34" charset="0"/>
                <a:ea typeface="Calibri" pitchFamily="34" charset="-122"/>
                <a:cs typeface="Calibri" pitchFamily="34" charset="-120"/>
              </a:rPr>
              <a:t>"5 lignes max, ton professionnel"</a:t>
            </a:r>
            <a:endParaRPr lang="en-US" sz="1050" dirty="0"/>
          </a:p>
        </p:txBody>
      </p:sp>
      <p:sp>
        <p:nvSpPr>
          <p:cNvPr id="36" name="Shape 34"/>
          <p:cNvSpPr/>
          <p:nvPr/>
        </p:nvSpPr>
        <p:spPr>
          <a:xfrm>
            <a:off x="274320" y="3886200"/>
            <a:ext cx="8595360" cy="658368"/>
          </a:xfrm>
          <a:prstGeom prst="rect">
            <a:avLst/>
          </a:prstGeom>
          <a:solidFill>
            <a:srgbClr val="FFFFFF"/>
          </a:solidFill>
          <a:ln w="12700">
            <a:solidFill>
              <a:srgbClr val="D5E3F7"/>
            </a:solidFill>
            <a:prstDash val="solid"/>
          </a:ln>
          <a:effectLst>
            <a:outerShdw blurRad="63500" dist="12700" dir="8100000" algn="bl" rotWithShape="0">
              <a:srgbClr val="000000">
                <a:alpha val="8000"/>
              </a:srgbClr>
            </a:outerShdw>
          </a:effectLst>
        </p:spPr>
        <p:txBody>
          <a:bodyPr/>
          <a:lstStyle/>
          <a:p>
            <a:endParaRPr lang="fr-FR"/>
          </a:p>
        </p:txBody>
      </p:sp>
      <p:sp>
        <p:nvSpPr>
          <p:cNvPr id="37" name="Shape 35"/>
          <p:cNvSpPr/>
          <p:nvPr/>
        </p:nvSpPr>
        <p:spPr>
          <a:xfrm>
            <a:off x="274320" y="3886200"/>
            <a:ext cx="566928" cy="658368"/>
          </a:xfrm>
          <a:prstGeom prst="rect">
            <a:avLst/>
          </a:prstGeom>
          <a:solidFill>
            <a:srgbClr val="C0392B"/>
          </a:solidFill>
          <a:ln w="12700">
            <a:solidFill>
              <a:srgbClr val="C0392B"/>
            </a:solidFill>
            <a:prstDash val="solid"/>
          </a:ln>
        </p:spPr>
        <p:txBody>
          <a:bodyPr/>
          <a:lstStyle/>
          <a:p>
            <a:endParaRPr lang="fr-FR"/>
          </a:p>
        </p:txBody>
      </p:sp>
      <p:sp>
        <p:nvSpPr>
          <p:cNvPr id="38" name="Text 36"/>
          <p:cNvSpPr/>
          <p:nvPr/>
        </p:nvSpPr>
        <p:spPr>
          <a:xfrm>
            <a:off x="274320" y="3886200"/>
            <a:ext cx="566928" cy="658368"/>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a:t>
            </a:r>
            <a:endParaRPr lang="en-US" sz="2400" dirty="0"/>
          </a:p>
        </p:txBody>
      </p:sp>
      <p:sp>
        <p:nvSpPr>
          <p:cNvPr id="39" name="Text 37"/>
          <p:cNvSpPr/>
          <p:nvPr/>
        </p:nvSpPr>
        <p:spPr>
          <a:xfrm>
            <a:off x="960120" y="3977640"/>
            <a:ext cx="1234440" cy="475488"/>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Ton</a:t>
            </a:r>
            <a:endParaRPr lang="en-US" sz="1400" dirty="0"/>
          </a:p>
        </p:txBody>
      </p:sp>
      <p:sp>
        <p:nvSpPr>
          <p:cNvPr id="40" name="Text 38"/>
          <p:cNvSpPr/>
          <p:nvPr/>
        </p:nvSpPr>
        <p:spPr>
          <a:xfrm>
            <a:off x="2286000" y="3977640"/>
            <a:ext cx="3429000" cy="47548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Registre de langue et style attendus</a:t>
            </a:r>
            <a:endParaRPr lang="en-US" sz="1200" dirty="0"/>
          </a:p>
        </p:txBody>
      </p:sp>
      <p:sp>
        <p:nvSpPr>
          <p:cNvPr id="41" name="Shape 39"/>
          <p:cNvSpPr/>
          <p:nvPr/>
        </p:nvSpPr>
        <p:spPr>
          <a:xfrm>
            <a:off x="5806440" y="3977640"/>
            <a:ext cx="2926080" cy="475488"/>
          </a:xfrm>
          <a:prstGeom prst="rect">
            <a:avLst/>
          </a:prstGeom>
          <a:solidFill>
            <a:srgbClr val="EEF4FF"/>
          </a:solidFill>
          <a:ln w="6350">
            <a:solidFill>
              <a:srgbClr val="C5D8F0"/>
            </a:solidFill>
            <a:prstDash val="solid"/>
          </a:ln>
        </p:spPr>
        <p:txBody>
          <a:bodyPr/>
          <a:lstStyle/>
          <a:p>
            <a:endParaRPr lang="fr-FR"/>
          </a:p>
        </p:txBody>
      </p:sp>
      <p:sp>
        <p:nvSpPr>
          <p:cNvPr id="42" name="Text 40"/>
          <p:cNvSpPr/>
          <p:nvPr/>
        </p:nvSpPr>
        <p:spPr>
          <a:xfrm>
            <a:off x="5870448" y="3977640"/>
            <a:ext cx="2798064" cy="475488"/>
          </a:xfrm>
          <a:prstGeom prst="rect">
            <a:avLst/>
          </a:prstGeom>
          <a:noFill/>
          <a:ln/>
        </p:spPr>
        <p:txBody>
          <a:bodyPr wrap="square" rtlCol="0" anchor="ctr"/>
          <a:lstStyle/>
          <a:p>
            <a:pPr marL="0" indent="0">
              <a:buNone/>
            </a:pPr>
            <a:r>
              <a:rPr lang="en-US" sz="1050" i="1" dirty="0">
                <a:solidFill>
                  <a:srgbClr val="C0392B"/>
                </a:solidFill>
                <a:latin typeface="Calibri" pitchFamily="34" charset="0"/>
                <a:ea typeface="Calibri" pitchFamily="34" charset="-122"/>
                <a:cs typeface="Calibri" pitchFamily="34" charset="-120"/>
              </a:rPr>
              <a:t>"Formel, bienveillant, concis"</a:t>
            </a:r>
            <a:endParaRPr lang="en-US" sz="1050" dirty="0"/>
          </a:p>
        </p:txBody>
      </p:sp>
      <p:sp>
        <p:nvSpPr>
          <p:cNvPr id="43" name="Shape 41"/>
          <p:cNvSpPr/>
          <p:nvPr/>
        </p:nvSpPr>
        <p:spPr>
          <a:xfrm>
            <a:off x="274320" y="4663440"/>
            <a:ext cx="8595360" cy="347472"/>
          </a:xfrm>
          <a:prstGeom prst="rect">
            <a:avLst/>
          </a:prstGeom>
          <a:solidFill>
            <a:srgbClr val="0D2B5A"/>
          </a:solidFill>
          <a:ln w="12700">
            <a:solidFill>
              <a:srgbClr val="0D2B5A"/>
            </a:solidFill>
            <a:prstDash val="solid"/>
          </a:ln>
        </p:spPr>
        <p:txBody>
          <a:bodyPr/>
          <a:lstStyle/>
          <a:p>
            <a:endParaRPr lang="fr-FR"/>
          </a:p>
        </p:txBody>
      </p:sp>
      <p:sp>
        <p:nvSpPr>
          <p:cNvPr id="44" name="Text 42"/>
          <p:cNvSpPr/>
          <p:nvPr/>
        </p:nvSpPr>
        <p:spPr>
          <a:xfrm>
            <a:off x="411480" y="4681728"/>
            <a:ext cx="8321040" cy="310896"/>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Plus votre prompt est précis et complet, meilleur sera le résultat de l'IA !</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EEF4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4A8A"/>
          </a:solidFill>
          <a:ln w="12700">
            <a:solidFill>
              <a:srgbClr val="1A4A8A"/>
            </a:solidFill>
            <a:prstDash val="solid"/>
          </a:ln>
        </p:spPr>
        <p:txBody>
          <a:bodyPr/>
          <a:lstStyle/>
          <a:p>
            <a:endParaRPr lang="fr-FR"/>
          </a:p>
        </p:txBody>
      </p:sp>
      <p:sp>
        <p:nvSpPr>
          <p:cNvPr id="3" name="Shape 1"/>
          <p:cNvSpPr/>
          <p:nvPr/>
        </p:nvSpPr>
        <p:spPr>
          <a:xfrm>
            <a:off x="0" y="0"/>
            <a:ext cx="73152" cy="594360"/>
          </a:xfrm>
          <a:prstGeom prst="rect">
            <a:avLst/>
          </a:prstGeom>
          <a:solidFill>
            <a:srgbClr val="F47B20"/>
          </a:solidFill>
          <a:ln w="12700">
            <a:solidFill>
              <a:srgbClr val="F47B20"/>
            </a:solidFill>
            <a:prstDash val="solid"/>
          </a:ln>
        </p:spPr>
        <p:txBody>
          <a:bodyPr/>
          <a:lstStyle/>
          <a:p>
            <a:endParaRPr lang="fr-FR"/>
          </a:p>
        </p:txBody>
      </p:sp>
      <p:sp>
        <p:nvSpPr>
          <p:cNvPr id="4" name="Text 2"/>
          <p:cNvSpPr/>
          <p:nvPr/>
        </p:nvSpPr>
        <p:spPr>
          <a:xfrm>
            <a:off x="228600" y="0"/>
            <a:ext cx="8686800" cy="594360"/>
          </a:xfrm>
          <a:prstGeom prst="rect">
            <a:avLst/>
          </a:prstGeom>
          <a:noFill/>
          <a:ln/>
        </p:spPr>
        <p:txBody>
          <a:bodyPr wrap="square" lIns="0" tIns="0" rIns="0" bIns="0"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Module 2 · Bonnes pratiques d'utilisation de l'IA en administration</a:t>
            </a:r>
            <a:endParaRPr lang="en-US" sz="2000" dirty="0"/>
          </a:p>
        </p:txBody>
      </p:sp>
      <p:sp>
        <p:nvSpPr>
          <p:cNvPr id="5" name="Shape 3"/>
          <p:cNvSpPr/>
          <p:nvPr/>
        </p:nvSpPr>
        <p:spPr>
          <a:xfrm>
            <a:off x="0" y="4892040"/>
            <a:ext cx="9144000" cy="251460"/>
          </a:xfrm>
          <a:prstGeom prst="rect">
            <a:avLst/>
          </a:prstGeom>
          <a:solidFill>
            <a:srgbClr val="0D2B5A"/>
          </a:solidFill>
          <a:ln w="12700">
            <a:solidFill>
              <a:srgbClr val="0D2B5A"/>
            </a:solidFill>
            <a:prstDash val="solid"/>
          </a:ln>
        </p:spPr>
        <p:txBody>
          <a:bodyPr/>
          <a:lstStyle/>
          <a:p>
            <a:endParaRPr lang="fr-FR"/>
          </a:p>
        </p:txBody>
      </p:sp>
      <p:sp>
        <p:nvSpPr>
          <p:cNvPr id="6" name="Text 4"/>
          <p:cNvSpPr/>
          <p:nvPr/>
        </p:nvSpPr>
        <p:spPr>
          <a:xfrm>
            <a:off x="228600" y="4892040"/>
            <a:ext cx="5486400" cy="251460"/>
          </a:xfrm>
          <a:prstGeom prst="rect">
            <a:avLst/>
          </a:prstGeom>
          <a:noFill/>
          <a:ln/>
        </p:spPr>
        <p:txBody>
          <a:bodyPr wrap="square" lIns="0" tIns="0" rIns="0" bIns="0" rtlCol="0" anchor="ctr"/>
          <a:lstStyle/>
          <a:p>
            <a:pPr marL="0" indent="0" algn="l">
              <a:buNone/>
            </a:pPr>
            <a:r>
              <a:rPr lang="en-US" sz="900" dirty="0">
                <a:solidFill>
                  <a:srgbClr val="FFFFFF"/>
                </a:solidFill>
                <a:latin typeface="Calibri" pitchFamily="34" charset="0"/>
                <a:ea typeface="Calibri" pitchFamily="34" charset="-122"/>
                <a:cs typeface="Calibri" pitchFamily="34" charset="-120"/>
              </a:rPr>
              <a:t>Formation IA | Module 2</a:t>
            </a:r>
            <a:endParaRPr lang="en-US" sz="900" dirty="0"/>
          </a:p>
        </p:txBody>
      </p:sp>
      <p:sp>
        <p:nvSpPr>
          <p:cNvPr id="7" name="Shape 5"/>
          <p:cNvSpPr/>
          <p:nvPr/>
        </p:nvSpPr>
        <p:spPr>
          <a:xfrm>
            <a:off x="7772400" y="4914900"/>
            <a:ext cx="1143000" cy="109728"/>
          </a:xfrm>
          <a:prstGeom prst="rect">
            <a:avLst/>
          </a:prstGeom>
          <a:solidFill>
            <a:srgbClr val="F47B20"/>
          </a:solidFill>
          <a:ln w="12700">
            <a:solidFill>
              <a:srgbClr val="F47B20"/>
            </a:solidFill>
            <a:prstDash val="solid"/>
          </a:ln>
        </p:spPr>
        <p:txBody>
          <a:bodyPr/>
          <a:lstStyle/>
          <a:p>
            <a:endParaRPr lang="fr-FR"/>
          </a:p>
        </p:txBody>
      </p:sp>
      <p:sp>
        <p:nvSpPr>
          <p:cNvPr id="8" name="Shape 6"/>
          <p:cNvSpPr/>
          <p:nvPr/>
        </p:nvSpPr>
        <p:spPr>
          <a:xfrm>
            <a:off x="274320" y="777240"/>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9" name="Shape 7"/>
          <p:cNvSpPr/>
          <p:nvPr/>
        </p:nvSpPr>
        <p:spPr>
          <a:xfrm>
            <a:off x="274320" y="777240"/>
            <a:ext cx="73152" cy="1207008"/>
          </a:xfrm>
          <a:prstGeom prst="rect">
            <a:avLst/>
          </a:prstGeom>
          <a:solidFill>
            <a:srgbClr val="2E7D32"/>
          </a:solidFill>
          <a:ln w="12700">
            <a:solidFill>
              <a:srgbClr val="2E7D32"/>
            </a:solidFill>
            <a:prstDash val="solid"/>
          </a:ln>
        </p:spPr>
        <p:txBody>
          <a:bodyPr/>
          <a:lstStyle/>
          <a:p>
            <a:endParaRPr lang="fr-FR"/>
          </a:p>
        </p:txBody>
      </p:sp>
      <p:sp>
        <p:nvSpPr>
          <p:cNvPr id="10" name="Shape 8"/>
          <p:cNvSpPr/>
          <p:nvPr/>
        </p:nvSpPr>
        <p:spPr>
          <a:xfrm>
            <a:off x="475488" y="868680"/>
            <a:ext cx="777240" cy="292608"/>
          </a:xfrm>
          <a:prstGeom prst="roundRect">
            <a:avLst>
              <a:gd name="adj" fmla="val 12500"/>
            </a:avLst>
          </a:prstGeom>
          <a:solidFill>
            <a:srgbClr val="EAFAEC"/>
          </a:solidFill>
          <a:ln w="12700">
            <a:solidFill>
              <a:srgbClr val="2E7D32"/>
            </a:solidFill>
            <a:prstDash val="solid"/>
          </a:ln>
        </p:spPr>
        <p:txBody>
          <a:bodyPr/>
          <a:lstStyle/>
          <a:p>
            <a:endParaRPr lang="fr-FR"/>
          </a:p>
        </p:txBody>
      </p:sp>
      <p:sp>
        <p:nvSpPr>
          <p:cNvPr id="11" name="Text 9"/>
          <p:cNvSpPr/>
          <p:nvPr/>
        </p:nvSpPr>
        <p:spPr>
          <a:xfrm>
            <a:off x="475488" y="868680"/>
            <a:ext cx="777240" cy="292608"/>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DO</a:t>
            </a:r>
            <a:endParaRPr lang="en-US" sz="950" dirty="0"/>
          </a:p>
        </p:txBody>
      </p:sp>
      <p:pic>
        <p:nvPicPr>
          <p:cNvPr id="12" name="Image 0" descr="preencoded.png"/>
          <p:cNvPicPr>
            <a:picLocks noChangeAspect="1"/>
          </p:cNvPicPr>
          <p:nvPr/>
        </p:nvPicPr>
        <p:blipFill>
          <a:blip r:embed="rId3"/>
          <a:stretch>
            <a:fillRect/>
          </a:stretch>
        </p:blipFill>
        <p:spPr>
          <a:xfrm>
            <a:off x="1353312" y="868680"/>
            <a:ext cx="292608" cy="292608"/>
          </a:xfrm>
          <a:prstGeom prst="rect">
            <a:avLst/>
          </a:prstGeom>
        </p:spPr>
      </p:pic>
      <p:sp>
        <p:nvSpPr>
          <p:cNvPr id="13" name="Text 10"/>
          <p:cNvSpPr/>
          <p:nvPr/>
        </p:nvSpPr>
        <p:spPr>
          <a:xfrm>
            <a:off x="1737360" y="850392"/>
            <a:ext cx="2606040" cy="347472"/>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Toujours relire et valider</a:t>
            </a:r>
            <a:endParaRPr lang="en-US" sz="1300" dirty="0"/>
          </a:p>
        </p:txBody>
      </p:sp>
      <p:sp>
        <p:nvSpPr>
          <p:cNvPr id="14" name="Text 11"/>
          <p:cNvSpPr/>
          <p:nvPr/>
        </p:nvSpPr>
        <p:spPr>
          <a:xfrm>
            <a:off x="475488" y="1280160"/>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Traitez le résultat de l'IA comme un premier jet qu'il faut valider et personnaliser.</a:t>
            </a:r>
            <a:endParaRPr lang="en-US" sz="1150" dirty="0"/>
          </a:p>
        </p:txBody>
      </p:sp>
      <p:sp>
        <p:nvSpPr>
          <p:cNvPr id="15" name="Shape 12"/>
          <p:cNvSpPr/>
          <p:nvPr/>
        </p:nvSpPr>
        <p:spPr>
          <a:xfrm>
            <a:off x="4617720" y="777240"/>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16" name="Shape 13"/>
          <p:cNvSpPr/>
          <p:nvPr/>
        </p:nvSpPr>
        <p:spPr>
          <a:xfrm>
            <a:off x="4617720" y="777240"/>
            <a:ext cx="73152" cy="1207008"/>
          </a:xfrm>
          <a:prstGeom prst="rect">
            <a:avLst/>
          </a:prstGeom>
          <a:solidFill>
            <a:srgbClr val="2E7D32"/>
          </a:solidFill>
          <a:ln w="12700">
            <a:solidFill>
              <a:srgbClr val="2E7D32"/>
            </a:solidFill>
            <a:prstDash val="solid"/>
          </a:ln>
        </p:spPr>
        <p:txBody>
          <a:bodyPr/>
          <a:lstStyle/>
          <a:p>
            <a:endParaRPr lang="fr-FR"/>
          </a:p>
        </p:txBody>
      </p:sp>
      <p:sp>
        <p:nvSpPr>
          <p:cNvPr id="17" name="Shape 14"/>
          <p:cNvSpPr/>
          <p:nvPr/>
        </p:nvSpPr>
        <p:spPr>
          <a:xfrm>
            <a:off x="4818888" y="868680"/>
            <a:ext cx="777240" cy="292608"/>
          </a:xfrm>
          <a:prstGeom prst="roundRect">
            <a:avLst>
              <a:gd name="adj" fmla="val 12500"/>
            </a:avLst>
          </a:prstGeom>
          <a:solidFill>
            <a:srgbClr val="EAFAEC"/>
          </a:solidFill>
          <a:ln w="12700">
            <a:solidFill>
              <a:srgbClr val="2E7D32"/>
            </a:solidFill>
            <a:prstDash val="solid"/>
          </a:ln>
        </p:spPr>
        <p:txBody>
          <a:bodyPr/>
          <a:lstStyle/>
          <a:p>
            <a:endParaRPr lang="fr-FR"/>
          </a:p>
        </p:txBody>
      </p:sp>
      <p:sp>
        <p:nvSpPr>
          <p:cNvPr id="18" name="Text 15"/>
          <p:cNvSpPr/>
          <p:nvPr/>
        </p:nvSpPr>
        <p:spPr>
          <a:xfrm>
            <a:off x="4818888" y="868680"/>
            <a:ext cx="777240" cy="292608"/>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DO</a:t>
            </a:r>
            <a:endParaRPr lang="en-US" sz="950" dirty="0"/>
          </a:p>
        </p:txBody>
      </p:sp>
      <p:pic>
        <p:nvPicPr>
          <p:cNvPr id="19" name="Image 1" descr="preencoded.png"/>
          <p:cNvPicPr>
            <a:picLocks noChangeAspect="1"/>
          </p:cNvPicPr>
          <p:nvPr/>
        </p:nvPicPr>
        <p:blipFill>
          <a:blip r:embed="rId3"/>
          <a:stretch>
            <a:fillRect/>
          </a:stretch>
        </p:blipFill>
        <p:spPr>
          <a:xfrm>
            <a:off x="5696712" y="868680"/>
            <a:ext cx="292608" cy="292608"/>
          </a:xfrm>
          <a:prstGeom prst="rect">
            <a:avLst/>
          </a:prstGeom>
        </p:spPr>
      </p:pic>
      <p:sp>
        <p:nvSpPr>
          <p:cNvPr id="20" name="Text 16"/>
          <p:cNvSpPr/>
          <p:nvPr/>
        </p:nvSpPr>
        <p:spPr>
          <a:xfrm>
            <a:off x="6080760" y="850392"/>
            <a:ext cx="2606040" cy="347472"/>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Itérer sur vos prompts</a:t>
            </a:r>
            <a:endParaRPr lang="en-US" sz="1300" dirty="0"/>
          </a:p>
        </p:txBody>
      </p:sp>
      <p:sp>
        <p:nvSpPr>
          <p:cNvPr id="21" name="Text 17"/>
          <p:cNvSpPr/>
          <p:nvPr/>
        </p:nvSpPr>
        <p:spPr>
          <a:xfrm>
            <a:off x="4818888" y="1280160"/>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Si le résultat ne vous convient pas, précisez votre demande ou demandez une variante.</a:t>
            </a:r>
            <a:endParaRPr lang="en-US" sz="1150" dirty="0"/>
          </a:p>
        </p:txBody>
      </p:sp>
      <p:sp>
        <p:nvSpPr>
          <p:cNvPr id="22" name="Shape 18"/>
          <p:cNvSpPr/>
          <p:nvPr/>
        </p:nvSpPr>
        <p:spPr>
          <a:xfrm>
            <a:off x="274320" y="2130552"/>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23" name="Shape 19"/>
          <p:cNvSpPr/>
          <p:nvPr/>
        </p:nvSpPr>
        <p:spPr>
          <a:xfrm>
            <a:off x="274320" y="2130552"/>
            <a:ext cx="73152" cy="1207008"/>
          </a:xfrm>
          <a:prstGeom prst="rect">
            <a:avLst/>
          </a:prstGeom>
          <a:solidFill>
            <a:srgbClr val="2E7D32"/>
          </a:solidFill>
          <a:ln w="12700">
            <a:solidFill>
              <a:srgbClr val="2E7D32"/>
            </a:solidFill>
            <a:prstDash val="solid"/>
          </a:ln>
        </p:spPr>
        <p:txBody>
          <a:bodyPr/>
          <a:lstStyle/>
          <a:p>
            <a:endParaRPr lang="fr-FR"/>
          </a:p>
        </p:txBody>
      </p:sp>
      <p:sp>
        <p:nvSpPr>
          <p:cNvPr id="24" name="Shape 20"/>
          <p:cNvSpPr/>
          <p:nvPr/>
        </p:nvSpPr>
        <p:spPr>
          <a:xfrm>
            <a:off x="475488" y="2221992"/>
            <a:ext cx="777240" cy="292608"/>
          </a:xfrm>
          <a:prstGeom prst="roundRect">
            <a:avLst>
              <a:gd name="adj" fmla="val 12500"/>
            </a:avLst>
          </a:prstGeom>
          <a:solidFill>
            <a:srgbClr val="EAFAEC"/>
          </a:solidFill>
          <a:ln w="12700">
            <a:solidFill>
              <a:srgbClr val="2E7D32"/>
            </a:solidFill>
            <a:prstDash val="solid"/>
          </a:ln>
        </p:spPr>
        <p:txBody>
          <a:bodyPr/>
          <a:lstStyle/>
          <a:p>
            <a:endParaRPr lang="fr-FR"/>
          </a:p>
        </p:txBody>
      </p:sp>
      <p:sp>
        <p:nvSpPr>
          <p:cNvPr id="25" name="Text 21"/>
          <p:cNvSpPr/>
          <p:nvPr/>
        </p:nvSpPr>
        <p:spPr>
          <a:xfrm>
            <a:off x="475488" y="2221992"/>
            <a:ext cx="777240" cy="292608"/>
          </a:xfrm>
          <a:prstGeom prst="rect">
            <a:avLst/>
          </a:prstGeom>
          <a:noFill/>
          <a:ln/>
        </p:spPr>
        <p:txBody>
          <a:bodyPr wrap="square" rtlCol="0" anchor="ctr"/>
          <a:lstStyle/>
          <a:p>
            <a:pPr marL="0" indent="0" algn="ctr">
              <a:buNone/>
            </a:pPr>
            <a:r>
              <a:rPr lang="en-US" sz="950" b="1" dirty="0">
                <a:solidFill>
                  <a:srgbClr val="2E7D32"/>
                </a:solidFill>
                <a:latin typeface="Calibri" pitchFamily="34" charset="0"/>
                <a:ea typeface="Calibri" pitchFamily="34" charset="-122"/>
                <a:cs typeface="Calibri" pitchFamily="34" charset="-120"/>
              </a:rPr>
              <a:t>DO</a:t>
            </a:r>
            <a:endParaRPr lang="en-US" sz="950" dirty="0"/>
          </a:p>
        </p:txBody>
      </p:sp>
      <p:pic>
        <p:nvPicPr>
          <p:cNvPr id="26" name="Image 2" descr="preencoded.png"/>
          <p:cNvPicPr>
            <a:picLocks noChangeAspect="1"/>
          </p:cNvPicPr>
          <p:nvPr/>
        </p:nvPicPr>
        <p:blipFill>
          <a:blip r:embed="rId3"/>
          <a:stretch>
            <a:fillRect/>
          </a:stretch>
        </p:blipFill>
        <p:spPr>
          <a:xfrm>
            <a:off x="1353312" y="2221992"/>
            <a:ext cx="292608" cy="292608"/>
          </a:xfrm>
          <a:prstGeom prst="rect">
            <a:avLst/>
          </a:prstGeom>
        </p:spPr>
      </p:pic>
      <p:sp>
        <p:nvSpPr>
          <p:cNvPr id="27" name="Text 22"/>
          <p:cNvSpPr/>
          <p:nvPr/>
        </p:nvSpPr>
        <p:spPr>
          <a:xfrm>
            <a:off x="1737360" y="2203704"/>
            <a:ext cx="2606040" cy="347472"/>
          </a:xfrm>
          <a:prstGeom prst="rect">
            <a:avLst/>
          </a:prstGeom>
          <a:noFill/>
          <a:ln/>
        </p:spPr>
        <p:txBody>
          <a:bodyPr wrap="square" lIns="0" tIns="0" rIns="0" bIns="0"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Sauvegarder vos meilleurs prompts</a:t>
            </a:r>
            <a:endParaRPr lang="en-US" sz="1300" dirty="0"/>
          </a:p>
        </p:txBody>
      </p:sp>
      <p:sp>
        <p:nvSpPr>
          <p:cNvPr id="28" name="Text 23"/>
          <p:cNvSpPr/>
          <p:nvPr/>
        </p:nvSpPr>
        <p:spPr>
          <a:xfrm>
            <a:off x="475488" y="2633472"/>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Créez une bibliothèque de prompts efficaces réutilisables au quotidien.</a:t>
            </a:r>
            <a:endParaRPr lang="en-US" sz="1150" dirty="0"/>
          </a:p>
        </p:txBody>
      </p:sp>
      <p:sp>
        <p:nvSpPr>
          <p:cNvPr id="29" name="Shape 24"/>
          <p:cNvSpPr/>
          <p:nvPr/>
        </p:nvSpPr>
        <p:spPr>
          <a:xfrm>
            <a:off x="4617720" y="2130552"/>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30" name="Shape 25"/>
          <p:cNvSpPr/>
          <p:nvPr/>
        </p:nvSpPr>
        <p:spPr>
          <a:xfrm>
            <a:off x="4617720" y="2130552"/>
            <a:ext cx="73152" cy="1207008"/>
          </a:xfrm>
          <a:prstGeom prst="rect">
            <a:avLst/>
          </a:prstGeom>
          <a:solidFill>
            <a:srgbClr val="C0392B"/>
          </a:solidFill>
          <a:ln w="12700">
            <a:solidFill>
              <a:srgbClr val="C0392B"/>
            </a:solidFill>
            <a:prstDash val="solid"/>
          </a:ln>
        </p:spPr>
        <p:txBody>
          <a:bodyPr/>
          <a:lstStyle/>
          <a:p>
            <a:endParaRPr lang="fr-FR"/>
          </a:p>
        </p:txBody>
      </p:sp>
      <p:sp>
        <p:nvSpPr>
          <p:cNvPr id="31" name="Shape 26"/>
          <p:cNvSpPr/>
          <p:nvPr/>
        </p:nvSpPr>
        <p:spPr>
          <a:xfrm>
            <a:off x="4818888" y="2221992"/>
            <a:ext cx="777240" cy="292608"/>
          </a:xfrm>
          <a:prstGeom prst="roundRect">
            <a:avLst>
              <a:gd name="adj" fmla="val 12500"/>
            </a:avLst>
          </a:prstGeom>
          <a:solidFill>
            <a:srgbClr val="FEF0EE"/>
          </a:solidFill>
          <a:ln w="12700">
            <a:solidFill>
              <a:srgbClr val="C0392B"/>
            </a:solidFill>
            <a:prstDash val="solid"/>
          </a:ln>
        </p:spPr>
        <p:txBody>
          <a:bodyPr/>
          <a:lstStyle/>
          <a:p>
            <a:endParaRPr lang="fr-FR"/>
          </a:p>
        </p:txBody>
      </p:sp>
      <p:sp>
        <p:nvSpPr>
          <p:cNvPr id="32" name="Text 27"/>
          <p:cNvSpPr/>
          <p:nvPr/>
        </p:nvSpPr>
        <p:spPr>
          <a:xfrm>
            <a:off x="4818888" y="2221992"/>
            <a:ext cx="777240" cy="292608"/>
          </a:xfrm>
          <a:prstGeom prst="rect">
            <a:avLst/>
          </a:prstGeom>
          <a:noFill/>
          <a:ln/>
        </p:spPr>
        <p:txBody>
          <a:bodyPr wrap="square" rtlCol="0" anchor="ctr"/>
          <a:lstStyle/>
          <a:p>
            <a:pPr marL="0" indent="0" algn="ctr">
              <a:buNone/>
            </a:pPr>
            <a:r>
              <a:rPr lang="en-US" sz="950" b="1" dirty="0">
                <a:solidFill>
                  <a:srgbClr val="C0392B"/>
                </a:solidFill>
                <a:latin typeface="Calibri" pitchFamily="34" charset="0"/>
                <a:ea typeface="Calibri" pitchFamily="34" charset="-122"/>
                <a:cs typeface="Calibri" pitchFamily="34" charset="-120"/>
              </a:rPr>
              <a:t>DON'T</a:t>
            </a:r>
            <a:endParaRPr lang="en-US" sz="950" dirty="0"/>
          </a:p>
        </p:txBody>
      </p:sp>
      <p:pic>
        <p:nvPicPr>
          <p:cNvPr id="33" name="Image 3" descr="preencoded.png"/>
          <p:cNvPicPr>
            <a:picLocks noChangeAspect="1"/>
          </p:cNvPicPr>
          <p:nvPr/>
        </p:nvPicPr>
        <p:blipFill>
          <a:blip r:embed="rId4"/>
          <a:stretch>
            <a:fillRect/>
          </a:stretch>
        </p:blipFill>
        <p:spPr>
          <a:xfrm>
            <a:off x="5696712" y="2221992"/>
            <a:ext cx="292608" cy="292608"/>
          </a:xfrm>
          <a:prstGeom prst="rect">
            <a:avLst/>
          </a:prstGeom>
        </p:spPr>
      </p:pic>
      <p:sp>
        <p:nvSpPr>
          <p:cNvPr id="34" name="Text 28"/>
          <p:cNvSpPr/>
          <p:nvPr/>
        </p:nvSpPr>
        <p:spPr>
          <a:xfrm>
            <a:off x="6080760" y="2203704"/>
            <a:ext cx="2606040" cy="347472"/>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Saisir des données confidentielles</a:t>
            </a:r>
            <a:endParaRPr lang="en-US" sz="1300" dirty="0"/>
          </a:p>
        </p:txBody>
      </p:sp>
      <p:sp>
        <p:nvSpPr>
          <p:cNvPr id="35" name="Text 29"/>
          <p:cNvSpPr/>
          <p:nvPr/>
        </p:nvSpPr>
        <p:spPr>
          <a:xfrm>
            <a:off x="4818888" y="2633472"/>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Ne jamais entrer des données personnelles, financières ou stratégiques dans un outil public.</a:t>
            </a:r>
            <a:endParaRPr lang="en-US" sz="1150" dirty="0"/>
          </a:p>
        </p:txBody>
      </p:sp>
      <p:sp>
        <p:nvSpPr>
          <p:cNvPr id="36" name="Shape 30"/>
          <p:cNvSpPr/>
          <p:nvPr/>
        </p:nvSpPr>
        <p:spPr>
          <a:xfrm>
            <a:off x="274320" y="3483864"/>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37" name="Shape 31"/>
          <p:cNvSpPr/>
          <p:nvPr/>
        </p:nvSpPr>
        <p:spPr>
          <a:xfrm>
            <a:off x="274320" y="3483864"/>
            <a:ext cx="73152" cy="1207008"/>
          </a:xfrm>
          <a:prstGeom prst="rect">
            <a:avLst/>
          </a:prstGeom>
          <a:solidFill>
            <a:srgbClr val="C0392B"/>
          </a:solidFill>
          <a:ln w="12700">
            <a:solidFill>
              <a:srgbClr val="C0392B"/>
            </a:solidFill>
            <a:prstDash val="solid"/>
          </a:ln>
        </p:spPr>
        <p:txBody>
          <a:bodyPr/>
          <a:lstStyle/>
          <a:p>
            <a:endParaRPr lang="fr-FR"/>
          </a:p>
        </p:txBody>
      </p:sp>
      <p:sp>
        <p:nvSpPr>
          <p:cNvPr id="38" name="Shape 32"/>
          <p:cNvSpPr/>
          <p:nvPr/>
        </p:nvSpPr>
        <p:spPr>
          <a:xfrm>
            <a:off x="475488" y="3575304"/>
            <a:ext cx="777240" cy="292608"/>
          </a:xfrm>
          <a:prstGeom prst="roundRect">
            <a:avLst>
              <a:gd name="adj" fmla="val 12500"/>
            </a:avLst>
          </a:prstGeom>
          <a:solidFill>
            <a:srgbClr val="FEF0EE"/>
          </a:solidFill>
          <a:ln w="12700">
            <a:solidFill>
              <a:srgbClr val="C0392B"/>
            </a:solidFill>
            <a:prstDash val="solid"/>
          </a:ln>
        </p:spPr>
        <p:txBody>
          <a:bodyPr/>
          <a:lstStyle/>
          <a:p>
            <a:endParaRPr lang="fr-FR"/>
          </a:p>
        </p:txBody>
      </p:sp>
      <p:sp>
        <p:nvSpPr>
          <p:cNvPr id="39" name="Text 33"/>
          <p:cNvSpPr/>
          <p:nvPr/>
        </p:nvSpPr>
        <p:spPr>
          <a:xfrm>
            <a:off x="475488" y="3575304"/>
            <a:ext cx="777240" cy="292608"/>
          </a:xfrm>
          <a:prstGeom prst="rect">
            <a:avLst/>
          </a:prstGeom>
          <a:noFill/>
          <a:ln/>
        </p:spPr>
        <p:txBody>
          <a:bodyPr wrap="square" rtlCol="0" anchor="ctr"/>
          <a:lstStyle/>
          <a:p>
            <a:pPr marL="0" indent="0" algn="ctr">
              <a:buNone/>
            </a:pPr>
            <a:r>
              <a:rPr lang="en-US" sz="950" b="1" dirty="0">
                <a:solidFill>
                  <a:srgbClr val="C0392B"/>
                </a:solidFill>
                <a:latin typeface="Calibri" pitchFamily="34" charset="0"/>
                <a:ea typeface="Calibri" pitchFamily="34" charset="-122"/>
                <a:cs typeface="Calibri" pitchFamily="34" charset="-120"/>
              </a:rPr>
              <a:t>DON'T</a:t>
            </a:r>
            <a:endParaRPr lang="en-US" sz="950" dirty="0"/>
          </a:p>
        </p:txBody>
      </p:sp>
      <p:pic>
        <p:nvPicPr>
          <p:cNvPr id="40" name="Image 4" descr="preencoded.png"/>
          <p:cNvPicPr>
            <a:picLocks noChangeAspect="1"/>
          </p:cNvPicPr>
          <p:nvPr/>
        </p:nvPicPr>
        <p:blipFill>
          <a:blip r:embed="rId4"/>
          <a:stretch>
            <a:fillRect/>
          </a:stretch>
        </p:blipFill>
        <p:spPr>
          <a:xfrm>
            <a:off x="1353312" y="3575304"/>
            <a:ext cx="292608" cy="292608"/>
          </a:xfrm>
          <a:prstGeom prst="rect">
            <a:avLst/>
          </a:prstGeom>
        </p:spPr>
      </p:pic>
      <p:sp>
        <p:nvSpPr>
          <p:cNvPr id="41" name="Text 34"/>
          <p:cNvSpPr/>
          <p:nvPr/>
        </p:nvSpPr>
        <p:spPr>
          <a:xfrm>
            <a:off x="1737360" y="3557016"/>
            <a:ext cx="2606040" cy="347472"/>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Publier sans relecture</a:t>
            </a:r>
            <a:endParaRPr lang="en-US" sz="1300" dirty="0"/>
          </a:p>
        </p:txBody>
      </p:sp>
      <p:sp>
        <p:nvSpPr>
          <p:cNvPr id="42" name="Text 35"/>
          <p:cNvSpPr/>
          <p:nvPr/>
        </p:nvSpPr>
        <p:spPr>
          <a:xfrm>
            <a:off x="475488" y="3986784"/>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Un email ou rapport généré par IA doit toujours être lu par un humain avant envoi.</a:t>
            </a:r>
            <a:endParaRPr lang="en-US" sz="1150" dirty="0"/>
          </a:p>
        </p:txBody>
      </p:sp>
      <p:sp>
        <p:nvSpPr>
          <p:cNvPr id="43" name="Shape 36"/>
          <p:cNvSpPr/>
          <p:nvPr/>
        </p:nvSpPr>
        <p:spPr>
          <a:xfrm>
            <a:off x="4617720" y="3483864"/>
            <a:ext cx="4206240" cy="1207008"/>
          </a:xfrm>
          <a:prstGeom prst="rect">
            <a:avLst/>
          </a:prstGeom>
          <a:solidFill>
            <a:srgbClr val="FFFFFF"/>
          </a:solidFill>
          <a:ln w="12700">
            <a:solidFill>
              <a:srgbClr val="D5E3F7"/>
            </a:solidFill>
            <a:prstDash val="solid"/>
          </a:ln>
          <a:effectLst>
            <a:outerShdw blurRad="76200" dist="12700" dir="8100000" algn="bl" rotWithShape="0">
              <a:srgbClr val="000000">
                <a:alpha val="9000"/>
              </a:srgbClr>
            </a:outerShdw>
          </a:effectLst>
        </p:spPr>
        <p:txBody>
          <a:bodyPr/>
          <a:lstStyle/>
          <a:p>
            <a:endParaRPr lang="fr-FR"/>
          </a:p>
        </p:txBody>
      </p:sp>
      <p:sp>
        <p:nvSpPr>
          <p:cNvPr id="44" name="Shape 37"/>
          <p:cNvSpPr/>
          <p:nvPr/>
        </p:nvSpPr>
        <p:spPr>
          <a:xfrm>
            <a:off x="4617720" y="3483864"/>
            <a:ext cx="73152" cy="1207008"/>
          </a:xfrm>
          <a:prstGeom prst="rect">
            <a:avLst/>
          </a:prstGeom>
          <a:solidFill>
            <a:srgbClr val="C0392B"/>
          </a:solidFill>
          <a:ln w="12700">
            <a:solidFill>
              <a:srgbClr val="C0392B"/>
            </a:solidFill>
            <a:prstDash val="solid"/>
          </a:ln>
        </p:spPr>
        <p:txBody>
          <a:bodyPr/>
          <a:lstStyle/>
          <a:p>
            <a:endParaRPr lang="fr-FR"/>
          </a:p>
        </p:txBody>
      </p:sp>
      <p:sp>
        <p:nvSpPr>
          <p:cNvPr id="45" name="Shape 38"/>
          <p:cNvSpPr/>
          <p:nvPr/>
        </p:nvSpPr>
        <p:spPr>
          <a:xfrm>
            <a:off x="4818888" y="3575304"/>
            <a:ext cx="777240" cy="292608"/>
          </a:xfrm>
          <a:prstGeom prst="roundRect">
            <a:avLst>
              <a:gd name="adj" fmla="val 12500"/>
            </a:avLst>
          </a:prstGeom>
          <a:solidFill>
            <a:srgbClr val="FEF0EE"/>
          </a:solidFill>
          <a:ln w="12700">
            <a:solidFill>
              <a:srgbClr val="C0392B"/>
            </a:solidFill>
            <a:prstDash val="solid"/>
          </a:ln>
        </p:spPr>
        <p:txBody>
          <a:bodyPr/>
          <a:lstStyle/>
          <a:p>
            <a:endParaRPr lang="fr-FR"/>
          </a:p>
        </p:txBody>
      </p:sp>
      <p:sp>
        <p:nvSpPr>
          <p:cNvPr id="46" name="Text 39"/>
          <p:cNvSpPr/>
          <p:nvPr/>
        </p:nvSpPr>
        <p:spPr>
          <a:xfrm>
            <a:off x="4818888" y="3575304"/>
            <a:ext cx="777240" cy="292608"/>
          </a:xfrm>
          <a:prstGeom prst="rect">
            <a:avLst/>
          </a:prstGeom>
          <a:noFill/>
          <a:ln/>
        </p:spPr>
        <p:txBody>
          <a:bodyPr wrap="square" rtlCol="0" anchor="ctr"/>
          <a:lstStyle/>
          <a:p>
            <a:pPr marL="0" indent="0" algn="ctr">
              <a:buNone/>
            </a:pPr>
            <a:r>
              <a:rPr lang="en-US" sz="950" b="1" dirty="0">
                <a:solidFill>
                  <a:srgbClr val="C0392B"/>
                </a:solidFill>
                <a:latin typeface="Calibri" pitchFamily="34" charset="0"/>
                <a:ea typeface="Calibri" pitchFamily="34" charset="-122"/>
                <a:cs typeface="Calibri" pitchFamily="34" charset="-120"/>
              </a:rPr>
              <a:t>DON'T</a:t>
            </a:r>
            <a:endParaRPr lang="en-US" sz="950" dirty="0"/>
          </a:p>
        </p:txBody>
      </p:sp>
      <p:pic>
        <p:nvPicPr>
          <p:cNvPr id="47" name="Image 5" descr="preencoded.png"/>
          <p:cNvPicPr>
            <a:picLocks noChangeAspect="1"/>
          </p:cNvPicPr>
          <p:nvPr/>
        </p:nvPicPr>
        <p:blipFill>
          <a:blip r:embed="rId4"/>
          <a:stretch>
            <a:fillRect/>
          </a:stretch>
        </p:blipFill>
        <p:spPr>
          <a:xfrm>
            <a:off x="5696712" y="3575304"/>
            <a:ext cx="292608" cy="292608"/>
          </a:xfrm>
          <a:prstGeom prst="rect">
            <a:avLst/>
          </a:prstGeom>
        </p:spPr>
      </p:pic>
      <p:sp>
        <p:nvSpPr>
          <p:cNvPr id="48" name="Text 40"/>
          <p:cNvSpPr/>
          <p:nvPr/>
        </p:nvSpPr>
        <p:spPr>
          <a:xfrm>
            <a:off x="6080760" y="3557016"/>
            <a:ext cx="2606040" cy="347472"/>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Faire aveuglément confiance</a:t>
            </a:r>
            <a:endParaRPr lang="en-US" sz="1300" dirty="0"/>
          </a:p>
        </p:txBody>
      </p:sp>
      <p:sp>
        <p:nvSpPr>
          <p:cNvPr id="49" name="Text 41"/>
          <p:cNvSpPr/>
          <p:nvPr/>
        </p:nvSpPr>
        <p:spPr>
          <a:xfrm>
            <a:off x="4818888" y="3986784"/>
            <a:ext cx="3858768" cy="640080"/>
          </a:xfrm>
          <a:prstGeom prst="rect">
            <a:avLst/>
          </a:prstGeom>
          <a:noFill/>
          <a:ln/>
        </p:spPr>
        <p:txBody>
          <a:bodyPr wrap="square" rtlCol="0" anchor="t"/>
          <a:lstStyle/>
          <a:p>
            <a:pPr marL="0" indent="0">
              <a:buNone/>
            </a:pPr>
            <a:r>
              <a:rPr lang="en-US" sz="1150" dirty="0">
                <a:solidFill>
                  <a:srgbClr val="5A6478"/>
                </a:solidFill>
                <a:latin typeface="Calibri" pitchFamily="34" charset="0"/>
                <a:ea typeface="Calibri" pitchFamily="34" charset="-122"/>
                <a:cs typeface="Calibri" pitchFamily="34" charset="-120"/>
              </a:rPr>
              <a:t>Vérifiez les faits, chiffres et références fournis par l'IA sur des sources fiables.</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0D2B5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F47B20"/>
          </a:solidFill>
          <a:ln w="12700">
            <a:solidFill>
              <a:srgbClr val="F47B20"/>
            </a:solidFill>
            <a:prstDash val="solid"/>
          </a:ln>
        </p:spPr>
        <p:txBody>
          <a:bodyPr/>
          <a:lstStyle/>
          <a:p>
            <a:endParaRPr lang="fr-FR"/>
          </a:p>
        </p:txBody>
      </p:sp>
      <p:pic>
        <p:nvPicPr>
          <p:cNvPr id="3" name="Image 0" descr="preencoded.png"/>
          <p:cNvPicPr>
            <a:picLocks noChangeAspect="1"/>
          </p:cNvPicPr>
          <p:nvPr/>
        </p:nvPicPr>
        <p:blipFill>
          <a:blip r:embed="rId3"/>
          <a:stretch>
            <a:fillRect/>
          </a:stretch>
        </p:blipFill>
        <p:spPr>
          <a:xfrm>
            <a:off x="6949440" y="822960"/>
            <a:ext cx="1737360" cy="1737360"/>
          </a:xfrm>
          <a:prstGeom prst="rect">
            <a:avLst/>
          </a:prstGeom>
        </p:spPr>
      </p:pic>
      <p:sp>
        <p:nvSpPr>
          <p:cNvPr id="4" name="Text 1"/>
          <p:cNvSpPr/>
          <p:nvPr/>
        </p:nvSpPr>
        <p:spPr>
          <a:xfrm>
            <a:off x="411480" y="365760"/>
            <a:ext cx="6400800" cy="438912"/>
          </a:xfrm>
          <a:prstGeom prst="rect">
            <a:avLst/>
          </a:prstGeom>
          <a:noFill/>
          <a:ln/>
        </p:spPr>
        <p:txBody>
          <a:bodyPr wrap="square" rtlCol="0" anchor="ctr"/>
          <a:lstStyle/>
          <a:p>
            <a:pPr marL="0" indent="0">
              <a:buNone/>
            </a:pPr>
            <a:r>
              <a:rPr lang="en-US" sz="1100" b="1" kern="0" spc="300" dirty="0">
                <a:solidFill>
                  <a:srgbClr val="F47B20"/>
                </a:solidFill>
                <a:latin typeface="Calibri" pitchFamily="34" charset="0"/>
                <a:ea typeface="Calibri" pitchFamily="34" charset="-122"/>
                <a:cs typeface="Calibri" pitchFamily="34" charset="-120"/>
              </a:rPr>
              <a:t>🛠️ ATELIER PRATIQUE FINAL</a:t>
            </a:r>
            <a:endParaRPr lang="en-US" sz="1100" dirty="0"/>
          </a:p>
        </p:txBody>
      </p:sp>
      <p:sp>
        <p:nvSpPr>
          <p:cNvPr id="5" name="Text 2"/>
          <p:cNvSpPr/>
          <p:nvPr/>
        </p:nvSpPr>
        <p:spPr>
          <a:xfrm>
            <a:off x="411480" y="868680"/>
            <a:ext cx="6400800" cy="11887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Mettez en pratique</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vos apprentissages</a:t>
            </a:r>
            <a:endParaRPr lang="en-US" sz="2800" dirty="0"/>
          </a:p>
        </p:txBody>
      </p:sp>
      <p:sp>
        <p:nvSpPr>
          <p:cNvPr id="6" name="Shape 3"/>
          <p:cNvSpPr/>
          <p:nvPr/>
        </p:nvSpPr>
        <p:spPr>
          <a:xfrm>
            <a:off x="411480" y="2240280"/>
            <a:ext cx="8366760" cy="749808"/>
          </a:xfrm>
          <a:prstGeom prst="rect">
            <a:avLst/>
          </a:prstGeom>
          <a:solidFill>
            <a:srgbClr val="1A4A8A">
              <a:alpha val="75000"/>
            </a:srgbClr>
          </a:solidFill>
          <a:ln w="12700">
            <a:solidFill>
              <a:srgbClr val="3B82D0">
                <a:alpha val="60000"/>
              </a:srgbClr>
            </a:solidFill>
            <a:prstDash val="solid"/>
          </a:ln>
        </p:spPr>
        <p:txBody>
          <a:bodyPr/>
          <a:lstStyle/>
          <a:p>
            <a:endParaRPr lang="fr-FR"/>
          </a:p>
        </p:txBody>
      </p:sp>
      <p:sp>
        <p:nvSpPr>
          <p:cNvPr id="7" name="Shape 4"/>
          <p:cNvSpPr/>
          <p:nvPr/>
        </p:nvSpPr>
        <p:spPr>
          <a:xfrm>
            <a:off x="502920" y="2395728"/>
            <a:ext cx="457200" cy="457200"/>
          </a:xfrm>
          <a:prstGeom prst="ellipse">
            <a:avLst/>
          </a:prstGeom>
          <a:solidFill>
            <a:srgbClr val="F47B20"/>
          </a:solidFill>
          <a:ln w="12700">
            <a:solidFill>
              <a:srgbClr val="F47B20"/>
            </a:solidFill>
            <a:prstDash val="solid"/>
          </a:ln>
        </p:spPr>
        <p:txBody>
          <a:bodyPr/>
          <a:lstStyle/>
          <a:p>
            <a:endParaRPr lang="fr-FR"/>
          </a:p>
        </p:txBody>
      </p:sp>
      <p:sp>
        <p:nvSpPr>
          <p:cNvPr id="8" name="Text 5"/>
          <p:cNvSpPr/>
          <p:nvPr/>
        </p:nvSpPr>
        <p:spPr>
          <a:xfrm>
            <a:off x="502920" y="239572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6"/>
          <p:cNvSpPr/>
          <p:nvPr/>
        </p:nvSpPr>
        <p:spPr>
          <a:xfrm>
            <a:off x="1078992" y="2295144"/>
            <a:ext cx="3840480" cy="36576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Rédigez un email administratif</a:t>
            </a:r>
            <a:endParaRPr lang="en-US" sz="1300" dirty="0"/>
          </a:p>
        </p:txBody>
      </p:sp>
      <p:sp>
        <p:nvSpPr>
          <p:cNvPr id="10" name="Text 7"/>
          <p:cNvSpPr/>
          <p:nvPr/>
        </p:nvSpPr>
        <p:spPr>
          <a:xfrm>
            <a:off x="1078992" y="2642616"/>
            <a:ext cx="5943600" cy="320040"/>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Choisissez un email que vous devez souvent écrire. Utilisez ChatGPT ou Copilot avec la méthode CRAFT pour le générer.</a:t>
            </a:r>
            <a:endParaRPr lang="en-US" sz="1100" dirty="0"/>
          </a:p>
        </p:txBody>
      </p:sp>
      <p:sp>
        <p:nvSpPr>
          <p:cNvPr id="11" name="Shape 8"/>
          <p:cNvSpPr/>
          <p:nvPr/>
        </p:nvSpPr>
        <p:spPr>
          <a:xfrm>
            <a:off x="7726680" y="2441448"/>
            <a:ext cx="868680" cy="347472"/>
          </a:xfrm>
          <a:prstGeom prst="rect">
            <a:avLst/>
          </a:prstGeom>
          <a:solidFill>
            <a:srgbClr val="F47B20">
              <a:alpha val="80000"/>
            </a:srgbClr>
          </a:solidFill>
          <a:ln w="12700">
            <a:solidFill>
              <a:srgbClr val="F47B20"/>
            </a:solidFill>
            <a:prstDash val="solid"/>
          </a:ln>
        </p:spPr>
        <p:txBody>
          <a:bodyPr/>
          <a:lstStyle/>
          <a:p>
            <a:endParaRPr lang="fr-FR"/>
          </a:p>
        </p:txBody>
      </p:sp>
      <p:sp>
        <p:nvSpPr>
          <p:cNvPr id="12" name="Text 9"/>
          <p:cNvSpPr/>
          <p:nvPr/>
        </p:nvSpPr>
        <p:spPr>
          <a:xfrm>
            <a:off x="7726680" y="2441448"/>
            <a:ext cx="8686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 min</a:t>
            </a:r>
            <a:endParaRPr lang="en-US" sz="1000" dirty="0"/>
          </a:p>
        </p:txBody>
      </p:sp>
      <p:sp>
        <p:nvSpPr>
          <p:cNvPr id="13" name="Shape 10"/>
          <p:cNvSpPr/>
          <p:nvPr/>
        </p:nvSpPr>
        <p:spPr>
          <a:xfrm>
            <a:off x="411480" y="3108960"/>
            <a:ext cx="8366760" cy="749808"/>
          </a:xfrm>
          <a:prstGeom prst="rect">
            <a:avLst/>
          </a:prstGeom>
          <a:solidFill>
            <a:srgbClr val="1A4A8A">
              <a:alpha val="75000"/>
            </a:srgbClr>
          </a:solidFill>
          <a:ln w="12700">
            <a:solidFill>
              <a:srgbClr val="3B82D0">
                <a:alpha val="60000"/>
              </a:srgbClr>
            </a:solidFill>
            <a:prstDash val="solid"/>
          </a:ln>
        </p:spPr>
        <p:txBody>
          <a:bodyPr/>
          <a:lstStyle/>
          <a:p>
            <a:endParaRPr lang="fr-FR"/>
          </a:p>
        </p:txBody>
      </p:sp>
      <p:sp>
        <p:nvSpPr>
          <p:cNvPr id="14" name="Shape 11"/>
          <p:cNvSpPr/>
          <p:nvPr/>
        </p:nvSpPr>
        <p:spPr>
          <a:xfrm>
            <a:off x="502920" y="3264408"/>
            <a:ext cx="457200" cy="457200"/>
          </a:xfrm>
          <a:prstGeom prst="ellipse">
            <a:avLst/>
          </a:prstGeom>
          <a:solidFill>
            <a:srgbClr val="F47B20"/>
          </a:solidFill>
          <a:ln w="12700">
            <a:solidFill>
              <a:srgbClr val="F47B20"/>
            </a:solidFill>
            <a:prstDash val="solid"/>
          </a:ln>
        </p:spPr>
        <p:txBody>
          <a:bodyPr/>
          <a:lstStyle/>
          <a:p>
            <a:endParaRPr lang="fr-FR"/>
          </a:p>
        </p:txBody>
      </p:sp>
      <p:sp>
        <p:nvSpPr>
          <p:cNvPr id="15" name="Text 12"/>
          <p:cNvSpPr/>
          <p:nvPr/>
        </p:nvSpPr>
        <p:spPr>
          <a:xfrm>
            <a:off x="502920" y="326440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6" name="Text 13"/>
          <p:cNvSpPr/>
          <p:nvPr/>
        </p:nvSpPr>
        <p:spPr>
          <a:xfrm>
            <a:off x="1078992" y="3163824"/>
            <a:ext cx="3840480" cy="36576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Générez un rapport simple</a:t>
            </a:r>
            <a:endParaRPr lang="en-US" sz="1300" dirty="0"/>
          </a:p>
        </p:txBody>
      </p:sp>
      <p:sp>
        <p:nvSpPr>
          <p:cNvPr id="17" name="Text 14"/>
          <p:cNvSpPr/>
          <p:nvPr/>
        </p:nvSpPr>
        <p:spPr>
          <a:xfrm>
            <a:off x="1078992" y="3511296"/>
            <a:ext cx="5943600" cy="320040"/>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À partir de données fictives (ou réelles si permis), demandez à l'IA de générer un rapport d'activité d'une page.</a:t>
            </a:r>
            <a:endParaRPr lang="en-US" sz="1100" dirty="0"/>
          </a:p>
        </p:txBody>
      </p:sp>
      <p:sp>
        <p:nvSpPr>
          <p:cNvPr id="18" name="Shape 15"/>
          <p:cNvSpPr/>
          <p:nvPr/>
        </p:nvSpPr>
        <p:spPr>
          <a:xfrm>
            <a:off x="7726680" y="3310128"/>
            <a:ext cx="868680" cy="347472"/>
          </a:xfrm>
          <a:prstGeom prst="rect">
            <a:avLst/>
          </a:prstGeom>
          <a:solidFill>
            <a:srgbClr val="F47B20">
              <a:alpha val="80000"/>
            </a:srgbClr>
          </a:solidFill>
          <a:ln w="12700">
            <a:solidFill>
              <a:srgbClr val="F47B20"/>
            </a:solidFill>
            <a:prstDash val="solid"/>
          </a:ln>
        </p:spPr>
        <p:txBody>
          <a:bodyPr/>
          <a:lstStyle/>
          <a:p>
            <a:endParaRPr lang="fr-FR"/>
          </a:p>
        </p:txBody>
      </p:sp>
      <p:sp>
        <p:nvSpPr>
          <p:cNvPr id="19" name="Text 16"/>
          <p:cNvSpPr/>
          <p:nvPr/>
        </p:nvSpPr>
        <p:spPr>
          <a:xfrm>
            <a:off x="7726680" y="3310128"/>
            <a:ext cx="8686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 min</a:t>
            </a:r>
            <a:endParaRPr lang="en-US" sz="1000" dirty="0"/>
          </a:p>
        </p:txBody>
      </p:sp>
      <p:sp>
        <p:nvSpPr>
          <p:cNvPr id="20" name="Shape 17"/>
          <p:cNvSpPr/>
          <p:nvPr/>
        </p:nvSpPr>
        <p:spPr>
          <a:xfrm>
            <a:off x="411480" y="3977640"/>
            <a:ext cx="8366760" cy="749808"/>
          </a:xfrm>
          <a:prstGeom prst="rect">
            <a:avLst/>
          </a:prstGeom>
          <a:solidFill>
            <a:srgbClr val="1A4A8A">
              <a:alpha val="75000"/>
            </a:srgbClr>
          </a:solidFill>
          <a:ln w="12700">
            <a:solidFill>
              <a:srgbClr val="3B82D0">
                <a:alpha val="60000"/>
              </a:srgbClr>
            </a:solidFill>
            <a:prstDash val="solid"/>
          </a:ln>
        </p:spPr>
        <p:txBody>
          <a:bodyPr/>
          <a:lstStyle/>
          <a:p>
            <a:endParaRPr lang="fr-FR"/>
          </a:p>
        </p:txBody>
      </p:sp>
      <p:sp>
        <p:nvSpPr>
          <p:cNvPr id="21" name="Shape 18"/>
          <p:cNvSpPr/>
          <p:nvPr/>
        </p:nvSpPr>
        <p:spPr>
          <a:xfrm>
            <a:off x="502920" y="4133088"/>
            <a:ext cx="457200" cy="457200"/>
          </a:xfrm>
          <a:prstGeom prst="ellipse">
            <a:avLst/>
          </a:prstGeom>
          <a:solidFill>
            <a:srgbClr val="F47B20"/>
          </a:solidFill>
          <a:ln w="12700">
            <a:solidFill>
              <a:srgbClr val="F47B20"/>
            </a:solidFill>
            <a:prstDash val="solid"/>
          </a:ln>
        </p:spPr>
        <p:txBody>
          <a:bodyPr/>
          <a:lstStyle/>
          <a:p>
            <a:endParaRPr lang="fr-FR"/>
          </a:p>
        </p:txBody>
      </p:sp>
      <p:sp>
        <p:nvSpPr>
          <p:cNvPr id="22" name="Text 19"/>
          <p:cNvSpPr/>
          <p:nvPr/>
        </p:nvSpPr>
        <p:spPr>
          <a:xfrm>
            <a:off x="502920" y="413308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3" name="Text 20"/>
          <p:cNvSpPr/>
          <p:nvPr/>
        </p:nvSpPr>
        <p:spPr>
          <a:xfrm>
            <a:off x="1078992" y="4032504"/>
            <a:ext cx="3840480" cy="365760"/>
          </a:xfrm>
          <a:prstGeom prst="rect">
            <a:avLst/>
          </a:prstGeom>
          <a:noFill/>
          <a:ln/>
        </p:spPr>
        <p:txBody>
          <a:bodyPr wrap="square" rtlCol="0" anchor="ctr"/>
          <a:lstStyle/>
          <a:p>
            <a:pPr marL="0" indent="0">
              <a:buNone/>
            </a:pPr>
            <a:r>
              <a:rPr lang="en-US" sz="1300" b="1" dirty="0">
                <a:solidFill>
                  <a:srgbClr val="F47B20"/>
                </a:solidFill>
                <a:latin typeface="Calibri" pitchFamily="34" charset="0"/>
                <a:ea typeface="Calibri" pitchFamily="34" charset="-122"/>
                <a:cs typeface="Calibri" pitchFamily="34" charset="-120"/>
              </a:rPr>
              <a:t>Partagez vos résultats</a:t>
            </a:r>
            <a:endParaRPr lang="en-US" sz="1300" dirty="0"/>
          </a:p>
        </p:txBody>
      </p:sp>
      <p:sp>
        <p:nvSpPr>
          <p:cNvPr id="24" name="Text 21"/>
          <p:cNvSpPr/>
          <p:nvPr/>
        </p:nvSpPr>
        <p:spPr>
          <a:xfrm>
            <a:off x="1078992" y="4379976"/>
            <a:ext cx="5943600" cy="320040"/>
          </a:xfrm>
          <a:prstGeom prst="rect">
            <a:avLst/>
          </a:prstGeom>
          <a:noFill/>
          <a:ln/>
        </p:spPr>
        <p:txBody>
          <a:bodyPr wrap="square" rtlCol="0" anchor="ctr"/>
          <a:lstStyle/>
          <a:p>
            <a:pPr marL="0" indent="0">
              <a:buNone/>
            </a:pPr>
            <a:r>
              <a:rPr lang="en-US" sz="1100" dirty="0">
                <a:solidFill>
                  <a:srgbClr val="B0C4DE"/>
                </a:solidFill>
                <a:latin typeface="Calibri" pitchFamily="34" charset="0"/>
                <a:ea typeface="Calibri" pitchFamily="34" charset="-122"/>
                <a:cs typeface="Calibri" pitchFamily="34" charset="-120"/>
              </a:rPr>
              <a:t>Présentez votre meilleur résultat au groupe. Qu'avez-vous appris ? Qu'amélioreriez-vous ?</a:t>
            </a:r>
            <a:endParaRPr lang="en-US" sz="1100" dirty="0"/>
          </a:p>
        </p:txBody>
      </p:sp>
      <p:sp>
        <p:nvSpPr>
          <p:cNvPr id="25" name="Shape 22"/>
          <p:cNvSpPr/>
          <p:nvPr/>
        </p:nvSpPr>
        <p:spPr>
          <a:xfrm>
            <a:off x="7726680" y="4178808"/>
            <a:ext cx="868680" cy="347472"/>
          </a:xfrm>
          <a:prstGeom prst="rect">
            <a:avLst/>
          </a:prstGeom>
          <a:solidFill>
            <a:srgbClr val="F47B20">
              <a:alpha val="80000"/>
            </a:srgbClr>
          </a:solidFill>
          <a:ln w="12700">
            <a:solidFill>
              <a:srgbClr val="F47B20"/>
            </a:solidFill>
            <a:prstDash val="solid"/>
          </a:ln>
        </p:spPr>
        <p:txBody>
          <a:bodyPr/>
          <a:lstStyle/>
          <a:p>
            <a:endParaRPr lang="fr-FR"/>
          </a:p>
        </p:txBody>
      </p:sp>
      <p:sp>
        <p:nvSpPr>
          <p:cNvPr id="26" name="Text 23"/>
          <p:cNvSpPr/>
          <p:nvPr/>
        </p:nvSpPr>
        <p:spPr>
          <a:xfrm>
            <a:off x="7726680" y="4178808"/>
            <a:ext cx="86868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 min</a:t>
            </a:r>
            <a:endParaRPr lang="en-US" sz="1000" dirty="0"/>
          </a:p>
        </p:txBody>
      </p:sp>
      <p:sp>
        <p:nvSpPr>
          <p:cNvPr id="27" name="Text 24"/>
          <p:cNvSpPr/>
          <p:nvPr/>
        </p:nvSpPr>
        <p:spPr>
          <a:xfrm>
            <a:off x="411480" y="4773168"/>
            <a:ext cx="8229600" cy="274320"/>
          </a:xfrm>
          <a:prstGeom prst="rect">
            <a:avLst/>
          </a:prstGeom>
          <a:noFill/>
          <a:ln/>
        </p:spPr>
        <p:txBody>
          <a:bodyPr wrap="square" rtlCol="0" anchor="ctr"/>
          <a:lstStyle/>
          <a:p>
            <a:pPr marL="0" indent="0">
              <a:buNone/>
            </a:pPr>
            <a:r>
              <a:rPr lang="en-US" sz="1050" i="1" dirty="0">
                <a:solidFill>
                  <a:srgbClr val="7FA8D8"/>
                </a:solidFill>
                <a:latin typeface="Calibri" pitchFamily="34" charset="0"/>
                <a:ea typeface="Calibri" pitchFamily="34" charset="-122"/>
                <a:cs typeface="Calibri" pitchFamily="34" charset="-120"/>
              </a:rPr>
              <a:t>⏱ Durée totale : 30 minutes — Accès requis : ChatGPT, Copilot ou Notion AI</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A4A8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F47B20"/>
          </a:solidFill>
          <a:ln w="12700">
            <a:solidFill>
              <a:srgbClr val="F47B20"/>
            </a:solidFill>
            <a:prstDash val="solid"/>
          </a:ln>
        </p:spPr>
        <p:txBody>
          <a:bodyPr/>
          <a:lstStyle/>
          <a:p>
            <a:endParaRPr lang="fr-FR"/>
          </a:p>
        </p:txBody>
      </p:sp>
      <p:sp>
        <p:nvSpPr>
          <p:cNvPr id="3" name="Shape 1"/>
          <p:cNvSpPr/>
          <p:nvPr/>
        </p:nvSpPr>
        <p:spPr>
          <a:xfrm>
            <a:off x="0" y="4434840"/>
            <a:ext cx="9144000" cy="708660"/>
          </a:xfrm>
          <a:prstGeom prst="rect">
            <a:avLst/>
          </a:prstGeom>
          <a:solidFill>
            <a:srgbClr val="0D2B5A"/>
          </a:solidFill>
          <a:ln w="12700">
            <a:solidFill>
              <a:srgbClr val="0D2B5A"/>
            </a:solidFill>
            <a:prstDash val="solid"/>
          </a:ln>
        </p:spPr>
        <p:txBody>
          <a:bodyPr/>
          <a:lstStyle/>
          <a:p>
            <a:endParaRPr lang="fr-FR"/>
          </a:p>
        </p:txBody>
      </p:sp>
      <p:sp>
        <p:nvSpPr>
          <p:cNvPr id="4" name="Shape 2"/>
          <p:cNvSpPr/>
          <p:nvPr/>
        </p:nvSpPr>
        <p:spPr>
          <a:xfrm>
            <a:off x="6217920" y="-457200"/>
            <a:ext cx="3474720" cy="3474720"/>
          </a:xfrm>
          <a:prstGeom prst="ellipse">
            <a:avLst/>
          </a:prstGeom>
          <a:solidFill>
            <a:srgbClr val="3B82D0">
              <a:alpha val="28000"/>
            </a:srgbClr>
          </a:solidFill>
          <a:ln w="12700">
            <a:solidFill>
              <a:srgbClr val="3B82D0">
                <a:alpha val="28000"/>
              </a:srgbClr>
            </a:solidFill>
            <a:prstDash val="solid"/>
          </a:ln>
        </p:spPr>
        <p:txBody>
          <a:bodyPr/>
          <a:lstStyle/>
          <a:p>
            <a:endParaRPr lang="fr-FR"/>
          </a:p>
        </p:txBody>
      </p:sp>
      <p:pic>
        <p:nvPicPr>
          <p:cNvPr id="5" name="Image 0" descr="preencoded.png"/>
          <p:cNvPicPr>
            <a:picLocks noChangeAspect="1"/>
          </p:cNvPicPr>
          <p:nvPr/>
        </p:nvPicPr>
        <p:blipFill>
          <a:blip r:embed="rId3"/>
          <a:stretch>
            <a:fillRect/>
          </a:stretch>
        </p:blipFill>
        <p:spPr>
          <a:xfrm>
            <a:off x="6766560" y="1188720"/>
            <a:ext cx="1645920" cy="1645920"/>
          </a:xfrm>
          <a:prstGeom prst="rect">
            <a:avLst/>
          </a:prstGeom>
        </p:spPr>
      </p:pic>
      <p:sp>
        <p:nvSpPr>
          <p:cNvPr id="6" name="Text 3"/>
          <p:cNvSpPr/>
          <p:nvPr/>
        </p:nvSpPr>
        <p:spPr>
          <a:xfrm>
            <a:off x="411480" y="640080"/>
            <a:ext cx="6217920" cy="457200"/>
          </a:xfrm>
          <a:prstGeom prst="rect">
            <a:avLst/>
          </a:prstGeom>
          <a:noFill/>
          <a:ln/>
        </p:spPr>
        <p:txBody>
          <a:bodyPr wrap="square" rtlCol="0" anchor="ctr"/>
          <a:lstStyle/>
          <a:p>
            <a:pPr marL="0" indent="0">
              <a:buNone/>
            </a:pPr>
            <a:r>
              <a:rPr lang="en-US" sz="1100" b="1" kern="0" spc="200" dirty="0">
                <a:solidFill>
                  <a:srgbClr val="F47B20"/>
                </a:solidFill>
                <a:latin typeface="Calibri" pitchFamily="34" charset="0"/>
                <a:ea typeface="Calibri" pitchFamily="34" charset="-122"/>
                <a:cs typeface="Calibri" pitchFamily="34" charset="-120"/>
              </a:rPr>
              <a:t>MERCI POUR VOTRE PARTICIPATION !</a:t>
            </a:r>
            <a:endParaRPr lang="en-US" sz="1100" dirty="0"/>
          </a:p>
        </p:txBody>
      </p:sp>
      <p:sp>
        <p:nvSpPr>
          <p:cNvPr id="7" name="Text 4"/>
          <p:cNvSpPr/>
          <p:nvPr/>
        </p:nvSpPr>
        <p:spPr>
          <a:xfrm>
            <a:off x="411480" y="1143000"/>
            <a:ext cx="5943600" cy="1737360"/>
          </a:xfrm>
          <a:prstGeom prst="rect">
            <a:avLst/>
          </a:prstGeom>
          <a:noFill/>
          <a:ln/>
        </p:spPr>
        <p:txBody>
          <a:bodyPr wrap="square" rtlCol="0" anchor="ctr"/>
          <a:lstStyle/>
          <a:p>
            <a:pPr marL="0" indent="0">
              <a:buNone/>
            </a:pPr>
            <a:r>
              <a:rPr lang="en-US" sz="2700" b="1" dirty="0">
                <a:solidFill>
                  <a:srgbClr val="FFFFFF"/>
                </a:solidFill>
                <a:latin typeface="Calibri" pitchFamily="34" charset="0"/>
                <a:ea typeface="Calibri" pitchFamily="34" charset="-122"/>
                <a:cs typeface="Calibri" pitchFamily="34" charset="-120"/>
              </a:rPr>
              <a:t>Vous êtes maintenant</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prêt(e) à utiliser l'IA</a:t>
            </a:r>
            <a:endParaRPr lang="en-US" sz="2700" dirty="0"/>
          </a:p>
          <a:p>
            <a:pPr marL="0" indent="0">
              <a:buNone/>
            </a:pPr>
            <a:r>
              <a:rPr lang="en-US" sz="2700" b="1" dirty="0">
                <a:solidFill>
                  <a:srgbClr val="FFFFFF"/>
                </a:solidFill>
                <a:latin typeface="Calibri" pitchFamily="34" charset="0"/>
                <a:ea typeface="Calibri" pitchFamily="34" charset="-122"/>
                <a:cs typeface="Calibri" pitchFamily="34" charset="-120"/>
              </a:rPr>
              <a:t>au quotidien</a:t>
            </a:r>
            <a:endParaRPr lang="en-US" sz="2700" dirty="0"/>
          </a:p>
        </p:txBody>
      </p:sp>
      <p:sp>
        <p:nvSpPr>
          <p:cNvPr id="8" name="Shape 5"/>
          <p:cNvSpPr/>
          <p:nvPr/>
        </p:nvSpPr>
        <p:spPr>
          <a:xfrm>
            <a:off x="411480" y="3017520"/>
            <a:ext cx="6217920" cy="1280160"/>
          </a:xfrm>
          <a:prstGeom prst="rect">
            <a:avLst/>
          </a:prstGeom>
          <a:solidFill>
            <a:srgbClr val="0D2B5A">
              <a:alpha val="80000"/>
            </a:srgbClr>
          </a:solidFill>
          <a:ln w="12700">
            <a:solidFill>
              <a:srgbClr val="3B82D0">
                <a:alpha val="60000"/>
              </a:srgbClr>
            </a:solidFill>
            <a:prstDash val="solid"/>
          </a:ln>
        </p:spPr>
        <p:txBody>
          <a:bodyPr/>
          <a:lstStyle/>
          <a:p>
            <a:endParaRPr lang="fr-FR"/>
          </a:p>
        </p:txBody>
      </p:sp>
      <p:sp>
        <p:nvSpPr>
          <p:cNvPr id="9" name="Text 6"/>
          <p:cNvSpPr/>
          <p:nvPr/>
        </p:nvSpPr>
        <p:spPr>
          <a:xfrm>
            <a:off x="548640" y="3090672"/>
            <a:ext cx="5943600" cy="347472"/>
          </a:xfrm>
          <a:prstGeom prst="rect">
            <a:avLst/>
          </a:prstGeom>
          <a:noFill/>
          <a:ln/>
        </p:spPr>
        <p:txBody>
          <a:bodyPr wrap="square" rtlCol="0" anchor="ctr"/>
          <a:lstStyle/>
          <a:p>
            <a:pPr marL="0" indent="0">
              <a:buNone/>
            </a:pPr>
            <a:r>
              <a:rPr lang="en-US" sz="1150" b="1" dirty="0">
                <a:solidFill>
                  <a:srgbClr val="F47B20"/>
                </a:solidFill>
                <a:latin typeface="Calibri" pitchFamily="34" charset="0"/>
                <a:ea typeface="Calibri" pitchFamily="34" charset="-122"/>
                <a:cs typeface="Calibri" pitchFamily="34" charset="-120"/>
              </a:rPr>
              <a:t>Ressources pour continuer à apprendre :</a:t>
            </a:r>
            <a:endParaRPr lang="en-US" sz="1150" dirty="0"/>
          </a:p>
        </p:txBody>
      </p:sp>
      <p:sp>
        <p:nvSpPr>
          <p:cNvPr id="10" name="Text 7"/>
          <p:cNvSpPr/>
          <p:nvPr/>
        </p:nvSpPr>
        <p:spPr>
          <a:xfrm>
            <a:off x="548640" y="3474720"/>
            <a:ext cx="5943600" cy="914400"/>
          </a:xfrm>
          <a:prstGeom prst="rect">
            <a:avLst/>
          </a:prstGeom>
          <a:noFill/>
          <a:ln/>
        </p:spPr>
        <p:txBody>
          <a:bodyPr wrap="square" rtlCol="0" anchor="t"/>
          <a:lstStyle/>
          <a:p>
            <a:pPr marL="0" indent="0">
              <a:spcAft>
                <a:spcPts val="200"/>
              </a:spcAft>
              <a:buNone/>
            </a:pPr>
            <a:r>
              <a:rPr lang="en-US" sz="1100" dirty="0">
                <a:solidFill>
                  <a:srgbClr val="B0C4DE"/>
                </a:solidFill>
                <a:latin typeface="Calibri" pitchFamily="34" charset="0"/>
                <a:ea typeface="Calibri" pitchFamily="34" charset="-122"/>
                <a:cs typeface="Calibri" pitchFamily="34" charset="-120"/>
              </a:rPr>
              <a:t>📚  chatgpt.com — Accès gratuit à ChatGPT</a:t>
            </a:r>
            <a:endParaRPr lang="en-US" sz="1100" dirty="0"/>
          </a:p>
          <a:p>
            <a:pPr marL="0" indent="0">
              <a:spcAft>
                <a:spcPts val="200"/>
              </a:spcAft>
              <a:buNone/>
            </a:pPr>
            <a:r>
              <a:rPr lang="en-US" sz="1100" dirty="0">
                <a:solidFill>
                  <a:srgbClr val="B0C4DE"/>
                </a:solidFill>
                <a:latin typeface="Calibri" pitchFamily="34" charset="0"/>
                <a:ea typeface="Calibri" pitchFamily="34" charset="-122"/>
                <a:cs typeface="Calibri" pitchFamily="34" charset="-120"/>
              </a:rPr>
              <a:t>🖥️  copilot.microsoft.com — Copilot Microsoft</a:t>
            </a:r>
            <a:endParaRPr lang="en-US" sz="1100" dirty="0"/>
          </a:p>
          <a:p>
            <a:pPr marL="0" indent="0">
              <a:spcAft>
                <a:spcPts val="200"/>
              </a:spcAft>
              <a:buNone/>
            </a:pPr>
            <a:r>
              <a:rPr lang="en-US" sz="1100" dirty="0">
                <a:solidFill>
                  <a:srgbClr val="B0C4DE"/>
                </a:solidFill>
                <a:latin typeface="Calibri" pitchFamily="34" charset="0"/>
                <a:ea typeface="Calibri" pitchFamily="34" charset="-122"/>
                <a:cs typeface="Calibri" pitchFamily="34" charset="-120"/>
              </a:rPr>
              <a:t>📖  learn.microsoft.com — Tutoriels Copilot 365</a:t>
            </a:r>
            <a:endParaRPr lang="en-US" sz="1100" dirty="0"/>
          </a:p>
          <a:p>
            <a:pPr marL="0" indent="0">
              <a:spcAft>
                <a:spcPts val="200"/>
              </a:spcAft>
              <a:buNone/>
            </a:pPr>
            <a:r>
              <a:rPr lang="en-US" sz="1100" dirty="0">
                <a:solidFill>
                  <a:srgbClr val="B0C4DE"/>
                </a:solidFill>
                <a:latin typeface="Calibri" pitchFamily="34" charset="0"/>
                <a:ea typeface="Calibri" pitchFamily="34" charset="-122"/>
                <a:cs typeface="Calibri" pitchFamily="34" charset="-120"/>
              </a:rPr>
              <a:t>🤖  anthropic.com/claude — Claude (alternative à ChatGPT)</a:t>
            </a:r>
            <a:endParaRPr lang="en-US" sz="1100" dirty="0"/>
          </a:p>
        </p:txBody>
      </p:sp>
      <p:sp>
        <p:nvSpPr>
          <p:cNvPr id="11" name="Text 8"/>
          <p:cNvSpPr/>
          <p:nvPr/>
        </p:nvSpPr>
        <p:spPr>
          <a:xfrm>
            <a:off x="411480" y="4462272"/>
            <a:ext cx="45720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Questions &amp; Échanges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1782</TotalTime>
  <Words>3311</Words>
  <Application>Microsoft Office PowerPoint</Application>
  <PresentationFormat>Affichage à l'écran (16:9)</PresentationFormat>
  <Paragraphs>422</Paragraphs>
  <Slides>23</Slides>
  <Notes>23</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23</vt:i4>
      </vt:variant>
    </vt:vector>
  </HeadingPairs>
  <TitlesOfParts>
    <vt:vector size="26"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Automatisation des tâches administratives avec l'IA</dc:title>
  <dc:subject>PptxGenJS Presentation</dc:subject>
  <dc:creator>Formation IA</dc:creator>
  <cp:lastModifiedBy>Sollo Marius YAPI</cp:lastModifiedBy>
  <cp:revision>4</cp:revision>
  <dcterms:created xsi:type="dcterms:W3CDTF">2026-03-08T11:18:47Z</dcterms:created>
  <dcterms:modified xsi:type="dcterms:W3CDTF">2026-03-12T10:32:30Z</dcterms:modified>
</cp:coreProperties>
</file>